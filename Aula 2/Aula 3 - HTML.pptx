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324" r:id="rId26"/>
    <p:sldId id="281" r:id="rId27"/>
    <p:sldId id="282" r:id="rId28"/>
    <p:sldId id="286" r:id="rId29"/>
    <p:sldId id="287" r:id="rId30"/>
    <p:sldId id="315" r:id="rId31"/>
    <p:sldId id="325" r:id="rId32"/>
    <p:sldId id="317" r:id="rId33"/>
    <p:sldId id="322" r:id="rId34"/>
    <p:sldId id="318" r:id="rId35"/>
    <p:sldId id="320" r:id="rId36"/>
    <p:sldId id="321" r:id="rId37"/>
    <p:sldId id="283" r:id="rId38"/>
    <p:sldId id="284" r:id="rId39"/>
    <p:sldId id="285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23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558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0C22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0C22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55751" y="2172970"/>
            <a:ext cx="5328285" cy="4385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0313" y="762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8"/>
                </a:lnTo>
              </a:path>
            </a:pathLst>
          </a:custGeom>
          <a:ln w="10160">
            <a:solidFill>
              <a:srgbClr val="BDBD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5689" y="3681222"/>
            <a:ext cx="4763770" cy="3177540"/>
          </a:xfrm>
          <a:custGeom>
            <a:avLst/>
            <a:gdLst/>
            <a:ahLst/>
            <a:cxnLst/>
            <a:rect l="l" t="t" r="r" b="b"/>
            <a:pathLst>
              <a:path w="4763770" h="3177540">
                <a:moveTo>
                  <a:pt x="4763769" y="0"/>
                </a:moveTo>
                <a:lnTo>
                  <a:pt x="0" y="3177221"/>
                </a:lnTo>
              </a:path>
            </a:pathLst>
          </a:custGeom>
          <a:ln w="1016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099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922" y="0"/>
                </a:lnTo>
                <a:lnTo>
                  <a:pt x="0" y="6857995"/>
                </a:lnTo>
                <a:lnTo>
                  <a:pt x="3006852" y="6857995"/>
                </a:lnTo>
                <a:lnTo>
                  <a:pt x="3006852" y="0"/>
                </a:lnTo>
                <a:close/>
              </a:path>
            </a:pathLst>
          </a:custGeom>
          <a:solidFill>
            <a:srgbClr val="90C22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5771" y="0"/>
            <a:ext cx="2586355" cy="6858000"/>
          </a:xfrm>
          <a:custGeom>
            <a:avLst/>
            <a:gdLst/>
            <a:ahLst/>
            <a:cxnLst/>
            <a:rect l="l" t="t" r="r" b="b"/>
            <a:pathLst>
              <a:path w="2586354" h="6858000">
                <a:moveTo>
                  <a:pt x="2586101" y="0"/>
                </a:moveTo>
                <a:lnTo>
                  <a:pt x="0" y="0"/>
                </a:lnTo>
                <a:lnTo>
                  <a:pt x="1207643" y="6857995"/>
                </a:lnTo>
                <a:lnTo>
                  <a:pt x="2586101" y="6857995"/>
                </a:lnTo>
                <a:lnTo>
                  <a:pt x="2586101" y="0"/>
                </a:lnTo>
                <a:close/>
              </a:path>
            </a:pathLst>
          </a:custGeom>
          <a:solidFill>
            <a:srgbClr val="90C224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3687" y="3047999"/>
            <a:ext cx="3258820" cy="3810000"/>
          </a:xfrm>
          <a:custGeom>
            <a:avLst/>
            <a:gdLst/>
            <a:ahLst/>
            <a:cxnLst/>
            <a:rect l="l" t="t" r="r" b="b"/>
            <a:pathLst>
              <a:path w="3258820" h="3810000">
                <a:moveTo>
                  <a:pt x="3258311" y="0"/>
                </a:moveTo>
                <a:lnTo>
                  <a:pt x="0" y="3809999"/>
                </a:lnTo>
                <a:lnTo>
                  <a:pt x="3258311" y="3809999"/>
                </a:lnTo>
                <a:lnTo>
                  <a:pt x="3258311" y="0"/>
                </a:lnTo>
                <a:close/>
              </a:path>
            </a:pathLst>
          </a:custGeom>
          <a:solidFill>
            <a:srgbClr val="529F1F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547" y="0"/>
            <a:ext cx="2851150" cy="6858000"/>
          </a:xfrm>
          <a:custGeom>
            <a:avLst/>
            <a:gdLst/>
            <a:ahLst/>
            <a:cxnLst/>
            <a:rect l="l" t="t" r="r" b="b"/>
            <a:pathLst>
              <a:path w="2851150" h="6858000">
                <a:moveTo>
                  <a:pt x="2851150" y="0"/>
                </a:moveTo>
                <a:lnTo>
                  <a:pt x="0" y="0"/>
                </a:lnTo>
                <a:lnTo>
                  <a:pt x="2467609" y="6857995"/>
                </a:lnTo>
                <a:lnTo>
                  <a:pt x="2851150" y="6857995"/>
                </a:lnTo>
                <a:lnTo>
                  <a:pt x="2851150" y="0"/>
                </a:lnTo>
                <a:close/>
              </a:path>
            </a:pathLst>
          </a:custGeom>
          <a:solidFill>
            <a:srgbClr val="3D7817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9647" y="0"/>
            <a:ext cx="1289685" cy="6858000"/>
          </a:xfrm>
          <a:custGeom>
            <a:avLst/>
            <a:gdLst/>
            <a:ahLst/>
            <a:cxnLst/>
            <a:rect l="l" t="t" r="r" b="b"/>
            <a:pathLst>
              <a:path w="1289684" h="6858000">
                <a:moveTo>
                  <a:pt x="1289303" y="0"/>
                </a:moveTo>
                <a:lnTo>
                  <a:pt x="1018031" y="0"/>
                </a:lnTo>
                <a:lnTo>
                  <a:pt x="0" y="6857995"/>
                </a:lnTo>
                <a:lnTo>
                  <a:pt x="1289303" y="6857995"/>
                </a:lnTo>
                <a:lnTo>
                  <a:pt x="1289303" y="0"/>
                </a:lnTo>
                <a:close/>
              </a:path>
            </a:pathLst>
          </a:custGeom>
          <a:solidFill>
            <a:srgbClr val="C0E2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795" y="0"/>
            <a:ext cx="1249045" cy="6858000"/>
          </a:xfrm>
          <a:custGeom>
            <a:avLst/>
            <a:gdLst/>
            <a:ahLst/>
            <a:cxnLst/>
            <a:rect l="l" t="t" r="r" b="b"/>
            <a:pathLst>
              <a:path w="1249045" h="6858000">
                <a:moveTo>
                  <a:pt x="1249045" y="0"/>
                </a:moveTo>
                <a:lnTo>
                  <a:pt x="0" y="0"/>
                </a:lnTo>
                <a:lnTo>
                  <a:pt x="1108582" y="6857995"/>
                </a:lnTo>
                <a:lnTo>
                  <a:pt x="1249045" y="6857995"/>
                </a:lnTo>
                <a:lnTo>
                  <a:pt x="1249045" y="0"/>
                </a:lnTo>
                <a:close/>
              </a:path>
            </a:pathLst>
          </a:custGeom>
          <a:solidFill>
            <a:srgbClr val="90C224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0819" y="3589020"/>
            <a:ext cx="1818639" cy="3268979"/>
          </a:xfrm>
          <a:custGeom>
            <a:avLst/>
            <a:gdLst/>
            <a:ahLst/>
            <a:cxnLst/>
            <a:rect l="l" t="t" r="r" b="b"/>
            <a:pathLst>
              <a:path w="1818640" h="3268979">
                <a:moveTo>
                  <a:pt x="1818131" y="0"/>
                </a:moveTo>
                <a:lnTo>
                  <a:pt x="0" y="3268979"/>
                </a:lnTo>
                <a:lnTo>
                  <a:pt x="1818131" y="3268979"/>
                </a:lnTo>
                <a:lnTo>
                  <a:pt x="1818131" y="0"/>
                </a:lnTo>
                <a:close/>
              </a:path>
            </a:pathLst>
          </a:custGeom>
          <a:solidFill>
            <a:srgbClr val="90C224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90C224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0C22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0313" y="762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8"/>
                </a:lnTo>
              </a:path>
            </a:pathLst>
          </a:custGeom>
          <a:ln w="10160">
            <a:solidFill>
              <a:srgbClr val="BDBD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5689" y="3681222"/>
            <a:ext cx="4763770" cy="3177540"/>
          </a:xfrm>
          <a:custGeom>
            <a:avLst/>
            <a:gdLst/>
            <a:ahLst/>
            <a:cxnLst/>
            <a:rect l="l" t="t" r="r" b="b"/>
            <a:pathLst>
              <a:path w="4763770" h="3177540">
                <a:moveTo>
                  <a:pt x="4763769" y="0"/>
                </a:moveTo>
                <a:lnTo>
                  <a:pt x="0" y="3177221"/>
                </a:lnTo>
              </a:path>
            </a:pathLst>
          </a:custGeom>
          <a:ln w="1016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099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922" y="0"/>
                </a:lnTo>
                <a:lnTo>
                  <a:pt x="0" y="6857995"/>
                </a:lnTo>
                <a:lnTo>
                  <a:pt x="3006852" y="6857995"/>
                </a:lnTo>
                <a:lnTo>
                  <a:pt x="3006852" y="0"/>
                </a:lnTo>
                <a:close/>
              </a:path>
            </a:pathLst>
          </a:custGeom>
          <a:solidFill>
            <a:srgbClr val="90C22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5771" y="0"/>
            <a:ext cx="2586355" cy="6858000"/>
          </a:xfrm>
          <a:custGeom>
            <a:avLst/>
            <a:gdLst/>
            <a:ahLst/>
            <a:cxnLst/>
            <a:rect l="l" t="t" r="r" b="b"/>
            <a:pathLst>
              <a:path w="2586354" h="6858000">
                <a:moveTo>
                  <a:pt x="2586101" y="0"/>
                </a:moveTo>
                <a:lnTo>
                  <a:pt x="0" y="0"/>
                </a:lnTo>
                <a:lnTo>
                  <a:pt x="1207643" y="6857995"/>
                </a:lnTo>
                <a:lnTo>
                  <a:pt x="2586101" y="6857995"/>
                </a:lnTo>
                <a:lnTo>
                  <a:pt x="2586101" y="0"/>
                </a:lnTo>
                <a:close/>
              </a:path>
            </a:pathLst>
          </a:custGeom>
          <a:solidFill>
            <a:srgbClr val="90C224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3687" y="3047999"/>
            <a:ext cx="3258820" cy="3810000"/>
          </a:xfrm>
          <a:custGeom>
            <a:avLst/>
            <a:gdLst/>
            <a:ahLst/>
            <a:cxnLst/>
            <a:rect l="l" t="t" r="r" b="b"/>
            <a:pathLst>
              <a:path w="3258820" h="3810000">
                <a:moveTo>
                  <a:pt x="3258311" y="0"/>
                </a:moveTo>
                <a:lnTo>
                  <a:pt x="0" y="3809999"/>
                </a:lnTo>
                <a:lnTo>
                  <a:pt x="3258311" y="3809999"/>
                </a:lnTo>
                <a:lnTo>
                  <a:pt x="3258311" y="0"/>
                </a:lnTo>
                <a:close/>
              </a:path>
            </a:pathLst>
          </a:custGeom>
          <a:solidFill>
            <a:srgbClr val="529F1F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547" y="0"/>
            <a:ext cx="2851150" cy="6858000"/>
          </a:xfrm>
          <a:custGeom>
            <a:avLst/>
            <a:gdLst/>
            <a:ahLst/>
            <a:cxnLst/>
            <a:rect l="l" t="t" r="r" b="b"/>
            <a:pathLst>
              <a:path w="2851150" h="6858000">
                <a:moveTo>
                  <a:pt x="2851150" y="0"/>
                </a:moveTo>
                <a:lnTo>
                  <a:pt x="0" y="0"/>
                </a:lnTo>
                <a:lnTo>
                  <a:pt x="2467609" y="6857995"/>
                </a:lnTo>
                <a:lnTo>
                  <a:pt x="2851150" y="6857995"/>
                </a:lnTo>
                <a:lnTo>
                  <a:pt x="2851150" y="0"/>
                </a:lnTo>
                <a:close/>
              </a:path>
            </a:pathLst>
          </a:custGeom>
          <a:solidFill>
            <a:srgbClr val="3D7817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9647" y="0"/>
            <a:ext cx="1289685" cy="6858000"/>
          </a:xfrm>
          <a:custGeom>
            <a:avLst/>
            <a:gdLst/>
            <a:ahLst/>
            <a:cxnLst/>
            <a:rect l="l" t="t" r="r" b="b"/>
            <a:pathLst>
              <a:path w="1289684" h="6858000">
                <a:moveTo>
                  <a:pt x="1289303" y="0"/>
                </a:moveTo>
                <a:lnTo>
                  <a:pt x="1018031" y="0"/>
                </a:lnTo>
                <a:lnTo>
                  <a:pt x="0" y="6857995"/>
                </a:lnTo>
                <a:lnTo>
                  <a:pt x="1289303" y="6857995"/>
                </a:lnTo>
                <a:lnTo>
                  <a:pt x="1289303" y="0"/>
                </a:lnTo>
                <a:close/>
              </a:path>
            </a:pathLst>
          </a:custGeom>
          <a:solidFill>
            <a:srgbClr val="C0E2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795" y="0"/>
            <a:ext cx="1249045" cy="6858000"/>
          </a:xfrm>
          <a:custGeom>
            <a:avLst/>
            <a:gdLst/>
            <a:ahLst/>
            <a:cxnLst/>
            <a:rect l="l" t="t" r="r" b="b"/>
            <a:pathLst>
              <a:path w="1249045" h="6858000">
                <a:moveTo>
                  <a:pt x="1249045" y="0"/>
                </a:moveTo>
                <a:lnTo>
                  <a:pt x="0" y="0"/>
                </a:lnTo>
                <a:lnTo>
                  <a:pt x="1108582" y="6857995"/>
                </a:lnTo>
                <a:lnTo>
                  <a:pt x="1249045" y="6857995"/>
                </a:lnTo>
                <a:lnTo>
                  <a:pt x="1249045" y="0"/>
                </a:lnTo>
                <a:close/>
              </a:path>
            </a:pathLst>
          </a:custGeom>
          <a:solidFill>
            <a:srgbClr val="90C224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0819" y="3589020"/>
            <a:ext cx="1818639" cy="3268979"/>
          </a:xfrm>
          <a:custGeom>
            <a:avLst/>
            <a:gdLst/>
            <a:ahLst/>
            <a:cxnLst/>
            <a:rect l="l" t="t" r="r" b="b"/>
            <a:pathLst>
              <a:path w="1818640" h="3268979">
                <a:moveTo>
                  <a:pt x="1818131" y="0"/>
                </a:moveTo>
                <a:lnTo>
                  <a:pt x="0" y="3268979"/>
                </a:lnTo>
                <a:lnTo>
                  <a:pt x="1818131" y="3268979"/>
                </a:lnTo>
                <a:lnTo>
                  <a:pt x="1818131" y="0"/>
                </a:lnTo>
                <a:close/>
              </a:path>
            </a:pathLst>
          </a:custGeom>
          <a:solidFill>
            <a:srgbClr val="90C224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2691"/>
            <a:ext cx="449580" cy="2845435"/>
          </a:xfrm>
          <a:custGeom>
            <a:avLst/>
            <a:gdLst/>
            <a:ahLst/>
            <a:cxnLst/>
            <a:rect l="l" t="t" r="r" b="b"/>
            <a:pathLst>
              <a:path w="449580" h="2845434">
                <a:moveTo>
                  <a:pt x="0" y="0"/>
                </a:moveTo>
                <a:lnTo>
                  <a:pt x="0" y="2845307"/>
                </a:lnTo>
                <a:lnTo>
                  <a:pt x="449580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4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9462" y="617982"/>
            <a:ext cx="8512810" cy="1001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90C22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10834" y="2214498"/>
            <a:ext cx="5736590" cy="1499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info.cern.ch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devmedia.com.br/html-meta-tags-entendendo-o-uso-de-meta-tags/3032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tags/att_meta_content.asp" TargetMode="External"/><Relationship Id="rId2" Type="http://schemas.openxmlformats.org/officeDocument/2006/relationships/hyperlink" Target="https://www.w3schools.com/tags/att_meta_charset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schools.com/tags/att_meta_name.asp" TargetMode="External"/><Relationship Id="rId4" Type="http://schemas.openxmlformats.org/officeDocument/2006/relationships/hyperlink" Target="https://www.w3schools.com/tags/att_meta_http_equiv.asp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History/1989/proposal.html" TargetMode="External"/><Relationship Id="rId2" Type="http://schemas.openxmlformats.org/officeDocument/2006/relationships/hyperlink" Target="https://www.w3.org/html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schools.com/" TargetMode="External"/><Relationship Id="rId4" Type="http://schemas.openxmlformats.org/officeDocument/2006/relationships/hyperlink" Target="http://www.evolutionoftheweb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0609" y="0"/>
            <a:ext cx="4773930" cy="6868159"/>
            <a:chOff x="7420609" y="0"/>
            <a:chExt cx="4773930" cy="6868159"/>
          </a:xfrm>
        </p:grpSpPr>
        <p:sp>
          <p:nvSpPr>
            <p:cNvPr id="3" name="object 3"/>
            <p:cNvSpPr/>
            <p:nvPr/>
          </p:nvSpPr>
          <p:spPr>
            <a:xfrm>
              <a:off x="9370313" y="762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7998"/>
                  </a:lnTo>
                </a:path>
              </a:pathLst>
            </a:custGeom>
            <a:ln w="10160">
              <a:solidFill>
                <a:srgbClr val="BDBD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25689" y="3681222"/>
              <a:ext cx="4763770" cy="3177540"/>
            </a:xfrm>
            <a:custGeom>
              <a:avLst/>
              <a:gdLst/>
              <a:ahLst/>
              <a:cxnLst/>
              <a:rect l="l" t="t" r="r" b="b"/>
              <a:pathLst>
                <a:path w="4763770" h="3177540">
                  <a:moveTo>
                    <a:pt x="4763769" y="0"/>
                  </a:moveTo>
                  <a:lnTo>
                    <a:pt x="0" y="3177221"/>
                  </a:lnTo>
                </a:path>
              </a:pathLst>
            </a:custGeom>
            <a:ln w="1016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2099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>
                  <a:moveTo>
                    <a:pt x="3006852" y="0"/>
                  </a:moveTo>
                  <a:lnTo>
                    <a:pt x="2042922" y="0"/>
                  </a:lnTo>
                  <a:lnTo>
                    <a:pt x="0" y="6857995"/>
                  </a:lnTo>
                  <a:lnTo>
                    <a:pt x="3006852" y="6857995"/>
                  </a:lnTo>
                  <a:lnTo>
                    <a:pt x="3006852" y="0"/>
                  </a:lnTo>
                  <a:close/>
                </a:path>
              </a:pathLst>
            </a:custGeom>
            <a:solidFill>
              <a:srgbClr val="90C22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5771" y="0"/>
              <a:ext cx="2586355" cy="6858000"/>
            </a:xfrm>
            <a:custGeom>
              <a:avLst/>
              <a:gdLst/>
              <a:ahLst/>
              <a:cxnLst/>
              <a:rect l="l" t="t" r="r" b="b"/>
              <a:pathLst>
                <a:path w="2586354" h="6858000">
                  <a:moveTo>
                    <a:pt x="2586101" y="0"/>
                  </a:moveTo>
                  <a:lnTo>
                    <a:pt x="0" y="0"/>
                  </a:lnTo>
                  <a:lnTo>
                    <a:pt x="1207643" y="6857995"/>
                  </a:lnTo>
                  <a:lnTo>
                    <a:pt x="2586101" y="6857995"/>
                  </a:lnTo>
                  <a:lnTo>
                    <a:pt x="2586101" y="0"/>
                  </a:lnTo>
                  <a:close/>
                </a:path>
              </a:pathLst>
            </a:custGeom>
            <a:solidFill>
              <a:srgbClr val="90C224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3687" y="3047999"/>
              <a:ext cx="3258820" cy="3810000"/>
            </a:xfrm>
            <a:custGeom>
              <a:avLst/>
              <a:gdLst/>
              <a:ahLst/>
              <a:cxnLst/>
              <a:rect l="l" t="t" r="r" b="b"/>
              <a:pathLst>
                <a:path w="3258820" h="3810000">
                  <a:moveTo>
                    <a:pt x="3258311" y="0"/>
                  </a:moveTo>
                  <a:lnTo>
                    <a:pt x="0" y="3809999"/>
                  </a:lnTo>
                  <a:lnTo>
                    <a:pt x="3258311" y="3809999"/>
                  </a:lnTo>
                  <a:lnTo>
                    <a:pt x="3258311" y="0"/>
                  </a:lnTo>
                  <a:close/>
                </a:path>
              </a:pathLst>
            </a:custGeom>
            <a:solidFill>
              <a:srgbClr val="529F1F">
                <a:alpha val="7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7547" y="0"/>
              <a:ext cx="2851150" cy="6858000"/>
            </a:xfrm>
            <a:custGeom>
              <a:avLst/>
              <a:gdLst/>
              <a:ahLst/>
              <a:cxnLst/>
              <a:rect l="l" t="t" r="r" b="b"/>
              <a:pathLst>
                <a:path w="2851150" h="6858000">
                  <a:moveTo>
                    <a:pt x="2851150" y="0"/>
                  </a:moveTo>
                  <a:lnTo>
                    <a:pt x="0" y="0"/>
                  </a:lnTo>
                  <a:lnTo>
                    <a:pt x="2467609" y="6857995"/>
                  </a:lnTo>
                  <a:lnTo>
                    <a:pt x="2851150" y="6857995"/>
                  </a:lnTo>
                  <a:lnTo>
                    <a:pt x="2851150" y="0"/>
                  </a:lnTo>
                  <a:close/>
                </a:path>
              </a:pathLst>
            </a:custGeom>
            <a:solidFill>
              <a:srgbClr val="3D7817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9647" y="0"/>
              <a:ext cx="1289685" cy="6858000"/>
            </a:xfrm>
            <a:custGeom>
              <a:avLst/>
              <a:gdLst/>
              <a:ahLst/>
              <a:cxnLst/>
              <a:rect l="l" t="t" r="r" b="b"/>
              <a:pathLst>
                <a:path w="1289684" h="6858000">
                  <a:moveTo>
                    <a:pt x="1289303" y="0"/>
                  </a:moveTo>
                  <a:lnTo>
                    <a:pt x="1018031" y="0"/>
                  </a:lnTo>
                  <a:lnTo>
                    <a:pt x="0" y="6857995"/>
                  </a:lnTo>
                  <a:lnTo>
                    <a:pt x="1289303" y="6857995"/>
                  </a:lnTo>
                  <a:lnTo>
                    <a:pt x="1289303" y="0"/>
                  </a:lnTo>
                  <a:close/>
                </a:path>
              </a:pathLst>
            </a:custGeom>
            <a:solidFill>
              <a:srgbClr val="C0E2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40795" y="0"/>
              <a:ext cx="1249045" cy="6858000"/>
            </a:xfrm>
            <a:custGeom>
              <a:avLst/>
              <a:gdLst/>
              <a:ahLst/>
              <a:cxnLst/>
              <a:rect l="l" t="t" r="r" b="b"/>
              <a:pathLst>
                <a:path w="1249045" h="6858000">
                  <a:moveTo>
                    <a:pt x="1249045" y="0"/>
                  </a:moveTo>
                  <a:lnTo>
                    <a:pt x="0" y="0"/>
                  </a:lnTo>
                  <a:lnTo>
                    <a:pt x="1108582" y="6857995"/>
                  </a:lnTo>
                  <a:lnTo>
                    <a:pt x="1249045" y="6857995"/>
                  </a:lnTo>
                  <a:lnTo>
                    <a:pt x="1249045" y="0"/>
                  </a:lnTo>
                  <a:close/>
                </a:path>
              </a:pathLst>
            </a:custGeom>
            <a:solidFill>
              <a:srgbClr val="90C224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0819" y="3589020"/>
              <a:ext cx="1818639" cy="3268979"/>
            </a:xfrm>
            <a:custGeom>
              <a:avLst/>
              <a:gdLst/>
              <a:ahLst/>
              <a:cxnLst/>
              <a:rect l="l" t="t" r="r" b="b"/>
              <a:pathLst>
                <a:path w="1818640" h="3268979">
                  <a:moveTo>
                    <a:pt x="1818131" y="0"/>
                  </a:moveTo>
                  <a:lnTo>
                    <a:pt x="0" y="3268979"/>
                  </a:lnTo>
                  <a:lnTo>
                    <a:pt x="1818131" y="3268979"/>
                  </a:lnTo>
                  <a:lnTo>
                    <a:pt x="1818131" y="0"/>
                  </a:lnTo>
                  <a:close/>
                </a:path>
              </a:pathLst>
            </a:custGeom>
            <a:solidFill>
              <a:srgbClr val="90C224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90C224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1496" y="3819144"/>
            <a:ext cx="1760220" cy="54711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053965" y="3595242"/>
            <a:ext cx="18053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solidFill>
                  <a:srgbClr val="90C224"/>
                </a:solidFill>
                <a:latin typeface="Trebuchet MS"/>
                <a:cs typeface="Trebuchet MS"/>
              </a:rPr>
              <a:t>HTML</a:t>
            </a:r>
            <a:endParaRPr sz="5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53965" y="4381626"/>
            <a:ext cx="1767205" cy="3733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300"/>
              </a:lnSpc>
              <a:spcBef>
                <a:spcPts val="100"/>
              </a:spcBef>
            </a:pPr>
            <a:r>
              <a:rPr sz="1800" spc="-25" dirty="0">
                <a:solidFill>
                  <a:srgbClr val="7D7D7D"/>
                </a:solidFill>
                <a:latin typeface="Trebuchet MS"/>
                <a:cs typeface="Trebuchet MS"/>
              </a:rPr>
              <a:t>Prof. </a:t>
            </a:r>
            <a:r>
              <a:rPr sz="1800" spc="-10" dirty="0">
                <a:solidFill>
                  <a:srgbClr val="7D7D7D"/>
                </a:solidFill>
                <a:latin typeface="Trebuchet MS"/>
                <a:cs typeface="Trebuchet MS"/>
              </a:rPr>
              <a:t>Henrique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47" y="12191"/>
            <a:ext cx="843280" cy="5668010"/>
          </a:xfrm>
          <a:custGeom>
            <a:avLst/>
            <a:gdLst/>
            <a:ahLst/>
            <a:cxnLst/>
            <a:rect l="l" t="t" r="r" b="b"/>
            <a:pathLst>
              <a:path w="843280" h="5668010">
                <a:moveTo>
                  <a:pt x="842772" y="0"/>
                </a:moveTo>
                <a:lnTo>
                  <a:pt x="0" y="0"/>
                </a:lnTo>
                <a:lnTo>
                  <a:pt x="0" y="5667756"/>
                </a:lnTo>
                <a:lnTo>
                  <a:pt x="842772" y="0"/>
                </a:lnTo>
                <a:close/>
              </a:path>
            </a:pathLst>
          </a:custGeom>
          <a:solidFill>
            <a:srgbClr val="90C224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84147" y="2080260"/>
            <a:ext cx="3177540" cy="2707640"/>
          </a:xfrm>
          <a:custGeom>
            <a:avLst/>
            <a:gdLst/>
            <a:ahLst/>
            <a:cxnLst/>
            <a:rect l="l" t="t" r="r" b="b"/>
            <a:pathLst>
              <a:path w="3177540" h="2707640">
                <a:moveTo>
                  <a:pt x="2313431" y="2432812"/>
                </a:moveTo>
                <a:lnTo>
                  <a:pt x="861949" y="2432812"/>
                </a:lnTo>
                <a:lnTo>
                  <a:pt x="861949" y="2707513"/>
                </a:lnTo>
                <a:lnTo>
                  <a:pt x="2313431" y="2707513"/>
                </a:lnTo>
                <a:lnTo>
                  <a:pt x="2313431" y="2432812"/>
                </a:lnTo>
                <a:close/>
              </a:path>
              <a:path w="3177540" h="2707640">
                <a:moveTo>
                  <a:pt x="1922145" y="2236597"/>
                </a:moveTo>
                <a:lnTo>
                  <a:pt x="1254760" y="2236597"/>
                </a:lnTo>
                <a:lnTo>
                  <a:pt x="1254760" y="2432812"/>
                </a:lnTo>
                <a:lnTo>
                  <a:pt x="1922145" y="2432812"/>
                </a:lnTo>
                <a:lnTo>
                  <a:pt x="1922145" y="2236597"/>
                </a:lnTo>
                <a:close/>
              </a:path>
              <a:path w="3177540" h="2707640">
                <a:moveTo>
                  <a:pt x="2902204" y="0"/>
                </a:moveTo>
                <a:lnTo>
                  <a:pt x="173609" y="0"/>
                </a:lnTo>
                <a:lnTo>
                  <a:pt x="107568" y="12953"/>
                </a:lnTo>
                <a:lnTo>
                  <a:pt x="51092" y="51180"/>
                </a:lnTo>
                <a:lnTo>
                  <a:pt x="12903" y="107568"/>
                </a:lnTo>
                <a:lnTo>
                  <a:pt x="0" y="173609"/>
                </a:lnTo>
                <a:lnTo>
                  <a:pt x="0" y="2061337"/>
                </a:lnTo>
                <a:lnTo>
                  <a:pt x="12865" y="2128901"/>
                </a:lnTo>
                <a:lnTo>
                  <a:pt x="51092" y="2185416"/>
                </a:lnTo>
                <a:lnTo>
                  <a:pt x="107568" y="2223642"/>
                </a:lnTo>
                <a:lnTo>
                  <a:pt x="173609" y="2236597"/>
                </a:lnTo>
                <a:lnTo>
                  <a:pt x="3001644" y="2236597"/>
                </a:lnTo>
                <a:lnTo>
                  <a:pt x="3069336" y="2223642"/>
                </a:lnTo>
                <a:lnTo>
                  <a:pt x="3107816" y="2197608"/>
                </a:lnTo>
                <a:lnTo>
                  <a:pt x="3108325" y="2197354"/>
                </a:lnTo>
                <a:lnTo>
                  <a:pt x="3125216" y="2185797"/>
                </a:lnTo>
                <a:lnTo>
                  <a:pt x="3125851" y="2185416"/>
                </a:lnTo>
                <a:lnTo>
                  <a:pt x="3142868" y="2160270"/>
                </a:lnTo>
                <a:lnTo>
                  <a:pt x="3146425" y="2155063"/>
                </a:lnTo>
                <a:lnTo>
                  <a:pt x="3164078" y="2128901"/>
                </a:lnTo>
                <a:lnTo>
                  <a:pt x="3167634" y="2110232"/>
                </a:lnTo>
                <a:lnTo>
                  <a:pt x="3177031" y="2061337"/>
                </a:lnTo>
                <a:lnTo>
                  <a:pt x="3177031" y="1961769"/>
                </a:lnTo>
                <a:lnTo>
                  <a:pt x="274574" y="1961769"/>
                </a:lnTo>
                <a:lnTo>
                  <a:pt x="274574" y="274700"/>
                </a:lnTo>
                <a:lnTo>
                  <a:pt x="2902204" y="274700"/>
                </a:lnTo>
                <a:lnTo>
                  <a:pt x="2902204" y="0"/>
                </a:lnTo>
                <a:close/>
              </a:path>
              <a:path w="3177540" h="2707640">
                <a:moveTo>
                  <a:pt x="3001644" y="0"/>
                </a:moveTo>
                <a:lnTo>
                  <a:pt x="2902204" y="0"/>
                </a:lnTo>
                <a:lnTo>
                  <a:pt x="2902204" y="1961769"/>
                </a:lnTo>
                <a:lnTo>
                  <a:pt x="3177031" y="1961769"/>
                </a:lnTo>
                <a:lnTo>
                  <a:pt x="3177031" y="173609"/>
                </a:lnTo>
                <a:lnTo>
                  <a:pt x="3167761" y="126364"/>
                </a:lnTo>
                <a:lnTo>
                  <a:pt x="3166364" y="119125"/>
                </a:lnTo>
                <a:lnTo>
                  <a:pt x="3164078" y="107568"/>
                </a:lnTo>
                <a:lnTo>
                  <a:pt x="3146425" y="81661"/>
                </a:lnTo>
                <a:lnTo>
                  <a:pt x="3142868" y="76326"/>
                </a:lnTo>
                <a:lnTo>
                  <a:pt x="3125851" y="51180"/>
                </a:lnTo>
                <a:lnTo>
                  <a:pt x="3124962" y="50673"/>
                </a:lnTo>
                <a:lnTo>
                  <a:pt x="3120643" y="47625"/>
                </a:lnTo>
                <a:lnTo>
                  <a:pt x="3108071" y="39242"/>
                </a:lnTo>
                <a:lnTo>
                  <a:pt x="3107563" y="38862"/>
                </a:lnTo>
                <a:lnTo>
                  <a:pt x="3069336" y="12953"/>
                </a:lnTo>
                <a:lnTo>
                  <a:pt x="3001644" y="0"/>
                </a:lnTo>
                <a:close/>
              </a:path>
            </a:pathLst>
          </a:custGeom>
          <a:solidFill>
            <a:srgbClr val="90C22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2139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Definições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02563" y="1780159"/>
            <a:ext cx="8452485" cy="4375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150" spc="-10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7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700" spc="-5" dirty="0">
                <a:solidFill>
                  <a:srgbClr val="404040"/>
                </a:solidFill>
                <a:latin typeface="Trebuchet MS"/>
                <a:cs typeface="Trebuchet MS"/>
              </a:rPr>
              <a:t> qu</a:t>
            </a:r>
            <a:r>
              <a:rPr sz="27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700" spc="-5" dirty="0">
                <a:solidFill>
                  <a:srgbClr val="404040"/>
                </a:solidFill>
                <a:latin typeface="Trebuchet MS"/>
                <a:cs typeface="Trebuchet MS"/>
              </a:rPr>
              <a:t>HTM</a:t>
            </a:r>
            <a:r>
              <a:rPr sz="2700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700" spc="-2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404040"/>
                </a:solidFill>
                <a:latin typeface="Trebuchet MS"/>
                <a:cs typeface="Trebuchet MS"/>
              </a:rPr>
              <a:t>?</a:t>
            </a:r>
            <a:endParaRPr sz="2700" dirty="0">
              <a:latin typeface="Trebuchet MS"/>
              <a:cs typeface="Trebuchet MS"/>
            </a:endParaRPr>
          </a:p>
          <a:p>
            <a:pPr marL="469900">
              <a:lnSpc>
                <a:spcPts val="2785"/>
              </a:lnSpc>
              <a:spcBef>
                <a:spcPts val="130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900" spc="-204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i="1" spc="-35" dirty="0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sz="2400" i="1" spc="-30" dirty="0">
                <a:solidFill>
                  <a:srgbClr val="404040"/>
                </a:solidFill>
                <a:latin typeface="Trebuchet MS"/>
                <a:cs typeface="Trebuchet MS"/>
              </a:rPr>
              <a:t>y</a:t>
            </a:r>
            <a:r>
              <a:rPr sz="2400" i="1" spc="-45" dirty="0">
                <a:solidFill>
                  <a:srgbClr val="404040"/>
                </a:solidFill>
                <a:latin typeface="Trebuchet MS"/>
                <a:cs typeface="Trebuchet MS"/>
              </a:rPr>
              <a:t>pe</a:t>
            </a:r>
            <a:r>
              <a:rPr sz="2400" i="1" spc="-4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400" i="1" spc="-32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i="1" spc="-4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i="1" spc="-40" dirty="0">
                <a:solidFill>
                  <a:srgbClr val="404040"/>
                </a:solidFill>
                <a:latin typeface="Trebuchet MS"/>
                <a:cs typeface="Trebuchet MS"/>
              </a:rPr>
              <a:t>x</a:t>
            </a:r>
            <a:r>
              <a:rPr sz="2400" i="1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i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i="1" spc="-5" dirty="0">
                <a:solidFill>
                  <a:srgbClr val="404040"/>
                </a:solidFill>
                <a:latin typeface="Trebuchet MS"/>
                <a:cs typeface="Trebuchet MS"/>
              </a:rPr>
              <a:t>Ma</a:t>
            </a:r>
            <a:r>
              <a:rPr sz="2400" i="1" spc="-15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400" i="1" spc="-5" dirty="0">
                <a:solidFill>
                  <a:srgbClr val="404040"/>
                </a:solidFill>
                <a:latin typeface="Trebuchet MS"/>
                <a:cs typeface="Trebuchet MS"/>
              </a:rPr>
              <a:t>ku</a:t>
            </a:r>
            <a:r>
              <a:rPr sz="2400" i="1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400" i="1" spc="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i="1" spc="-5" dirty="0">
                <a:solidFill>
                  <a:srgbClr val="404040"/>
                </a:solidFill>
                <a:latin typeface="Trebuchet MS"/>
                <a:cs typeface="Trebuchet MS"/>
              </a:rPr>
              <a:t>Lang</a:t>
            </a:r>
            <a:r>
              <a:rPr sz="2400" i="1" spc="-15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400" i="1" spc="-5" dirty="0">
                <a:solidFill>
                  <a:srgbClr val="404040"/>
                </a:solidFill>
                <a:latin typeface="Trebuchet MS"/>
                <a:cs typeface="Trebuchet MS"/>
              </a:rPr>
              <a:t>ag</a:t>
            </a:r>
            <a:r>
              <a:rPr sz="2400" i="1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i="1" spc="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400" spc="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nguage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400" spc="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Marcação</a:t>
            </a:r>
            <a:endParaRPr sz="2400" dirty="0">
              <a:latin typeface="Trebuchet MS"/>
              <a:cs typeface="Trebuchet MS"/>
            </a:endParaRPr>
          </a:p>
          <a:p>
            <a:pPr marL="758190">
              <a:lnSpc>
                <a:spcPts val="2785"/>
              </a:lnSpc>
            </a:pP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HiperTexto.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15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150" spc="-9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7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7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700" spc="-5" dirty="0">
                <a:solidFill>
                  <a:srgbClr val="404040"/>
                </a:solidFill>
                <a:latin typeface="Trebuchet MS"/>
                <a:cs typeface="Trebuchet MS"/>
              </a:rPr>
              <a:t>Linguagem</a:t>
            </a:r>
            <a:r>
              <a:rPr sz="27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7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700" spc="-10" dirty="0">
                <a:solidFill>
                  <a:srgbClr val="404040"/>
                </a:solidFill>
                <a:latin typeface="Trebuchet MS"/>
                <a:cs typeface="Trebuchet MS"/>
              </a:rPr>
              <a:t>marcação,</a:t>
            </a:r>
            <a:r>
              <a:rPr sz="27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404040"/>
                </a:solidFill>
                <a:latin typeface="Trebuchet MS"/>
                <a:cs typeface="Trebuchet MS"/>
              </a:rPr>
              <a:t>ou</a:t>
            </a:r>
            <a:r>
              <a:rPr sz="2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700" i="1" spc="-10" dirty="0">
                <a:solidFill>
                  <a:srgbClr val="404040"/>
                </a:solidFill>
                <a:latin typeface="Trebuchet MS"/>
                <a:cs typeface="Trebuchet MS"/>
              </a:rPr>
              <a:t>Markup</a:t>
            </a:r>
            <a:r>
              <a:rPr sz="2700" i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404040"/>
                </a:solidFill>
                <a:latin typeface="Trebuchet MS"/>
                <a:cs typeface="Trebuchet MS"/>
              </a:rPr>
              <a:t>?</a:t>
            </a:r>
            <a:endParaRPr sz="2700" dirty="0">
              <a:latin typeface="Trebuchet MS"/>
              <a:cs typeface="Trebuchet MS"/>
            </a:endParaRPr>
          </a:p>
          <a:p>
            <a:pPr marL="758190" marR="5080" indent="-288290" algn="just">
              <a:lnSpc>
                <a:spcPct val="80500"/>
              </a:lnSpc>
              <a:spcBef>
                <a:spcPts val="1055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É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um conjunto de 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códigos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aplicados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ao texto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,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com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finalidade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adicionar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informações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particulares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sobre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esse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texto.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15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150" spc="-10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7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700" spc="-5" dirty="0">
                <a:solidFill>
                  <a:srgbClr val="404040"/>
                </a:solidFill>
                <a:latin typeface="Trebuchet MS"/>
                <a:cs typeface="Trebuchet MS"/>
              </a:rPr>
              <a:t> que</a:t>
            </a:r>
            <a:r>
              <a:rPr sz="2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700" spc="-5" dirty="0">
                <a:solidFill>
                  <a:srgbClr val="404040"/>
                </a:solidFill>
                <a:latin typeface="Trebuchet MS"/>
                <a:cs typeface="Trebuchet MS"/>
              </a:rPr>
              <a:t>Hipertexto</a:t>
            </a:r>
            <a:r>
              <a:rPr sz="2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700" spc="-65" dirty="0">
                <a:solidFill>
                  <a:srgbClr val="404040"/>
                </a:solidFill>
                <a:latin typeface="Trebuchet MS"/>
                <a:cs typeface="Trebuchet MS"/>
              </a:rPr>
              <a:t>(</a:t>
            </a:r>
            <a:r>
              <a:rPr sz="2700" i="1" spc="-65" dirty="0">
                <a:solidFill>
                  <a:srgbClr val="404040"/>
                </a:solidFill>
                <a:latin typeface="Trebuchet MS"/>
                <a:cs typeface="Trebuchet MS"/>
              </a:rPr>
              <a:t>HyperText</a:t>
            </a:r>
            <a:r>
              <a:rPr sz="2700" spc="-65" dirty="0">
                <a:solidFill>
                  <a:srgbClr val="404040"/>
                </a:solidFill>
                <a:latin typeface="Trebuchet MS"/>
                <a:cs typeface="Trebuchet MS"/>
              </a:rPr>
              <a:t>)?</a:t>
            </a:r>
            <a:endParaRPr sz="2700" dirty="0">
              <a:latin typeface="Trebuchet MS"/>
              <a:cs typeface="Trebuchet MS"/>
            </a:endParaRPr>
          </a:p>
          <a:p>
            <a:pPr marL="758190" marR="5080" indent="-288290" algn="just">
              <a:lnSpc>
                <a:spcPct val="80300"/>
              </a:lnSpc>
              <a:spcBef>
                <a:spcPts val="1070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É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um texto que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agrega outros conjuntos de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elementos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(texto, imagens,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vídeos, áudio,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documentos,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etc) que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são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ligados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através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de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referências</a:t>
            </a:r>
            <a:r>
              <a:rPr sz="240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específicas, </a:t>
            </a:r>
            <a:r>
              <a:rPr sz="2400" spc="-7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conhecidas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como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hiperligações.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E8B01C-2CEA-CD2F-AE4C-16052CC5984C}"/>
              </a:ext>
            </a:extLst>
          </p:cNvPr>
          <p:cNvSpPr txBox="1"/>
          <p:nvPr/>
        </p:nvSpPr>
        <p:spPr>
          <a:xfrm>
            <a:off x="4876800" y="228600"/>
            <a:ext cx="487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  <a:latin typeface="arial" panose="020B0604020202020204" pitchFamily="34" charset="0"/>
              </a:rPr>
              <a:t>Hiperligações (Hiperlink):</a:t>
            </a:r>
            <a:r>
              <a:rPr lang="pt-BR" b="0" i="0" dirty="0"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é uma referência dentro de um documento em hipertexto a outras partes desse documento ou a outro documento</a:t>
            </a:r>
            <a:endParaRPr lang="en-US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1146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HT</a:t>
            </a:r>
            <a:r>
              <a:rPr sz="3600" dirty="0"/>
              <a:t>ML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005" y="2165096"/>
            <a:ext cx="9607195" cy="2884251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55600" marR="5080" indent="-342900">
              <a:lnSpc>
                <a:spcPct val="102899"/>
              </a:lnSpc>
              <a:spcBef>
                <a:spcPts val="15"/>
              </a:spcBef>
              <a:tabLst>
                <a:tab pos="354965" algn="l"/>
                <a:tab pos="845819" algn="l"/>
                <a:tab pos="1866900" algn="l"/>
                <a:tab pos="2316480" algn="l"/>
                <a:tab pos="3182620" algn="l"/>
                <a:tab pos="4862195" algn="l"/>
                <a:tab pos="5997575" algn="l"/>
                <a:tab pos="6892290" algn="l"/>
                <a:tab pos="8267065" algn="l"/>
              </a:tabLst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O	HT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	é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	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uag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	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400" spc="25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	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ra	</a:t>
            </a:r>
            <a:r>
              <a:rPr sz="2400" spc="-15" dirty="0">
                <a:solidFill>
                  <a:srgbClr val="00B0F0"/>
                </a:solidFill>
                <a:latin typeface="Trebuchet MS"/>
                <a:cs typeface="Trebuchet MS"/>
              </a:rPr>
              <a:t>f</a:t>
            </a:r>
            <a:r>
              <a:rPr sz="2400" spc="10" dirty="0">
                <a:solidFill>
                  <a:srgbClr val="00B0F0"/>
                </a:solidFill>
                <a:latin typeface="Trebuchet MS"/>
                <a:cs typeface="Trebuchet MS"/>
              </a:rPr>
              <a:t>a</a:t>
            </a:r>
            <a:r>
              <a:rPr sz="2400" spc="-15" dirty="0">
                <a:solidFill>
                  <a:srgbClr val="00B0F0"/>
                </a:solidFill>
                <a:latin typeface="Trebuchet MS"/>
                <a:cs typeface="Trebuchet MS"/>
              </a:rPr>
              <a:t>c</a:t>
            </a:r>
            <a:r>
              <a:rPr sz="2400" spc="10" dirty="0">
                <a:solidFill>
                  <a:srgbClr val="00B0F0"/>
                </a:solidFill>
                <a:latin typeface="Trebuchet MS"/>
                <a:cs typeface="Trebuchet MS"/>
              </a:rPr>
              <a:t>i</a:t>
            </a:r>
            <a:r>
              <a:rPr sz="2400" spc="-10" dirty="0">
                <a:solidFill>
                  <a:srgbClr val="00B0F0"/>
                </a:solidFill>
                <a:latin typeface="Trebuchet MS"/>
                <a:cs typeface="Trebuchet MS"/>
              </a:rPr>
              <a:t>l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ita</a:t>
            </a:r>
            <a:r>
              <a:rPr sz="2400" dirty="0">
                <a:solidFill>
                  <a:srgbClr val="00B0F0"/>
                </a:solidFill>
                <a:latin typeface="Trebuchet MS"/>
                <a:cs typeface="Trebuchet MS"/>
              </a:rPr>
              <a:t>r	a  </a:t>
            </a:r>
            <a:r>
              <a:rPr sz="2400" spc="-10" dirty="0">
                <a:solidFill>
                  <a:srgbClr val="00B0F0"/>
                </a:solidFill>
                <a:latin typeface="Trebuchet MS"/>
                <a:cs typeface="Trebuchet MS"/>
              </a:rPr>
              <a:t>comunicação.</a:t>
            </a:r>
            <a:endParaRPr sz="2400" dirty="0">
              <a:solidFill>
                <a:srgbClr val="00B0F0"/>
              </a:solidFill>
              <a:latin typeface="Trebuchet MS"/>
              <a:cs typeface="Trebuchet MS"/>
            </a:endParaRPr>
          </a:p>
          <a:p>
            <a:pPr marL="355600" marR="24765" indent="-342900">
              <a:lnSpc>
                <a:spcPct val="102499"/>
              </a:lnSpc>
              <a:spcBef>
                <a:spcPts val="855"/>
              </a:spcBef>
              <a:tabLst>
                <a:tab pos="354965" algn="l"/>
              </a:tabLst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endParaRPr lang="en-US" sz="1900" spc="-5" dirty="0">
              <a:solidFill>
                <a:srgbClr val="90C224"/>
              </a:solidFill>
              <a:latin typeface="Lucida Sans Unicode"/>
              <a:cs typeface="Lucida Sans Unicode"/>
            </a:endParaRPr>
          </a:p>
          <a:p>
            <a:pPr marL="355600" marR="24765" indent="-342900">
              <a:lnSpc>
                <a:spcPct val="102499"/>
              </a:lnSpc>
              <a:spcBef>
                <a:spcPts val="855"/>
              </a:spcBef>
              <a:tabLst>
                <a:tab pos="354965" algn="l"/>
              </a:tabLst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HTML</a:t>
            </a:r>
            <a:r>
              <a:rPr sz="2400" spc="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não</a:t>
            </a:r>
            <a:r>
              <a:rPr sz="2400" spc="2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é</a:t>
            </a:r>
            <a:r>
              <a:rPr sz="2400" spc="2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linguagem</a:t>
            </a:r>
            <a:r>
              <a:rPr sz="2400" spc="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de</a:t>
            </a:r>
            <a:r>
              <a:rPr sz="2400" spc="25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programação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2400" spc="229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pois</a:t>
            </a:r>
            <a:r>
              <a:rPr sz="2400" spc="2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não</a:t>
            </a:r>
            <a:r>
              <a:rPr sz="2400" spc="2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tem</a:t>
            </a:r>
            <a:r>
              <a:rPr sz="2400" spc="2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os </a:t>
            </a:r>
            <a:r>
              <a:rPr sz="2400" spc="-7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recursos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estruturas</a:t>
            </a:r>
            <a:r>
              <a:rPr sz="2400" spc="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condicionais</a:t>
            </a:r>
            <a:r>
              <a:rPr sz="2400" spc="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ou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de</a:t>
            </a:r>
            <a:r>
              <a:rPr sz="240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controle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  <a:p>
            <a:pPr marL="757555" marR="5715" indent="-288290">
              <a:lnSpc>
                <a:spcPct val="102899"/>
              </a:lnSpc>
              <a:spcBef>
                <a:spcPts val="830"/>
              </a:spcBef>
              <a:tabLst>
                <a:tab pos="1741805" algn="l"/>
                <a:tab pos="2522855" algn="l"/>
                <a:tab pos="4841875" algn="l"/>
                <a:tab pos="5345430" algn="l"/>
                <a:tab pos="6244590" algn="l"/>
                <a:tab pos="6579870" algn="l"/>
                <a:tab pos="7207884" algn="l"/>
              </a:tabLst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900" spc="-204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Us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par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	</a:t>
            </a:r>
            <a:r>
              <a:rPr sz="2400" spc="15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ic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namen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x</a:t>
            </a:r>
            <a:r>
              <a:rPr sz="2400" spc="2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	e	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ag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s, 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além,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claro,</a:t>
            </a:r>
            <a:r>
              <a:rPr sz="2400" spc="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 poder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criar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os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links.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5026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Breve</a:t>
            </a:r>
            <a:r>
              <a:rPr sz="3600" spc="-30" dirty="0"/>
              <a:t> </a:t>
            </a:r>
            <a:r>
              <a:rPr sz="3600" spc="-5" dirty="0"/>
              <a:t>Histórico</a:t>
            </a:r>
            <a:r>
              <a:rPr sz="3600" spc="-80" dirty="0"/>
              <a:t> </a:t>
            </a:r>
            <a:r>
              <a:rPr sz="3600" spc="-5" dirty="0"/>
              <a:t>do</a:t>
            </a:r>
            <a:r>
              <a:rPr sz="3600" spc="-85" dirty="0"/>
              <a:t> </a:t>
            </a:r>
            <a:r>
              <a:rPr sz="3600" spc="-5" dirty="0"/>
              <a:t>HTML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02562" y="1792985"/>
            <a:ext cx="8803437" cy="394582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55600" marR="29845" indent="-343535" algn="just">
              <a:lnSpc>
                <a:spcPct val="101499"/>
              </a:lnSpc>
              <a:spcBef>
                <a:spcPts val="55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HTML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(</a:t>
            </a:r>
            <a:r>
              <a:rPr sz="2400" i="1" spc="-65" dirty="0">
                <a:solidFill>
                  <a:srgbClr val="404040"/>
                </a:solidFill>
                <a:latin typeface="Trebuchet MS"/>
                <a:cs typeface="Trebuchet MS"/>
              </a:rPr>
              <a:t>HyperText</a:t>
            </a:r>
            <a:r>
              <a:rPr sz="2400" i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i="1" spc="-5" dirty="0">
                <a:solidFill>
                  <a:srgbClr val="404040"/>
                </a:solidFill>
                <a:latin typeface="Trebuchet MS"/>
                <a:cs typeface="Trebuchet MS"/>
              </a:rPr>
              <a:t>Markup</a:t>
            </a:r>
            <a:r>
              <a:rPr sz="2400" i="1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i="1" spc="-10" dirty="0">
                <a:solidFill>
                  <a:srgbClr val="404040"/>
                </a:solidFill>
                <a:latin typeface="Trebuchet MS"/>
                <a:cs typeface="Trebuchet MS"/>
              </a:rPr>
              <a:t>Language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)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foi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definida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em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especificações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formais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pelo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físico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Tim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Berners-Lee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em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1990.</a:t>
            </a:r>
            <a:endParaRPr sz="2400" dirty="0">
              <a:latin typeface="Trebuchet MS"/>
              <a:cs typeface="Trebuchet MS"/>
            </a:endParaRPr>
          </a:p>
          <a:p>
            <a:pPr marL="355600" marR="5080" indent="-343535" algn="just">
              <a:lnSpc>
                <a:spcPct val="100600"/>
              </a:lnSpc>
              <a:spcBef>
                <a:spcPts val="905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HTML que 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Tim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inventou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foi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fortemente baseado no SGML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(Standard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Generalized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Mark-up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Language),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um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método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internacionalmente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aceito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para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marcação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texto 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em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 unidades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estruturais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2400" spc="7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como </a:t>
            </a:r>
            <a:r>
              <a:rPr sz="2400" spc="-10" dirty="0">
                <a:solidFill>
                  <a:srgbClr val="00B0F0"/>
                </a:solidFill>
                <a:latin typeface="Trebuchet MS"/>
                <a:cs typeface="Trebuchet MS"/>
              </a:rPr>
              <a:t>parágrafos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, 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cabeçalhos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, 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itens </a:t>
            </a:r>
            <a:r>
              <a:rPr sz="2400" dirty="0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de</a:t>
            </a:r>
            <a:r>
              <a:rPr sz="2400" dirty="0">
                <a:solidFill>
                  <a:srgbClr val="00B0F0"/>
                </a:solidFill>
                <a:latin typeface="Trebuchet MS"/>
                <a:cs typeface="Trebuchet MS"/>
              </a:rPr>
              <a:t> lista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assim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por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diante.</a:t>
            </a:r>
            <a:endParaRPr sz="2400" dirty="0">
              <a:latin typeface="Trebuchet MS"/>
              <a:cs typeface="Trebuchet MS"/>
            </a:endParaRPr>
          </a:p>
          <a:p>
            <a:pPr marL="355600" marR="24765" indent="-343535" algn="just">
              <a:lnSpc>
                <a:spcPct val="101000"/>
              </a:lnSpc>
              <a:spcBef>
                <a:spcPts val="900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HTML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facilitou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especialmente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essa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troca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ao incorporar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B0F0"/>
                </a:solidFill>
                <a:latin typeface="Trebuchet MS"/>
                <a:cs typeface="Trebuchet MS"/>
              </a:rPr>
              <a:t>capacidade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 de</a:t>
            </a:r>
            <a:r>
              <a:rPr sz="2400" dirty="0">
                <a:solidFill>
                  <a:srgbClr val="00B0F0"/>
                </a:solidFill>
                <a:latin typeface="Trebuchet MS"/>
                <a:cs typeface="Trebuchet MS"/>
              </a:rPr>
              <a:t> vincular</a:t>
            </a:r>
            <a:r>
              <a:rPr sz="2400" spc="5" dirty="0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B0F0"/>
                </a:solidFill>
                <a:latin typeface="Trebuchet MS"/>
                <a:cs typeface="Trebuchet MS"/>
              </a:rPr>
              <a:t>documentos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B0F0"/>
                </a:solidFill>
                <a:latin typeface="Trebuchet MS"/>
                <a:cs typeface="Trebuchet MS"/>
              </a:rPr>
              <a:t>eletronicamente 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usando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Trebuchet MS"/>
                <a:cs typeface="Trebuchet MS"/>
              </a:rPr>
              <a:t>hiperlinks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Assim,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nome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Hypertext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Markup 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Language.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160" y="761"/>
            <a:ext cx="12192000" cy="6858000"/>
            <a:chOff x="762" y="761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762" y="761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8000"/>
                  </a:moveTo>
                  <a:lnTo>
                    <a:pt x="12192000" y="6858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188" y="669036"/>
              <a:ext cx="11443716" cy="405536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505200" y="5105400"/>
            <a:ext cx="5791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rebuchet MS"/>
                <a:cs typeface="Trebuchet MS"/>
              </a:rPr>
              <a:t>Primeiro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web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site: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3"/>
              </a:rPr>
              <a:t>http://info.cern.ch/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5026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Breve</a:t>
            </a:r>
            <a:r>
              <a:rPr sz="3600" spc="-30" dirty="0"/>
              <a:t> </a:t>
            </a:r>
            <a:r>
              <a:rPr sz="3600" spc="-5" dirty="0"/>
              <a:t>Histórico</a:t>
            </a:r>
            <a:r>
              <a:rPr sz="3600" spc="-80" dirty="0"/>
              <a:t> </a:t>
            </a:r>
            <a:r>
              <a:rPr sz="3600" spc="-5" dirty="0"/>
              <a:t>do</a:t>
            </a:r>
            <a:r>
              <a:rPr sz="3600" spc="-85" dirty="0"/>
              <a:t> </a:t>
            </a:r>
            <a:r>
              <a:rPr sz="3600" spc="-5" dirty="0"/>
              <a:t>HTML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02563" y="1368023"/>
            <a:ext cx="8879637" cy="441287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200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000" spc="-37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500" spc="-10" dirty="0">
                <a:solidFill>
                  <a:srgbClr val="404040"/>
                </a:solidFill>
                <a:latin typeface="Trebuchet MS"/>
                <a:cs typeface="Trebuchet MS"/>
              </a:rPr>
              <a:t>HT</a:t>
            </a:r>
            <a:r>
              <a:rPr sz="2500" spc="-5" dirty="0">
                <a:solidFill>
                  <a:srgbClr val="404040"/>
                </a:solidFill>
                <a:latin typeface="Trebuchet MS"/>
                <a:cs typeface="Trebuchet MS"/>
              </a:rPr>
              <a:t>ML</a:t>
            </a:r>
            <a:r>
              <a:rPr sz="2500" spc="-2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404040"/>
                </a:solidFill>
                <a:latin typeface="Trebuchet MS"/>
                <a:cs typeface="Trebuchet MS"/>
              </a:rPr>
              <a:t>2.0</a:t>
            </a:r>
            <a:endParaRPr sz="2500" dirty="0">
              <a:latin typeface="Trebuchet MS"/>
              <a:cs typeface="Trebuchet MS"/>
            </a:endParaRPr>
          </a:p>
          <a:p>
            <a:pPr marL="758190" marR="97790" indent="-288290" algn="just">
              <a:lnSpc>
                <a:spcPts val="2480"/>
              </a:lnSpc>
              <a:spcBef>
                <a:spcPts val="490"/>
              </a:spcBef>
            </a:pPr>
            <a:r>
              <a:rPr sz="1750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Durante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1993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início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1994,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rebuchet MS"/>
                <a:cs typeface="Trebuchet MS"/>
              </a:rPr>
              <a:t>muitos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Trebuchet MS"/>
                <a:cs typeface="Trebuchet MS"/>
              </a:rPr>
              <a:t>navegadores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 adicionaram</a:t>
            </a:r>
            <a:r>
              <a:rPr sz="220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rebuchet MS"/>
                <a:cs typeface="Trebuchet MS"/>
              </a:rPr>
              <a:t>seus</a:t>
            </a:r>
            <a:r>
              <a:rPr sz="220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próprios</a:t>
            </a:r>
            <a:r>
              <a:rPr sz="22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elementos</a:t>
            </a:r>
            <a:r>
              <a:rPr sz="2200" spc="-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rebuchet MS"/>
                <a:cs typeface="Trebuchet MS"/>
              </a:rPr>
              <a:t>ao</a:t>
            </a:r>
            <a:r>
              <a:rPr sz="2200" spc="-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rebuchet MS"/>
                <a:cs typeface="Trebuchet MS"/>
              </a:rPr>
              <a:t>HTML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lang="en-US" sz="2200" spc="-5" dirty="0">
              <a:solidFill>
                <a:srgbClr val="404040"/>
              </a:solidFill>
              <a:latin typeface="Trebuchet MS"/>
              <a:cs typeface="Trebuchet MS"/>
            </a:endParaRPr>
          </a:p>
          <a:p>
            <a:pPr marL="758190" marR="97790" indent="-288290" algn="just">
              <a:lnSpc>
                <a:spcPts val="2480"/>
              </a:lnSpc>
              <a:spcBef>
                <a:spcPts val="490"/>
              </a:spcBef>
            </a:pPr>
            <a:endParaRPr sz="2200" dirty="0">
              <a:latin typeface="Trebuchet MS"/>
              <a:cs typeface="Trebuchet MS"/>
            </a:endParaRPr>
          </a:p>
          <a:p>
            <a:pPr marL="758190" marR="5080" indent="-288290" algn="just">
              <a:lnSpc>
                <a:spcPct val="80300"/>
              </a:lnSpc>
              <a:spcBef>
                <a:spcPts val="915"/>
              </a:spcBef>
            </a:pPr>
            <a:r>
              <a:rPr sz="1750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Em um esforço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para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dar sentido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ao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caos,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Dan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Connolly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 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seus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colegas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coletaram</a:t>
            </a:r>
            <a:r>
              <a:rPr sz="22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todas</a:t>
            </a:r>
            <a:r>
              <a:rPr sz="2200" spc="-5" dirty="0">
                <a:solidFill>
                  <a:srgbClr val="FF0000"/>
                </a:solidFill>
                <a:latin typeface="Trebuchet MS"/>
                <a:cs typeface="Trebuchet MS"/>
              </a:rPr>
              <a:t> as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Trebuchet MS"/>
                <a:cs typeface="Trebuchet MS"/>
              </a:rPr>
              <a:t>tags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 HTML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foram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 amplamente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usadas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e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as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rebuchet MS"/>
                <a:cs typeface="Trebuchet MS"/>
              </a:rPr>
              <a:t>reuniram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em</a:t>
            </a:r>
            <a:r>
              <a:rPr sz="2200" spc="-5" dirty="0">
                <a:solidFill>
                  <a:srgbClr val="FF0000"/>
                </a:solidFill>
                <a:latin typeface="Trebuchet MS"/>
                <a:cs typeface="Trebuchet MS"/>
              </a:rPr>
              <a:t> um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Trebuchet MS"/>
                <a:cs typeface="Trebuchet MS"/>
              </a:rPr>
              <a:t>documento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preliminar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que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definiu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amplitude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do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que </a:t>
            </a:r>
            <a:r>
              <a:rPr sz="2200" spc="-60" dirty="0">
                <a:solidFill>
                  <a:srgbClr val="404040"/>
                </a:solidFill>
                <a:latin typeface="Trebuchet MS"/>
                <a:cs typeface="Trebuchet MS"/>
              </a:rPr>
              <a:t>Tim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Berners- 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2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chamo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2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HTM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200" spc="-1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2.</a:t>
            </a:r>
            <a:endParaRPr lang="en-US" sz="2200" spc="-5" dirty="0">
              <a:solidFill>
                <a:srgbClr val="404040"/>
              </a:solidFill>
              <a:latin typeface="Trebuchet MS"/>
              <a:cs typeface="Trebuchet MS"/>
            </a:endParaRPr>
          </a:p>
          <a:p>
            <a:pPr marL="758190" marR="5080" indent="-288290" algn="just">
              <a:lnSpc>
                <a:spcPct val="80300"/>
              </a:lnSpc>
              <a:spcBef>
                <a:spcPts val="915"/>
              </a:spcBef>
            </a:pPr>
            <a:endParaRPr sz="2200" dirty="0">
              <a:latin typeface="Trebuchet MS"/>
              <a:cs typeface="Trebuchet MS"/>
            </a:endParaRPr>
          </a:p>
          <a:p>
            <a:pPr marL="758190" marR="5080" indent="-288290" algn="just">
              <a:lnSpc>
                <a:spcPct val="80300"/>
              </a:lnSpc>
              <a:spcBef>
                <a:spcPts val="960"/>
              </a:spcBef>
            </a:pPr>
            <a:r>
              <a:rPr sz="175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750" spc="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rascunho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foi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compartilhado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com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comunidade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comunidade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Internet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75" dirty="0">
                <a:solidFill>
                  <a:srgbClr val="404040"/>
                </a:solidFill>
                <a:latin typeface="Trebuchet MS"/>
                <a:cs typeface="Trebuchet MS"/>
              </a:rPr>
              <a:t>comentar.</a:t>
            </a:r>
            <a:r>
              <a:rPr sz="22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Dan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levou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em 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consideração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as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sugestões de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entusiastas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de HTML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com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en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2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ef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ini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ç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ã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HTM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200" spc="-1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2.</a:t>
            </a:r>
            <a:endParaRPr sz="2200" dirty="0">
              <a:latin typeface="Trebuchet MS"/>
              <a:cs typeface="Trebuchet MS"/>
            </a:endParaRPr>
          </a:p>
          <a:p>
            <a:pPr marL="469900" algn="just">
              <a:lnSpc>
                <a:spcPts val="2555"/>
              </a:lnSpc>
              <a:spcBef>
                <a:spcPts val="195"/>
              </a:spcBef>
            </a:pPr>
            <a:endParaRPr sz="2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5026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Breve</a:t>
            </a:r>
            <a:r>
              <a:rPr sz="3600" spc="-30" dirty="0"/>
              <a:t> </a:t>
            </a:r>
            <a:r>
              <a:rPr sz="3600" spc="-5" dirty="0"/>
              <a:t>Histórico</a:t>
            </a:r>
            <a:r>
              <a:rPr sz="3600" spc="-80" dirty="0"/>
              <a:t> </a:t>
            </a:r>
            <a:r>
              <a:rPr sz="3600" spc="-5" dirty="0"/>
              <a:t>do</a:t>
            </a:r>
            <a:r>
              <a:rPr sz="3600" spc="-85" dirty="0"/>
              <a:t> </a:t>
            </a:r>
            <a:r>
              <a:rPr sz="3600" spc="-5" dirty="0"/>
              <a:t>HTML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02563" y="1750313"/>
            <a:ext cx="8434070" cy="187261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marR="5080" indent="-343535">
              <a:lnSpc>
                <a:spcPts val="3460"/>
              </a:lnSpc>
              <a:spcBef>
                <a:spcPts val="125"/>
              </a:spcBef>
              <a:tabLst>
                <a:tab pos="2382520" algn="l"/>
                <a:tab pos="4004310" algn="l"/>
                <a:tab pos="5851525" algn="l"/>
                <a:tab pos="7634605" algn="l"/>
              </a:tabLst>
            </a:pPr>
            <a:r>
              <a:rPr sz="225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250" spc="-21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2800" spc="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1994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2800" spc="4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800" spc="1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ap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800" spc="3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ma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800" spc="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800" spc="3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265" dirty="0">
                <a:solidFill>
                  <a:srgbClr val="FF0000"/>
                </a:solidFill>
                <a:latin typeface="Trebuchet MS"/>
                <a:cs typeface="Trebuchet MS"/>
              </a:rPr>
              <a:t>W</a:t>
            </a:r>
            <a:r>
              <a:rPr sz="2800" spc="-1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800" spc="-1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800" spc="-5" dirty="0">
                <a:solidFill>
                  <a:srgbClr val="FF0000"/>
                </a:solidFill>
                <a:latin typeface="Trebuchet MS"/>
                <a:cs typeface="Trebuchet MS"/>
              </a:rPr>
              <a:t>ld</a:t>
            </a:r>
            <a:r>
              <a:rPr sz="2800" dirty="0">
                <a:solidFill>
                  <a:srgbClr val="FF0000"/>
                </a:solidFill>
                <a:latin typeface="Trebuchet MS"/>
                <a:cs typeface="Trebuchet MS"/>
              </a:rPr>
              <a:t>	</a:t>
            </a:r>
            <a:r>
              <a:rPr sz="2800" spc="-85" dirty="0">
                <a:solidFill>
                  <a:srgbClr val="FF0000"/>
                </a:solidFill>
                <a:latin typeface="Trebuchet MS"/>
                <a:cs typeface="Trebuchet MS"/>
              </a:rPr>
              <a:t>W</a:t>
            </a:r>
            <a:r>
              <a:rPr sz="2800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2800" spc="-10" dirty="0">
                <a:solidFill>
                  <a:srgbClr val="FF0000"/>
                </a:solidFill>
                <a:latin typeface="Trebuchet MS"/>
                <a:cs typeface="Trebuchet MS"/>
              </a:rPr>
              <a:t>de  </a:t>
            </a:r>
            <a:r>
              <a:rPr sz="2800" spc="-80" dirty="0">
                <a:solidFill>
                  <a:srgbClr val="FF0000"/>
                </a:solidFill>
                <a:latin typeface="Trebuchet MS"/>
                <a:cs typeface="Trebuchet MS"/>
              </a:rPr>
              <a:t>Web</a:t>
            </a:r>
            <a:r>
              <a:rPr sz="28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rebuchet MS"/>
                <a:cs typeface="Trebuchet MS"/>
              </a:rPr>
              <a:t>Consortium</a:t>
            </a:r>
            <a:r>
              <a:rPr lang="pt-BR" sz="2800" spc="-5" dirty="0">
                <a:solidFill>
                  <a:srgbClr val="FF0000"/>
                </a:solidFill>
                <a:latin typeface="Trebuchet MS"/>
                <a:cs typeface="Trebuchet MS"/>
              </a:rPr>
              <a:t>(W3C)</a:t>
            </a:r>
            <a:r>
              <a:rPr sz="2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 criada</a:t>
            </a:r>
            <a:endParaRPr sz="2800" dirty="0">
              <a:latin typeface="Trebuchet MS"/>
              <a:cs typeface="Trebuchet MS"/>
            </a:endParaRPr>
          </a:p>
          <a:p>
            <a:pPr marL="355600" marR="99695" indent="-343535">
              <a:lnSpc>
                <a:spcPct val="103299"/>
              </a:lnSpc>
              <a:spcBef>
                <a:spcPts val="655"/>
              </a:spcBef>
            </a:pPr>
            <a:r>
              <a:rPr sz="2250" spc="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250" spc="-21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Até</a:t>
            </a:r>
            <a:r>
              <a:rPr sz="2800" spc="3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1995:</a:t>
            </a:r>
            <a:r>
              <a:rPr sz="2800" spc="3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800" spc="3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HTML</a:t>
            </a:r>
            <a:r>
              <a:rPr sz="2800" spc="1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800" spc="3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estendido</a:t>
            </a:r>
            <a:r>
              <a:rPr sz="2800" spc="3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com</a:t>
            </a:r>
            <a:r>
              <a:rPr sz="2800" spc="3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muitas</a:t>
            </a:r>
            <a:r>
              <a:rPr sz="2800" spc="3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novas </a:t>
            </a:r>
            <a:r>
              <a:rPr sz="2800" spc="-8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tags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55695" y="3725367"/>
            <a:ext cx="63988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3615" algn="l"/>
                <a:tab pos="1940560" algn="l"/>
                <a:tab pos="2446655" algn="l"/>
                <a:tab pos="3330575" algn="l"/>
                <a:tab pos="3883660" algn="l"/>
                <a:tab pos="4868545" algn="l"/>
                <a:tab pos="5642610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1995,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	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	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va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ta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	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60067" y="3714699"/>
            <a:ext cx="1605280" cy="113411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99085" marR="5080" indent="-287020">
              <a:lnSpc>
                <a:spcPct val="101499"/>
              </a:lnSpc>
              <a:spcBef>
                <a:spcPts val="60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900" spc="-204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Dur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  s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rgi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. 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men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97122" y="4091762"/>
            <a:ext cx="39566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00"/>
              </a:spcBef>
              <a:tabLst>
                <a:tab pos="1330960" algn="l"/>
                <a:tab pos="2352040" algn="l"/>
                <a:tab pos="2807335" algn="l"/>
              </a:tabLst>
            </a:pP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Alguns,	como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	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atributo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006475" algn="l"/>
                <a:tab pos="1428115" algn="l"/>
                <a:tab pos="2418715" algn="l"/>
                <a:tab pos="3441700" algn="l"/>
              </a:tabLst>
            </a:pP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ODY	e	FONT	</a:t>
            </a:r>
            <a:r>
              <a:rPr sz="2400" spc="-520" dirty="0">
                <a:solidFill>
                  <a:srgbClr val="404040"/>
                </a:solidFill>
                <a:latin typeface="Trebuchet MS"/>
                <a:cs typeface="Trebuchet MS"/>
              </a:rPr>
              <a:t>F</a:t>
            </a:r>
            <a:r>
              <a:rPr lang="en-US" sz="2400" spc="-5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15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,	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q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87233" y="4457827"/>
            <a:ext cx="1406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controlam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92314" y="4091762"/>
            <a:ext cx="19621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7820" algn="l"/>
              </a:tabLst>
            </a:pP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BGCOLOR	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endParaRPr sz="2400" dirty="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os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47214" y="4824221"/>
            <a:ext cx="5396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aspectos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estilísticos</a:t>
            </a:r>
            <a:r>
              <a:rPr sz="24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documento.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5026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Breve</a:t>
            </a:r>
            <a:r>
              <a:rPr sz="3600" spc="-30" dirty="0"/>
              <a:t> </a:t>
            </a:r>
            <a:r>
              <a:rPr sz="3600" spc="-5" dirty="0"/>
              <a:t>Histórico</a:t>
            </a:r>
            <a:r>
              <a:rPr sz="3600" spc="-80" dirty="0"/>
              <a:t> </a:t>
            </a:r>
            <a:r>
              <a:rPr sz="3600" spc="-5" dirty="0"/>
              <a:t>do</a:t>
            </a:r>
            <a:r>
              <a:rPr sz="3600" spc="-85" dirty="0"/>
              <a:t> </a:t>
            </a:r>
            <a:r>
              <a:rPr sz="3600" spc="-5" dirty="0"/>
              <a:t>HTML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02563" y="1431112"/>
            <a:ext cx="8455660" cy="449897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55600" marR="114300" indent="-343535">
              <a:lnSpc>
                <a:spcPts val="2730"/>
              </a:lnSpc>
              <a:spcBef>
                <a:spcPts val="715"/>
              </a:spcBef>
            </a:pPr>
            <a:r>
              <a:rPr sz="2250" spc="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250" spc="-21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HT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800" spc="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Trebuchet MS"/>
                <a:cs typeface="Trebuchet MS"/>
              </a:rPr>
              <a:t>3</a:t>
            </a:r>
            <a:r>
              <a:rPr sz="2800" spc="-15" dirty="0">
                <a:solidFill>
                  <a:srgbClr val="FF0000"/>
                </a:solidFill>
                <a:latin typeface="Trebuchet MS"/>
                <a:cs typeface="Trebuchet MS"/>
              </a:rPr>
              <a:t>.</a:t>
            </a:r>
            <a:r>
              <a:rPr sz="2800" spc="-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r>
              <a:rPr sz="2800" spc="3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fo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800" spc="3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800" spc="-25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bl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800" spc="-25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2800" spc="3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800" spc="3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25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800" spc="3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800" spc="-35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800" spc="-35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800" spc="1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ç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ã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o  do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W3C.</a:t>
            </a:r>
            <a:endParaRPr sz="2800" dirty="0">
              <a:latin typeface="Trebuchet MS"/>
              <a:cs typeface="Trebuchet MS"/>
            </a:endParaRPr>
          </a:p>
          <a:p>
            <a:pPr marL="758190" marR="103505" indent="-288290">
              <a:lnSpc>
                <a:spcPts val="2440"/>
              </a:lnSpc>
              <a:spcBef>
                <a:spcPts val="940"/>
              </a:spcBef>
            </a:pPr>
            <a:r>
              <a:rPr sz="200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000" spc="-33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500" spc="-1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500" spc="-5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500" spc="2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404040"/>
                </a:solidFill>
                <a:latin typeface="Trebuchet MS"/>
                <a:cs typeface="Trebuchet MS"/>
              </a:rPr>
              <a:t>Març</a:t>
            </a:r>
            <a:r>
              <a:rPr sz="25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500" spc="2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5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500" spc="2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500" spc="-20" dirty="0">
                <a:solidFill>
                  <a:srgbClr val="404040"/>
                </a:solidFill>
                <a:latin typeface="Trebuchet MS"/>
                <a:cs typeface="Trebuchet MS"/>
              </a:rPr>
              <a:t>199</a:t>
            </a:r>
            <a:r>
              <a:rPr sz="2500" spc="-5" dirty="0">
                <a:solidFill>
                  <a:srgbClr val="404040"/>
                </a:solidFill>
                <a:latin typeface="Trebuchet MS"/>
                <a:cs typeface="Trebuchet MS"/>
              </a:rPr>
              <a:t>5</a:t>
            </a:r>
            <a:r>
              <a:rPr sz="2500" spc="2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404040"/>
                </a:solidFill>
                <a:latin typeface="Trebuchet MS"/>
                <a:cs typeface="Trebuchet MS"/>
              </a:rPr>
              <a:t>co</a:t>
            </a:r>
            <a:r>
              <a:rPr sz="2500" spc="-5" dirty="0">
                <a:solidFill>
                  <a:srgbClr val="404040"/>
                </a:solidFill>
                <a:latin typeface="Trebuchet MS"/>
                <a:cs typeface="Trebuchet MS"/>
              </a:rPr>
              <a:t>mo</a:t>
            </a:r>
            <a:r>
              <a:rPr sz="2500" spc="2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5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500" spc="2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500" spc="-15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500" spc="-2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500" spc="-20" dirty="0">
                <a:solidFill>
                  <a:srgbClr val="404040"/>
                </a:solidFill>
                <a:latin typeface="Trebuchet MS"/>
                <a:cs typeface="Trebuchet MS"/>
              </a:rPr>
              <a:t>sc</a:t>
            </a:r>
            <a:r>
              <a:rPr sz="2500" spc="-10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500" spc="-20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2500" spc="-10" dirty="0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sz="2500" spc="-2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500" spc="-5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2500" spc="2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500" spc="-3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500" spc="-15" dirty="0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sz="25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500" spc="2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500" spc="-2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500" spc="-25" dirty="0">
                <a:solidFill>
                  <a:srgbClr val="404040"/>
                </a:solidFill>
                <a:latin typeface="Trebuchet MS"/>
                <a:cs typeface="Trebuchet MS"/>
              </a:rPr>
              <a:t>agget</a:t>
            </a:r>
            <a:r>
              <a:rPr sz="2500" spc="-5" dirty="0">
                <a:solidFill>
                  <a:srgbClr val="404040"/>
                </a:solidFill>
                <a:latin typeface="Trebuchet MS"/>
                <a:cs typeface="Trebuchet MS"/>
              </a:rPr>
              <a:t>t  </a:t>
            </a:r>
            <a:r>
              <a:rPr sz="2500" spc="-10" dirty="0">
                <a:solidFill>
                  <a:srgbClr val="404040"/>
                </a:solidFill>
                <a:latin typeface="Trebuchet MS"/>
                <a:cs typeface="Trebuchet MS"/>
              </a:rPr>
              <a:t>publicou</a:t>
            </a:r>
            <a:r>
              <a:rPr sz="25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5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404040"/>
                </a:solidFill>
                <a:latin typeface="Trebuchet MS"/>
                <a:cs typeface="Trebuchet MS"/>
              </a:rPr>
              <a:t>documento</a:t>
            </a:r>
            <a:r>
              <a:rPr sz="2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404040"/>
                </a:solidFill>
                <a:latin typeface="Trebuchet MS"/>
                <a:cs typeface="Trebuchet MS"/>
              </a:rPr>
              <a:t>especificando</a:t>
            </a:r>
            <a:r>
              <a:rPr sz="25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5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5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500" spc="-5" dirty="0">
                <a:solidFill>
                  <a:srgbClr val="404040"/>
                </a:solidFill>
                <a:latin typeface="Trebuchet MS"/>
                <a:cs typeface="Trebuchet MS"/>
              </a:rPr>
              <a:t>HTML</a:t>
            </a:r>
            <a:r>
              <a:rPr sz="2500" spc="-2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404040"/>
                </a:solidFill>
                <a:latin typeface="Trebuchet MS"/>
                <a:cs typeface="Trebuchet MS"/>
              </a:rPr>
              <a:t>3.0.</a:t>
            </a:r>
            <a:endParaRPr sz="2500" dirty="0">
              <a:latin typeface="Trebuchet MS"/>
              <a:cs typeface="Trebuchet MS"/>
            </a:endParaRPr>
          </a:p>
          <a:p>
            <a:pPr marL="1384300">
              <a:lnSpc>
                <a:spcPct val="100000"/>
              </a:lnSpc>
              <a:spcBef>
                <a:spcPts val="560"/>
              </a:spcBef>
            </a:pPr>
            <a:r>
              <a:rPr sz="150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500" spc="-16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Nova</a:t>
            </a:r>
            <a:r>
              <a:rPr sz="19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tag</a:t>
            </a:r>
            <a:r>
              <a:rPr sz="19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19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Trebuchet MS"/>
                <a:cs typeface="Trebuchet MS"/>
              </a:rPr>
              <a:t>inserir</a:t>
            </a:r>
            <a:r>
              <a:rPr sz="1900" spc="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Trebuchet MS"/>
                <a:cs typeface="Trebuchet MS"/>
              </a:rPr>
              <a:t>imagens,</a:t>
            </a:r>
            <a:r>
              <a:rPr sz="1900" spc="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Trebuchet MS"/>
                <a:cs typeface="Trebuchet MS"/>
              </a:rPr>
              <a:t>chamada FIG</a:t>
            </a:r>
            <a:endParaRPr sz="19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1612900" marR="5080" indent="-228600" algn="just">
              <a:lnSpc>
                <a:spcPct val="79500"/>
              </a:lnSpc>
              <a:spcBef>
                <a:spcPts val="1035"/>
              </a:spcBef>
            </a:pPr>
            <a:r>
              <a:rPr sz="1500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1900" spc="-5" dirty="0">
                <a:solidFill>
                  <a:srgbClr val="FF0000"/>
                </a:solidFill>
                <a:latin typeface="Trebuchet MS"/>
                <a:cs typeface="Trebuchet MS"/>
              </a:rPr>
              <a:t>Adicionou </a:t>
            </a:r>
            <a:r>
              <a:rPr sz="1900" spc="-15" dirty="0">
                <a:solidFill>
                  <a:srgbClr val="FF0000"/>
                </a:solidFill>
                <a:latin typeface="Trebuchet MS"/>
                <a:cs typeface="Trebuchet MS"/>
              </a:rPr>
              <a:t>suporte</a:t>
            </a:r>
            <a:r>
              <a:rPr sz="1900" spc="-10" dirty="0">
                <a:solidFill>
                  <a:srgbClr val="FF0000"/>
                </a:solidFill>
                <a:latin typeface="Trebuchet MS"/>
                <a:cs typeface="Trebuchet MS"/>
              </a:rPr>
              <a:t> para</a:t>
            </a:r>
            <a:r>
              <a:rPr sz="19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900" spc="-15" dirty="0">
                <a:solidFill>
                  <a:srgbClr val="FF0000"/>
                </a:solidFill>
                <a:latin typeface="Trebuchet MS"/>
                <a:cs typeface="Trebuchet MS"/>
              </a:rPr>
              <a:t>folhas</a:t>
            </a:r>
            <a:r>
              <a:rPr sz="1900" spc="-10" dirty="0">
                <a:solidFill>
                  <a:srgbClr val="FF0000"/>
                </a:solidFill>
                <a:latin typeface="Trebuchet MS"/>
                <a:cs typeface="Trebuchet MS"/>
              </a:rPr>
              <a:t> de </a:t>
            </a:r>
            <a:r>
              <a:rPr sz="1900" spc="-15" dirty="0">
                <a:solidFill>
                  <a:srgbClr val="FF0000"/>
                </a:solidFill>
                <a:latin typeface="Trebuchet MS"/>
                <a:cs typeface="Trebuchet MS"/>
              </a:rPr>
              <a:t>estilo</a:t>
            </a:r>
            <a:r>
              <a:rPr sz="1900" spc="5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900" spc="-15" dirty="0">
                <a:solidFill>
                  <a:srgbClr val="FF0000"/>
                </a:solidFill>
                <a:latin typeface="Trebuchet MS"/>
                <a:cs typeface="Trebuchet MS"/>
              </a:rPr>
              <a:t>(CSS)</a:t>
            </a:r>
            <a:r>
              <a:rPr sz="1900" spc="5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Trebuchet MS"/>
                <a:cs typeface="Trebuchet MS"/>
              </a:rPr>
              <a:t>incluindo</a:t>
            </a:r>
            <a:r>
              <a:rPr sz="1900" spc="5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Trebuchet MS"/>
                <a:cs typeface="Trebuchet MS"/>
              </a:rPr>
              <a:t>uma </a:t>
            </a:r>
            <a:r>
              <a:rPr sz="1900" spc="-5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tag</a:t>
            </a:r>
            <a:r>
              <a:rPr sz="19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STYLE</a:t>
            </a:r>
            <a:endParaRPr sz="1900" dirty="0">
              <a:latin typeface="Trebuchet MS"/>
              <a:cs typeface="Trebuchet MS"/>
            </a:endParaRPr>
          </a:p>
          <a:p>
            <a:pPr marL="927100" algn="just">
              <a:lnSpc>
                <a:spcPct val="100000"/>
              </a:lnSpc>
              <a:spcBef>
                <a:spcPts val="540"/>
              </a:spcBef>
            </a:pPr>
            <a:r>
              <a:rPr sz="150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500" spc="-15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19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ja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neir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900" spc="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19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1997,</a:t>
            </a:r>
            <a:r>
              <a:rPr sz="19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9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sz="1900" spc="-1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1900" spc="-2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1900" spc="-1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3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2</a:t>
            </a:r>
            <a:r>
              <a:rPr sz="19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foi</a:t>
            </a:r>
            <a:r>
              <a:rPr sz="19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publicad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o.</a:t>
            </a:r>
            <a:endParaRPr sz="1900" dirty="0">
              <a:latin typeface="Trebuchet MS"/>
              <a:cs typeface="Trebuchet MS"/>
            </a:endParaRPr>
          </a:p>
          <a:p>
            <a:pPr marL="1155700" marR="6350" indent="-228600" algn="just">
              <a:lnSpc>
                <a:spcPct val="80600"/>
              </a:lnSpc>
              <a:spcBef>
                <a:spcPts val="1030"/>
              </a:spcBef>
            </a:pPr>
            <a:r>
              <a:rPr sz="1500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1900" spc="-20" dirty="0">
                <a:solidFill>
                  <a:srgbClr val="404040"/>
                </a:solidFill>
                <a:latin typeface="Trebuchet MS"/>
                <a:cs typeface="Trebuchet MS"/>
              </a:rPr>
              <a:t>HTML 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3.2 </a:t>
            </a:r>
            <a:r>
              <a:rPr sz="1900" spc="-15" dirty="0">
                <a:solidFill>
                  <a:srgbClr val="404040"/>
                </a:solidFill>
                <a:latin typeface="Trebuchet MS"/>
                <a:cs typeface="Trebuchet MS"/>
              </a:rPr>
              <a:t>foi </a:t>
            </a:r>
            <a:r>
              <a:rPr sz="1900" spc="-20" dirty="0">
                <a:solidFill>
                  <a:srgbClr val="404040"/>
                </a:solidFill>
                <a:latin typeface="Trebuchet MS"/>
                <a:cs typeface="Trebuchet MS"/>
              </a:rPr>
              <a:t>revisado </a:t>
            </a:r>
            <a:r>
              <a:rPr sz="1900" spc="-15" dirty="0">
                <a:solidFill>
                  <a:srgbClr val="404040"/>
                </a:solidFill>
                <a:latin typeface="Trebuchet MS"/>
                <a:cs typeface="Trebuchet MS"/>
              </a:rPr>
              <a:t>por 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todas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as </a:t>
            </a:r>
            <a:r>
              <a:rPr sz="1900" spc="-20" dirty="0">
                <a:solidFill>
                  <a:srgbClr val="404040"/>
                </a:solidFill>
                <a:latin typeface="Trebuchet MS"/>
                <a:cs typeface="Trebuchet MS"/>
              </a:rPr>
              <a:t>organizações, </a:t>
            </a:r>
            <a:r>
              <a:rPr sz="1900" spc="-30" dirty="0">
                <a:solidFill>
                  <a:srgbClr val="404040"/>
                </a:solidFill>
                <a:latin typeface="Trebuchet MS"/>
                <a:cs typeface="Trebuchet MS"/>
              </a:rPr>
              <a:t>incluindo os </a:t>
            </a:r>
            <a:r>
              <a:rPr sz="19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principais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fornecedores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 de</a:t>
            </a:r>
            <a:r>
              <a:rPr sz="19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navegadores,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como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 o</a:t>
            </a:r>
            <a:r>
              <a:rPr sz="19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Netscape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 e</a:t>
            </a:r>
            <a:r>
              <a:rPr sz="19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19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Microsoft.</a:t>
            </a:r>
            <a:endParaRPr sz="1900" dirty="0">
              <a:latin typeface="Trebuchet MS"/>
              <a:cs typeface="Trebuchet MS"/>
            </a:endParaRPr>
          </a:p>
          <a:p>
            <a:pPr marL="1612900" marR="10160" indent="-228600" algn="just">
              <a:lnSpc>
                <a:spcPct val="80500"/>
              </a:lnSpc>
              <a:spcBef>
                <a:spcPts val="960"/>
              </a:spcBef>
            </a:pPr>
            <a:r>
              <a:rPr sz="1500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1900" i="1" spc="-15" dirty="0">
                <a:solidFill>
                  <a:srgbClr val="404040"/>
                </a:solidFill>
                <a:latin typeface="Trebuchet MS"/>
                <a:cs typeface="Trebuchet MS"/>
              </a:rPr>
              <a:t>HTML </a:t>
            </a:r>
            <a:r>
              <a:rPr sz="1900" i="1" dirty="0">
                <a:solidFill>
                  <a:srgbClr val="404040"/>
                </a:solidFill>
                <a:latin typeface="Trebuchet MS"/>
                <a:cs typeface="Trebuchet MS"/>
              </a:rPr>
              <a:t>3.2 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implementou </a:t>
            </a:r>
            <a:r>
              <a:rPr sz="1900" spc="-15" dirty="0">
                <a:solidFill>
                  <a:srgbClr val="404040"/>
                </a:solidFill>
                <a:latin typeface="Trebuchet MS"/>
                <a:cs typeface="Trebuchet MS"/>
              </a:rPr>
              <a:t>características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tais </a:t>
            </a:r>
            <a:r>
              <a:rPr sz="1900" spc="-15" dirty="0">
                <a:solidFill>
                  <a:srgbClr val="404040"/>
                </a:solidFill>
                <a:latin typeface="Trebuchet MS"/>
                <a:cs typeface="Trebuchet MS"/>
              </a:rPr>
              <a:t>como </a:t>
            </a:r>
            <a:r>
              <a:rPr sz="1900" spc="-10" dirty="0">
                <a:solidFill>
                  <a:srgbClr val="FF0000"/>
                </a:solidFill>
                <a:latin typeface="Trebuchet MS"/>
                <a:cs typeface="Trebuchet MS"/>
              </a:rPr>
              <a:t>tabelas, </a:t>
            </a:r>
            <a:r>
              <a:rPr sz="19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900" i="1" spc="-10" dirty="0">
                <a:solidFill>
                  <a:srgbClr val="FF0000"/>
                </a:solidFill>
                <a:latin typeface="Trebuchet MS"/>
                <a:cs typeface="Trebuchet MS"/>
              </a:rPr>
              <a:t>applets </a:t>
            </a:r>
            <a:r>
              <a:rPr sz="1900" spc="-5" dirty="0">
                <a:solidFill>
                  <a:srgbClr val="FF0000"/>
                </a:solidFill>
                <a:latin typeface="Trebuchet MS"/>
                <a:cs typeface="Trebuchet MS"/>
              </a:rPr>
              <a:t>e texto </a:t>
            </a:r>
            <a:r>
              <a:rPr sz="1900" spc="-10" dirty="0">
                <a:solidFill>
                  <a:srgbClr val="FF0000"/>
                </a:solidFill>
                <a:latin typeface="Trebuchet MS"/>
                <a:cs typeface="Trebuchet MS"/>
              </a:rPr>
              <a:t>flutuante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 ao </a:t>
            </a:r>
            <a:r>
              <a:rPr sz="1900" dirty="0">
                <a:solidFill>
                  <a:srgbClr val="404040"/>
                </a:solidFill>
                <a:latin typeface="Trebuchet MS"/>
                <a:cs typeface="Trebuchet MS"/>
              </a:rPr>
              <a:t>redor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1900" spc="-15" dirty="0">
                <a:solidFill>
                  <a:srgbClr val="404040"/>
                </a:solidFill>
                <a:latin typeface="Trebuchet MS"/>
                <a:cs typeface="Trebuchet MS"/>
              </a:rPr>
              <a:t>imagens,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sobrescritos e </a:t>
            </a:r>
            <a:r>
              <a:rPr sz="19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Trebuchet MS"/>
                <a:cs typeface="Trebuchet MS"/>
              </a:rPr>
              <a:t>subscritos.</a:t>
            </a:r>
            <a:endParaRPr sz="19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5026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Breve</a:t>
            </a:r>
            <a:r>
              <a:rPr sz="3600" spc="-30" dirty="0"/>
              <a:t> </a:t>
            </a:r>
            <a:r>
              <a:rPr sz="3600" spc="-5" dirty="0"/>
              <a:t>Histórico</a:t>
            </a:r>
            <a:r>
              <a:rPr sz="3600" spc="-80" dirty="0"/>
              <a:t> </a:t>
            </a:r>
            <a:r>
              <a:rPr sz="3600" spc="-5" dirty="0"/>
              <a:t>do</a:t>
            </a:r>
            <a:r>
              <a:rPr sz="3600" spc="-85" dirty="0"/>
              <a:t> </a:t>
            </a:r>
            <a:r>
              <a:rPr sz="3600" spc="-5" dirty="0"/>
              <a:t>HTML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310" y="1431112"/>
            <a:ext cx="614235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65605" algn="l"/>
                <a:tab pos="3112770" algn="l"/>
                <a:tab pos="4504055" algn="l"/>
              </a:tabLst>
            </a:pPr>
            <a:r>
              <a:rPr sz="215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150" spc="-9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700" spc="-5" dirty="0">
                <a:solidFill>
                  <a:srgbClr val="404040"/>
                </a:solidFill>
                <a:latin typeface="Trebuchet MS"/>
                <a:cs typeface="Trebuchet MS"/>
              </a:rPr>
              <a:t>HTML	</a:t>
            </a:r>
            <a:r>
              <a:rPr sz="2700" spc="-5" dirty="0">
                <a:solidFill>
                  <a:srgbClr val="FF0000"/>
                </a:solidFill>
                <a:latin typeface="Trebuchet MS"/>
                <a:cs typeface="Trebuchet MS"/>
              </a:rPr>
              <a:t>4.x</a:t>
            </a:r>
            <a:r>
              <a:rPr sz="2700" spc="-5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2700" spc="-10" dirty="0">
                <a:solidFill>
                  <a:srgbClr val="404040"/>
                </a:solidFill>
                <a:latin typeface="Trebuchet MS"/>
                <a:cs typeface="Trebuchet MS"/>
              </a:rPr>
              <a:t>foram	publicadas</a:t>
            </a:r>
            <a:endParaRPr sz="27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2570" y="1441780"/>
            <a:ext cx="198437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18895" algn="l"/>
              </a:tabLst>
            </a:pPr>
            <a:r>
              <a:rPr sz="2700" spc="-10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700" spc="-1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700" dirty="0">
                <a:solidFill>
                  <a:srgbClr val="404040"/>
                </a:solidFill>
                <a:latin typeface="Trebuchet MS"/>
                <a:cs typeface="Trebuchet MS"/>
              </a:rPr>
              <a:t>mo	</a:t>
            </a:r>
            <a:r>
              <a:rPr sz="27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9210" y="1770634"/>
            <a:ext cx="36328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404040"/>
                </a:solidFill>
                <a:latin typeface="Trebuchet MS"/>
                <a:cs typeface="Trebuchet MS"/>
              </a:rPr>
              <a:t>recomendação</a:t>
            </a:r>
            <a:r>
              <a:rPr sz="2700" spc="-1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7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27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700" spc="-5" dirty="0">
                <a:solidFill>
                  <a:srgbClr val="404040"/>
                </a:solidFill>
                <a:latin typeface="Trebuchet MS"/>
                <a:cs typeface="Trebuchet MS"/>
              </a:rPr>
              <a:t>W3C.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3510" y="2224785"/>
            <a:ext cx="3740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8055" algn="l"/>
                <a:tab pos="1931670" algn="l"/>
                <a:tab pos="2324735" algn="l"/>
                <a:tab pos="3295650" algn="l"/>
              </a:tabLst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900" spc="-204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	1997,	o	HTML	4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0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59502" y="2224785"/>
            <a:ext cx="41865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3885" algn="l"/>
                <a:tab pos="2277110" algn="l"/>
                <a:tab pos="2865755" algn="l"/>
                <a:tab pos="3841115" algn="l"/>
              </a:tabLst>
            </a:pP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f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	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ca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.	No	i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í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	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01902" y="2531745"/>
            <a:ext cx="6762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desenvolvimento,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ele</a:t>
            </a:r>
            <a:r>
              <a:rPr sz="24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tinha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codinome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COUGAR.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3815" y="2938348"/>
            <a:ext cx="53308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0060" algn="l"/>
                <a:tab pos="2694940" algn="l"/>
                <a:tab pos="4115435" algn="l"/>
              </a:tabLst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900" spc="-18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Trazendo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como	principal	premissa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37350" y="2938348"/>
            <a:ext cx="26028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8620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	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compatibilidade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01902" y="3239261"/>
            <a:ext cx="527177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2815" algn="l"/>
                <a:tab pos="1574800" algn="l"/>
                <a:tab pos="2504440" algn="l"/>
                <a:tab pos="3869690" algn="l"/>
              </a:tabLst>
            </a:pP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c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m	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s	s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ua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s	vers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õ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s	a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nt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ri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400" spc="1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110730" y="3239261"/>
            <a:ext cx="2237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69060" algn="l"/>
                <a:tab pos="2063750" algn="l"/>
              </a:tabLst>
            </a:pP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at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	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	3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3815" y="3472901"/>
            <a:ext cx="8133080" cy="2843471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00355">
              <a:lnSpc>
                <a:spcPct val="100000"/>
              </a:lnSpc>
              <a:spcBef>
                <a:spcPts val="550"/>
              </a:spcBef>
            </a:pP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implementações de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tipos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documento:</a:t>
            </a:r>
            <a:endParaRPr sz="2400" dirty="0">
              <a:latin typeface="Trebuchet MS"/>
              <a:cs typeface="Trebuchet MS"/>
            </a:endParaRPr>
          </a:p>
          <a:p>
            <a:pPr marL="927100">
              <a:lnSpc>
                <a:spcPts val="1950"/>
              </a:lnSpc>
              <a:spcBef>
                <a:spcPts val="330"/>
              </a:spcBef>
            </a:pPr>
            <a:r>
              <a:rPr sz="1350" spc="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350" spc="4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1700" i="1" dirty="0">
                <a:solidFill>
                  <a:srgbClr val="FF0000"/>
                </a:solidFill>
                <a:latin typeface="Trebuchet MS"/>
                <a:cs typeface="Trebuchet MS"/>
              </a:rPr>
              <a:t>Scrict</a:t>
            </a:r>
            <a:r>
              <a:rPr sz="1700" i="1" spc="2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(estrita)</a:t>
            </a:r>
            <a:r>
              <a:rPr sz="1700" spc="2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–</a:t>
            </a:r>
            <a:r>
              <a:rPr sz="1700" spc="25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implementação</a:t>
            </a:r>
            <a:r>
              <a:rPr sz="1700" spc="2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na</a:t>
            </a:r>
            <a:r>
              <a:rPr sz="1700" spc="2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qual</a:t>
            </a:r>
            <a:r>
              <a:rPr sz="1700" spc="1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5" dirty="0">
                <a:solidFill>
                  <a:srgbClr val="00B0F0"/>
                </a:solidFill>
                <a:latin typeface="Trebuchet MS"/>
                <a:cs typeface="Trebuchet MS"/>
              </a:rPr>
              <a:t>fica</a:t>
            </a:r>
            <a:r>
              <a:rPr sz="1700" spc="254" dirty="0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00B0F0"/>
                </a:solidFill>
                <a:latin typeface="Trebuchet MS"/>
                <a:cs typeface="Trebuchet MS"/>
              </a:rPr>
              <a:t>proibida</a:t>
            </a:r>
            <a:r>
              <a:rPr sz="1700" spc="225" dirty="0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00B0F0"/>
                </a:solidFill>
                <a:latin typeface="Trebuchet MS"/>
                <a:cs typeface="Trebuchet MS"/>
              </a:rPr>
              <a:t>a</a:t>
            </a:r>
            <a:r>
              <a:rPr sz="1700" spc="250" dirty="0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sz="1700" spc="-15" dirty="0">
                <a:solidFill>
                  <a:srgbClr val="00B0F0"/>
                </a:solidFill>
                <a:latin typeface="Trebuchet MS"/>
                <a:cs typeface="Trebuchet MS"/>
              </a:rPr>
              <a:t>utilização</a:t>
            </a:r>
            <a:r>
              <a:rPr sz="1700" spc="245" dirty="0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endParaRPr sz="1700" dirty="0">
              <a:latin typeface="Trebuchet MS"/>
              <a:cs typeface="Trebuchet MS"/>
            </a:endParaRPr>
          </a:p>
          <a:p>
            <a:pPr marL="1155700">
              <a:lnSpc>
                <a:spcPts val="1950"/>
              </a:lnSpc>
            </a:pP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elementos</a:t>
            </a:r>
            <a:r>
              <a:rPr sz="17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FF0000"/>
                </a:solidFill>
                <a:latin typeface="Trebuchet MS"/>
                <a:cs typeface="Trebuchet MS"/>
              </a:rPr>
              <a:t>obsoletos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linguagem;</a:t>
            </a:r>
            <a:endParaRPr sz="1700" dirty="0">
              <a:latin typeface="Trebuchet MS"/>
              <a:cs typeface="Trebuchet MS"/>
            </a:endParaRPr>
          </a:p>
          <a:p>
            <a:pPr marL="1155700" marR="5080" indent="-228600">
              <a:lnSpc>
                <a:spcPts val="1860"/>
              </a:lnSpc>
              <a:spcBef>
                <a:spcPts val="509"/>
              </a:spcBef>
              <a:tabLst>
                <a:tab pos="2479675" algn="l"/>
                <a:tab pos="3825875" algn="l"/>
                <a:tab pos="4079875" algn="l"/>
                <a:tab pos="5746115" algn="l"/>
                <a:tab pos="6149975" algn="l"/>
                <a:tab pos="6739890" algn="l"/>
                <a:tab pos="7118350" algn="l"/>
              </a:tabLst>
            </a:pPr>
            <a:r>
              <a:rPr sz="135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350" spc="5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1700" i="1" spc="-210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1700" i="1" spc="-3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1700" i="1" spc="-20" dirty="0">
                <a:solidFill>
                  <a:srgbClr val="FF0000"/>
                </a:solidFill>
                <a:latin typeface="Trebuchet MS"/>
                <a:cs typeface="Trebuchet MS"/>
              </a:rPr>
              <a:t>an</a:t>
            </a:r>
            <a:r>
              <a:rPr sz="1700" i="1" spc="-3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1700" i="1" spc="-20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1700" i="1" spc="-25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1700" i="1" spc="-20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1700" i="1" spc="-3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1700" i="1" spc="-20" dirty="0">
                <a:solidFill>
                  <a:srgbClr val="FF0000"/>
                </a:solidFill>
                <a:latin typeface="Trebuchet MS"/>
                <a:cs typeface="Trebuchet MS"/>
              </a:rPr>
              <a:t>na</a:t>
            </a:r>
            <a:r>
              <a:rPr sz="1700" i="1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lang="en-US" sz="1700" i="1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(t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nsi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ó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ia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)	–	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mplem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en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ç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ã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	</a:t>
            </a:r>
            <a:r>
              <a:rPr sz="1700" spc="5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	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qu</a:t>
            </a:r>
            <a:r>
              <a:rPr sz="1700" spc="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l	os	</a:t>
            </a:r>
            <a:r>
              <a:rPr sz="1700" spc="-5" dirty="0" err="1">
                <a:solidFill>
                  <a:srgbClr val="00B0F0"/>
                </a:solidFill>
                <a:latin typeface="Trebuchet MS"/>
                <a:cs typeface="Trebuchet MS"/>
              </a:rPr>
              <a:t>el</a:t>
            </a:r>
            <a:r>
              <a:rPr sz="1700" spc="-10" dirty="0" err="1">
                <a:solidFill>
                  <a:srgbClr val="00B0F0"/>
                </a:solidFill>
                <a:latin typeface="Trebuchet MS"/>
                <a:cs typeface="Trebuchet MS"/>
              </a:rPr>
              <a:t>e</a:t>
            </a:r>
            <a:r>
              <a:rPr sz="1700" spc="-5" dirty="0" err="1">
                <a:solidFill>
                  <a:srgbClr val="00B0F0"/>
                </a:solidFill>
                <a:latin typeface="Trebuchet MS"/>
                <a:cs typeface="Trebuchet MS"/>
              </a:rPr>
              <a:t>me</a:t>
            </a:r>
            <a:r>
              <a:rPr sz="1700" spc="-15" dirty="0" err="1">
                <a:solidFill>
                  <a:srgbClr val="00B0F0"/>
                </a:solidFill>
                <a:latin typeface="Trebuchet MS"/>
                <a:cs typeface="Trebuchet MS"/>
              </a:rPr>
              <a:t>n</a:t>
            </a:r>
            <a:r>
              <a:rPr sz="1700" spc="-5" dirty="0" err="1">
                <a:solidFill>
                  <a:srgbClr val="00B0F0"/>
                </a:solidFill>
                <a:latin typeface="Trebuchet MS"/>
                <a:cs typeface="Trebuchet MS"/>
              </a:rPr>
              <a:t>t</a:t>
            </a:r>
            <a:r>
              <a:rPr sz="1700" spc="-10" dirty="0" err="1">
                <a:solidFill>
                  <a:srgbClr val="00B0F0"/>
                </a:solidFill>
                <a:latin typeface="Trebuchet MS"/>
                <a:cs typeface="Trebuchet MS"/>
              </a:rPr>
              <a:t>o</a:t>
            </a:r>
            <a:r>
              <a:rPr sz="1700" dirty="0" err="1">
                <a:solidFill>
                  <a:srgbClr val="00B0F0"/>
                </a:solidFill>
                <a:latin typeface="Trebuchet MS"/>
                <a:cs typeface="Trebuchet MS"/>
              </a:rPr>
              <a:t>s</a:t>
            </a:r>
            <a:r>
              <a:rPr sz="1700" dirty="0">
                <a:solidFill>
                  <a:srgbClr val="00B0F0"/>
                </a:solidFill>
                <a:latin typeface="Trebuchet MS"/>
                <a:cs typeface="Trebuchet MS"/>
              </a:rPr>
              <a:t>  </a:t>
            </a:r>
            <a:r>
              <a:rPr sz="1700" spc="-5" dirty="0" err="1">
                <a:solidFill>
                  <a:srgbClr val="00B0F0"/>
                </a:solidFill>
                <a:latin typeface="Trebuchet MS"/>
                <a:cs typeface="Trebuchet MS"/>
              </a:rPr>
              <a:t>obsoletos</a:t>
            </a:r>
            <a:r>
              <a:rPr sz="1700" spc="-55" dirty="0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sz="1700" spc="-5" dirty="0" err="1">
                <a:solidFill>
                  <a:srgbClr val="00B0F0"/>
                </a:solidFill>
                <a:latin typeface="Trebuchet MS"/>
                <a:cs typeface="Trebuchet MS"/>
              </a:rPr>
              <a:t>são</a:t>
            </a:r>
            <a:r>
              <a:rPr sz="1700" spc="-45" dirty="0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sz="1700" spc="-5" dirty="0" err="1">
                <a:solidFill>
                  <a:srgbClr val="00B0F0"/>
                </a:solidFill>
                <a:latin typeface="Trebuchet MS"/>
                <a:cs typeface="Trebuchet MS"/>
              </a:rPr>
              <a:t>permitidos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;</a:t>
            </a:r>
            <a:endParaRPr sz="17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509"/>
              </a:spcBef>
            </a:pPr>
            <a:r>
              <a:rPr sz="135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350" spc="-25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1700" i="1" spc="-5" dirty="0">
                <a:solidFill>
                  <a:srgbClr val="FF0000"/>
                </a:solidFill>
                <a:latin typeface="Trebuchet MS"/>
                <a:cs typeface="Trebuchet MS"/>
              </a:rPr>
              <a:t>Frameset</a:t>
            </a:r>
            <a:r>
              <a:rPr sz="1700" i="1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–</a:t>
            </a:r>
            <a:r>
              <a:rPr sz="17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implementação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direcionada</a:t>
            </a:r>
            <a:r>
              <a:rPr sz="1700" spc="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site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17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usam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i="1" spc="-5" dirty="0">
                <a:solidFill>
                  <a:srgbClr val="404040"/>
                </a:solidFill>
                <a:latin typeface="Trebuchet MS"/>
                <a:cs typeface="Trebuchet MS"/>
              </a:rPr>
              <a:t>frames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17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900" spc="-204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1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999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2400" spc="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HTML</a:t>
            </a:r>
            <a:r>
              <a:rPr sz="2400" spc="-2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4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01</a:t>
            </a:r>
            <a:r>
              <a:rPr sz="2400" spc="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f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400" spc="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ubl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ic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  <a:p>
            <a:pPr marL="698500" marR="75565" indent="-228600">
              <a:lnSpc>
                <a:spcPct val="79400"/>
              </a:lnSpc>
              <a:spcBef>
                <a:spcPts val="1085"/>
              </a:spcBef>
            </a:pPr>
            <a:r>
              <a:rPr sz="135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350" spc="4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Oferece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as</a:t>
            </a:r>
            <a:r>
              <a:rPr sz="17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mesmas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três</a:t>
            </a:r>
            <a:r>
              <a:rPr sz="17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variações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17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700" spc="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HTML</a:t>
            </a:r>
            <a:r>
              <a:rPr sz="1700" spc="-1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4.0</a:t>
            </a:r>
            <a:r>
              <a:rPr sz="1700" spc="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17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sua</a:t>
            </a:r>
            <a:r>
              <a:rPr sz="17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última</a:t>
            </a:r>
            <a:r>
              <a:rPr sz="17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errata foram </a:t>
            </a:r>
            <a:r>
              <a:rPr sz="1700" spc="-4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publicadas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12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maio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2001.</a:t>
            </a:r>
            <a:endParaRPr sz="17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5026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Breve</a:t>
            </a:r>
            <a:r>
              <a:rPr sz="3600" spc="-30" dirty="0"/>
              <a:t> </a:t>
            </a:r>
            <a:r>
              <a:rPr sz="3600" spc="-5" dirty="0"/>
              <a:t>Histórico</a:t>
            </a:r>
            <a:r>
              <a:rPr sz="3600" spc="-80" dirty="0"/>
              <a:t> </a:t>
            </a:r>
            <a:r>
              <a:rPr sz="3600" spc="-5" dirty="0"/>
              <a:t>do</a:t>
            </a:r>
            <a:r>
              <a:rPr sz="3600" spc="-85" dirty="0"/>
              <a:t> </a:t>
            </a:r>
            <a:r>
              <a:rPr sz="3600" spc="-5" dirty="0"/>
              <a:t>HTML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310" y="1710334"/>
            <a:ext cx="8896350" cy="346138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XHT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800" spc="-2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25" dirty="0">
                <a:solidFill>
                  <a:srgbClr val="404040"/>
                </a:solidFill>
                <a:latin typeface="Trebuchet MS"/>
                <a:cs typeface="Trebuchet MS"/>
              </a:rPr>
              <a:t>1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r>
              <a:rPr sz="2800" spc="-30" dirty="0">
                <a:solidFill>
                  <a:srgbClr val="404040"/>
                </a:solidFill>
                <a:latin typeface="Trebuchet MS"/>
                <a:cs typeface="Trebuchet MS"/>
              </a:rPr>
              <a:t>0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010"/>
              </a:spcBef>
            </a:pP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8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XHTML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ou</a:t>
            </a:r>
            <a:r>
              <a:rPr sz="2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eXtensible</a:t>
            </a:r>
            <a:r>
              <a:rPr sz="2800" b="1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Hypertext</a:t>
            </a:r>
            <a:r>
              <a:rPr sz="2800" b="1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Trebuchet MS"/>
                <a:cs typeface="Trebuchet MS"/>
              </a:rPr>
              <a:t>Markup Language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, </a:t>
            </a:r>
            <a:r>
              <a:rPr sz="2800" spc="-8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800" spc="3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2800" spc="3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reformulação</a:t>
            </a:r>
            <a:r>
              <a:rPr sz="2800" spc="3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2800" spc="3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linguagem</a:t>
            </a:r>
            <a:r>
              <a:rPr sz="2800" spc="3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800" spc="3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marcação</a:t>
            </a:r>
            <a:r>
              <a:rPr sz="2800" spc="3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HTML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4.01</a:t>
            </a:r>
            <a:r>
              <a:rPr sz="2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2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baseada</a:t>
            </a:r>
            <a:r>
              <a:rPr sz="2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XML.</a:t>
            </a:r>
            <a:endParaRPr sz="2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930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900" spc="-204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tag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ca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ç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ã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ML</a:t>
            </a:r>
            <a:r>
              <a:rPr sz="2400" spc="-1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regras</a:t>
            </a:r>
            <a:r>
              <a:rPr sz="24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X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355600" marR="73025" indent="-342900">
              <a:lnSpc>
                <a:spcPct val="102899"/>
              </a:lnSpc>
              <a:spcBef>
                <a:spcPts val="869"/>
              </a:spcBef>
            </a:pPr>
            <a:r>
              <a:rPr sz="225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250" spc="-21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Alguns</a:t>
            </a:r>
            <a:r>
              <a:rPr sz="2800" spc="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dispositivos</a:t>
            </a:r>
            <a:r>
              <a:rPr sz="2800" spc="1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não</a:t>
            </a:r>
            <a:r>
              <a:rPr sz="2800" spc="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reconhecem</a:t>
            </a:r>
            <a:r>
              <a:rPr sz="2800" spc="1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800" spc="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HTML,</a:t>
            </a:r>
            <a:r>
              <a:rPr sz="2800" spc="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pois</a:t>
            </a:r>
            <a:r>
              <a:rPr sz="2800" spc="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ele </a:t>
            </a:r>
            <a:r>
              <a:rPr sz="2800" spc="-8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não</a:t>
            </a:r>
            <a:r>
              <a:rPr sz="2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possui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 um</a:t>
            </a:r>
            <a:r>
              <a:rPr sz="2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sentido</a:t>
            </a:r>
            <a:r>
              <a:rPr sz="2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semântico.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5026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Breve</a:t>
            </a:r>
            <a:r>
              <a:rPr sz="3600" spc="-30" dirty="0"/>
              <a:t> </a:t>
            </a:r>
            <a:r>
              <a:rPr sz="3600" spc="-5" dirty="0"/>
              <a:t>Histórico</a:t>
            </a:r>
            <a:r>
              <a:rPr sz="3600" spc="-80" dirty="0"/>
              <a:t> </a:t>
            </a:r>
            <a:r>
              <a:rPr sz="3600" spc="-5" dirty="0"/>
              <a:t>do</a:t>
            </a:r>
            <a:r>
              <a:rPr sz="3600" spc="-85" dirty="0"/>
              <a:t> </a:t>
            </a:r>
            <a:r>
              <a:rPr sz="3600" spc="-5" dirty="0"/>
              <a:t>HTML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02563" y="1358773"/>
            <a:ext cx="8366759" cy="467804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HTM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400" spc="-229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5.X</a:t>
            </a:r>
            <a:endParaRPr sz="2400" dirty="0">
              <a:latin typeface="Trebuchet MS"/>
              <a:cs typeface="Trebuchet MS"/>
            </a:endParaRPr>
          </a:p>
          <a:p>
            <a:pPr marL="355600" marR="5080" indent="-343535" algn="just">
              <a:lnSpc>
                <a:spcPct val="90500"/>
              </a:lnSpc>
              <a:spcBef>
                <a:spcPts val="910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Enquanto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W3C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focava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suas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atenções para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criação da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segunda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versão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XHTML,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grupo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chamado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Web 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Hypertext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Application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Technology</a:t>
            </a:r>
            <a:r>
              <a:rPr sz="2400" spc="5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Working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Group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ou </a:t>
            </a:r>
            <a:r>
              <a:rPr sz="2400" spc="-7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WHATWG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trabalhava em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uma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versão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do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HTML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que trazia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mais flexibilidade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para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produção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websites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 sistemas </a:t>
            </a:r>
            <a:r>
              <a:rPr sz="2400" spc="-7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baseados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na web.</a:t>
            </a:r>
            <a:endParaRPr sz="2400" dirty="0">
              <a:latin typeface="Trebuchet MS"/>
              <a:cs typeface="Trebuchet MS"/>
            </a:endParaRPr>
          </a:p>
          <a:p>
            <a:pPr marL="355600" marR="7620" indent="-343535" algn="just">
              <a:lnSpc>
                <a:spcPct val="90600"/>
              </a:lnSpc>
              <a:spcBef>
                <a:spcPts val="905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400" spc="-75" dirty="0">
                <a:solidFill>
                  <a:srgbClr val="404040"/>
                </a:solidFill>
                <a:latin typeface="Trebuchet MS"/>
                <a:cs typeface="Trebuchet MS"/>
              </a:rPr>
              <a:t>WHATWG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foi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fundado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por desenvolvedores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empresas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como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Mozilla,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Apple e Opera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em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2004. Eles não estavam 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felizes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com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caminho que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Web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tomava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nem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com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rumo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dado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XHTML.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Por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isso,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estas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organizações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se </a:t>
            </a:r>
            <a:r>
              <a:rPr sz="2400" spc="-7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juntaram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escrever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seria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chamado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hoje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15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400" spc="-7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HTML5.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98990"/>
            <a:ext cx="5026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Breve</a:t>
            </a:r>
            <a:r>
              <a:rPr sz="3600" spc="-30" dirty="0"/>
              <a:t> </a:t>
            </a:r>
            <a:r>
              <a:rPr sz="3600" spc="-5" dirty="0"/>
              <a:t>Histórico</a:t>
            </a:r>
            <a:r>
              <a:rPr sz="3600" spc="-80" dirty="0"/>
              <a:t> </a:t>
            </a:r>
            <a:r>
              <a:rPr sz="3600" spc="-5" dirty="0"/>
              <a:t>do</a:t>
            </a:r>
            <a:r>
              <a:rPr sz="3600" spc="-85" dirty="0"/>
              <a:t> </a:t>
            </a:r>
            <a:r>
              <a:rPr sz="3600" spc="-5" dirty="0"/>
              <a:t>HTML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838200" y="644744"/>
            <a:ext cx="9260637" cy="5568512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HTM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400" spc="-2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5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X</a:t>
            </a:r>
            <a:endParaRPr sz="2400" dirty="0">
              <a:latin typeface="Trebuchet MS"/>
              <a:cs typeface="Trebuchet MS"/>
            </a:endParaRPr>
          </a:p>
          <a:p>
            <a:pPr marL="355600" marR="173990" indent="-343535" algn="just">
              <a:lnSpc>
                <a:spcPct val="102499"/>
              </a:lnSpc>
              <a:spcBef>
                <a:spcPts val="855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28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outubro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2014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HTML5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1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º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vem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ro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2016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HTM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400" spc="-20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5.1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14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dezem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ro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201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7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HTM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400" spc="-2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5.2</a:t>
            </a:r>
            <a:endParaRPr lang="pt-BR" sz="2400" spc="-5" dirty="0">
              <a:solidFill>
                <a:srgbClr val="404040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lang="pt-BR" sz="2400" spc="-5" dirty="0">
                <a:solidFill>
                  <a:srgbClr val="404040"/>
                </a:solidFill>
                <a:latin typeface="Trebuchet MS"/>
                <a:cs typeface="Trebuchet MS"/>
              </a:rPr>
              <a:t>HTML é mantido por </a:t>
            </a:r>
            <a:r>
              <a:rPr lang="pt-BR" sz="2400" spc="-75" dirty="0">
                <a:solidFill>
                  <a:srgbClr val="FF0000"/>
                </a:solidFill>
                <a:latin typeface="Trebuchet MS"/>
                <a:cs typeface="Trebuchet MS"/>
              </a:rPr>
              <a:t>WHATWG</a:t>
            </a:r>
            <a:r>
              <a:rPr lang="pt-BR" sz="2400" spc="-75" dirty="0">
                <a:solidFill>
                  <a:srgbClr val="404040"/>
                </a:solidFill>
                <a:latin typeface="Trebuchet MS"/>
                <a:cs typeface="Trebuchet MS"/>
              </a:rPr>
              <a:t> desde 2004.</a:t>
            </a: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endParaRPr lang="pt-BR" sz="2400" spc="-75" dirty="0">
              <a:solidFill>
                <a:srgbClr val="404040"/>
              </a:solidFill>
              <a:latin typeface="Trebuchet MS"/>
              <a:cs typeface="Trebuchet MS"/>
            </a:endParaRPr>
          </a:p>
          <a:p>
            <a:r>
              <a:rPr lang="pt-BR" sz="2400" b="1" dirty="0">
                <a:latin typeface="Trebuchet MS" panose="020B0603020202020204" pitchFamily="34" charset="0"/>
              </a:rPr>
              <a:t>WHATWG</a:t>
            </a:r>
            <a:r>
              <a:rPr lang="pt-BR" sz="2400" dirty="0">
                <a:latin typeface="Trebuchet MS" panose="020B0603020202020204" pitchFamily="34" charset="0"/>
              </a:rPr>
              <a:t> (fundado em 2004 por engenheiros da Apple, Mozilla e Opera)</a:t>
            </a:r>
          </a:p>
          <a:p>
            <a:endParaRPr lang="pt-BR" sz="2400" dirty="0">
              <a:latin typeface="Trebuchet MS" panose="020B06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latin typeface="Trebuchet MS" panose="020B0603020202020204" pitchFamily="34" charset="0"/>
              </a:rPr>
              <a:t>Criado após discordâncias com o ritmo e a abordagem do W3C.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400" dirty="0">
              <a:latin typeface="Trebuchet MS" panose="020B06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latin typeface="Trebuchet MS" panose="020B0603020202020204" pitchFamily="34" charset="0"/>
              </a:rPr>
              <a:t>Passou a manter especificações em </a:t>
            </a:r>
            <a:r>
              <a:rPr lang="pt-BR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evolução contínua</a:t>
            </a:r>
            <a:r>
              <a:rPr lang="pt-BR" sz="2400" dirty="0">
                <a:latin typeface="Trebuchet MS" panose="020B0603020202020204" pitchFamily="34" charset="0"/>
              </a:rPr>
              <a:t>, sem esperar grandes saltos de versão.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5026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Breve</a:t>
            </a:r>
            <a:r>
              <a:rPr sz="3600" spc="-30" dirty="0"/>
              <a:t> </a:t>
            </a:r>
            <a:r>
              <a:rPr sz="3600" spc="-5" dirty="0"/>
              <a:t>Histórico</a:t>
            </a:r>
            <a:r>
              <a:rPr sz="3600" spc="-80" dirty="0"/>
              <a:t> </a:t>
            </a:r>
            <a:r>
              <a:rPr sz="3600" spc="-5" dirty="0"/>
              <a:t>do</a:t>
            </a:r>
            <a:r>
              <a:rPr sz="3600" spc="-85" dirty="0"/>
              <a:t> </a:t>
            </a:r>
            <a:r>
              <a:rPr sz="3600" spc="-5" dirty="0"/>
              <a:t>HTML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1102563" y="1535976"/>
            <a:ext cx="5520690" cy="107315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650" spc="11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3300" spc="-5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3300" spc="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3300" dirty="0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sz="3300" spc="1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330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33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300" spc="-5" dirty="0">
                <a:solidFill>
                  <a:srgbClr val="404040"/>
                </a:solidFill>
                <a:latin typeface="Trebuchet MS"/>
                <a:cs typeface="Trebuchet MS"/>
              </a:rPr>
              <a:t>element</a:t>
            </a:r>
            <a:r>
              <a:rPr sz="3300" spc="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330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33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300" spc="-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33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33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300" dirty="0">
                <a:solidFill>
                  <a:srgbClr val="404040"/>
                </a:solidFill>
                <a:latin typeface="Trebuchet MS"/>
                <a:cs typeface="Trebuchet MS"/>
              </a:rPr>
              <a:t>HTML</a:t>
            </a:r>
            <a:r>
              <a:rPr sz="3300" spc="-25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300" dirty="0">
                <a:solidFill>
                  <a:srgbClr val="404040"/>
                </a:solidFill>
                <a:latin typeface="Trebuchet MS"/>
                <a:cs typeface="Trebuchet MS"/>
              </a:rPr>
              <a:t>5</a:t>
            </a:r>
            <a:endParaRPr sz="33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325"/>
              </a:spcBef>
            </a:pPr>
            <a:r>
              <a:rPr sz="2400" spc="-1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3000" spc="-15" dirty="0">
                <a:solidFill>
                  <a:srgbClr val="404040"/>
                </a:solidFill>
                <a:latin typeface="Trebuchet MS"/>
                <a:cs typeface="Trebuchet MS"/>
              </a:rPr>
              <a:t>Elementos</a:t>
            </a:r>
            <a:r>
              <a:rPr sz="30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Trebuchet MS"/>
                <a:cs typeface="Trebuchet MS"/>
              </a:rPr>
              <a:t>semânticos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0067" y="2621661"/>
            <a:ext cx="7776209" cy="3923029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698500" marR="618490" indent="-228600">
              <a:lnSpc>
                <a:spcPts val="2470"/>
              </a:lnSpc>
              <a:spcBef>
                <a:spcPts val="320"/>
              </a:spcBef>
            </a:pPr>
            <a:r>
              <a:rPr sz="1750" spc="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200" spc="5" dirty="0">
                <a:solidFill>
                  <a:srgbClr val="404040"/>
                </a:solidFill>
                <a:latin typeface="Trebuchet MS"/>
                <a:cs typeface="Trebuchet MS"/>
              </a:rPr>
              <a:t>Estendem</a:t>
            </a:r>
            <a:r>
              <a:rPr sz="22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2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funcionalidade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2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tabelas</a:t>
            </a:r>
            <a:r>
              <a:rPr sz="22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2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2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página </a:t>
            </a:r>
            <a:r>
              <a:rPr sz="2200" spc="-6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como</a:t>
            </a:r>
            <a:r>
              <a:rPr sz="22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um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todo:</a:t>
            </a:r>
            <a:r>
              <a:rPr sz="22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&lt;header&gt;</a:t>
            </a:r>
            <a:r>
              <a:rPr sz="22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2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&lt;footer&gt;.</a:t>
            </a:r>
            <a:endParaRPr sz="2200" dirty="0">
              <a:latin typeface="Trebuchet MS"/>
              <a:cs typeface="Trebuchet MS"/>
            </a:endParaRPr>
          </a:p>
          <a:p>
            <a:pPr marL="698500" marR="5080" indent="-228600">
              <a:lnSpc>
                <a:spcPts val="2480"/>
              </a:lnSpc>
              <a:spcBef>
                <a:spcPts val="340"/>
              </a:spcBef>
            </a:pPr>
            <a:r>
              <a:rPr sz="1750" spc="-2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200" spc="-25" dirty="0">
                <a:solidFill>
                  <a:srgbClr val="404040"/>
                </a:solidFill>
                <a:latin typeface="Trebuchet MS"/>
                <a:cs typeface="Trebuchet MS"/>
              </a:rPr>
              <a:t>Permitem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marcar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áreas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específicas dos layouts: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&lt;article&gt; </a:t>
            </a:r>
            <a:r>
              <a:rPr sz="2200" spc="-6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2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&lt;section&gt;.</a:t>
            </a:r>
            <a:endParaRPr sz="2200" dirty="0">
              <a:latin typeface="Trebuchet MS"/>
              <a:cs typeface="Trebuchet MS"/>
            </a:endParaRPr>
          </a:p>
          <a:p>
            <a:pPr marL="299085" marR="901700" indent="-287020" algn="just">
              <a:lnSpc>
                <a:spcPct val="81000"/>
              </a:lnSpc>
              <a:spcBef>
                <a:spcPts val="770"/>
              </a:spcBef>
            </a:pPr>
            <a:r>
              <a:rPr sz="2400" spc="-1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3000" spc="-15" dirty="0">
                <a:solidFill>
                  <a:srgbClr val="404040"/>
                </a:solidFill>
                <a:latin typeface="Trebuchet MS"/>
                <a:cs typeface="Trebuchet MS"/>
              </a:rPr>
              <a:t>Atributos </a:t>
            </a:r>
            <a:r>
              <a:rPr sz="3000" spc="-5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3000" spc="-10" dirty="0">
                <a:solidFill>
                  <a:srgbClr val="FF0000"/>
                </a:solidFill>
                <a:latin typeface="Trebuchet MS"/>
                <a:cs typeface="Trebuchet MS"/>
              </a:rPr>
              <a:t>elementos </a:t>
            </a:r>
            <a:r>
              <a:rPr sz="3000" spc="-5" dirty="0">
                <a:solidFill>
                  <a:srgbClr val="FF0000"/>
                </a:solidFill>
                <a:latin typeface="Trebuchet MS"/>
                <a:cs typeface="Trebuchet MS"/>
              </a:rPr>
              <a:t>de </a:t>
            </a:r>
            <a:r>
              <a:rPr sz="3000" spc="-10" dirty="0">
                <a:solidFill>
                  <a:srgbClr val="FF0000"/>
                </a:solidFill>
                <a:latin typeface="Trebuchet MS"/>
                <a:cs typeface="Trebuchet MS"/>
              </a:rPr>
              <a:t>formulário</a:t>
            </a:r>
            <a:r>
              <a:rPr sz="3000" spc="-10" dirty="0">
                <a:solidFill>
                  <a:srgbClr val="404040"/>
                </a:solidFill>
                <a:latin typeface="Trebuchet MS"/>
                <a:cs typeface="Trebuchet MS"/>
              </a:rPr>
              <a:t>, </a:t>
            </a:r>
            <a:r>
              <a:rPr sz="3000" spc="-8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Trebuchet MS"/>
                <a:cs typeface="Trebuchet MS"/>
              </a:rPr>
              <a:t>como </a:t>
            </a:r>
            <a:r>
              <a:rPr sz="3000" spc="-120" dirty="0">
                <a:solidFill>
                  <a:srgbClr val="FF0000"/>
                </a:solidFill>
                <a:latin typeface="Trebuchet MS"/>
                <a:cs typeface="Trebuchet MS"/>
              </a:rPr>
              <a:t>number, </a:t>
            </a:r>
            <a:r>
              <a:rPr sz="3000" spc="-5" dirty="0">
                <a:solidFill>
                  <a:srgbClr val="FF0000"/>
                </a:solidFill>
                <a:latin typeface="Trebuchet MS"/>
                <a:cs typeface="Trebuchet MS"/>
              </a:rPr>
              <a:t>date, </a:t>
            </a:r>
            <a:r>
              <a:rPr sz="3000" spc="-15" dirty="0">
                <a:solidFill>
                  <a:srgbClr val="FF0000"/>
                </a:solidFill>
                <a:latin typeface="Trebuchet MS"/>
                <a:cs typeface="Trebuchet MS"/>
              </a:rPr>
              <a:t>time, </a:t>
            </a:r>
            <a:r>
              <a:rPr sz="3000" spc="-95" dirty="0">
                <a:solidFill>
                  <a:srgbClr val="FF0000"/>
                </a:solidFill>
                <a:latin typeface="Trebuchet MS"/>
                <a:cs typeface="Trebuchet MS"/>
              </a:rPr>
              <a:t>calendar, </a:t>
            </a:r>
            <a:r>
              <a:rPr sz="3000" dirty="0">
                <a:solidFill>
                  <a:srgbClr val="FF0000"/>
                </a:solidFill>
                <a:latin typeface="Trebuchet MS"/>
                <a:cs typeface="Trebuchet MS"/>
              </a:rPr>
              <a:t>e </a:t>
            </a:r>
            <a:r>
              <a:rPr sz="300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Trebuchet MS"/>
                <a:cs typeface="Trebuchet MS"/>
              </a:rPr>
              <a:t>range.</a:t>
            </a:r>
            <a:endParaRPr sz="30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2400" spc="-1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3000" spc="-15" dirty="0">
                <a:solidFill>
                  <a:srgbClr val="404040"/>
                </a:solidFill>
                <a:latin typeface="Trebuchet MS"/>
                <a:cs typeface="Trebuchet MS"/>
              </a:rPr>
              <a:t>Elementos</a:t>
            </a:r>
            <a:r>
              <a:rPr sz="3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000" spc="-15" dirty="0">
                <a:solidFill>
                  <a:srgbClr val="FF0000"/>
                </a:solidFill>
                <a:latin typeface="Trebuchet MS"/>
                <a:cs typeface="Trebuchet MS"/>
              </a:rPr>
              <a:t>gráficos:</a:t>
            </a:r>
            <a:r>
              <a:rPr sz="300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Trebuchet MS"/>
                <a:cs typeface="Trebuchet MS"/>
              </a:rPr>
              <a:t>&lt;svg&gt;</a:t>
            </a:r>
            <a:r>
              <a:rPr sz="300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00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Trebuchet MS"/>
                <a:cs typeface="Trebuchet MS"/>
              </a:rPr>
              <a:t>&lt;canvas&gt;.</a:t>
            </a:r>
            <a:endParaRPr sz="30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299085" marR="1364615" indent="-287020">
              <a:lnSpc>
                <a:spcPts val="2940"/>
              </a:lnSpc>
              <a:spcBef>
                <a:spcPts val="1025"/>
              </a:spcBef>
            </a:pPr>
            <a:r>
              <a:rPr sz="2400" spc="-1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3000" spc="-15" dirty="0">
                <a:solidFill>
                  <a:srgbClr val="404040"/>
                </a:solidFill>
                <a:latin typeface="Trebuchet MS"/>
                <a:cs typeface="Trebuchet MS"/>
              </a:rPr>
              <a:t>Elementos</a:t>
            </a:r>
            <a:r>
              <a:rPr sz="3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3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Trebuchet MS"/>
                <a:cs typeface="Trebuchet MS"/>
              </a:rPr>
              <a:t>inclusão</a:t>
            </a:r>
            <a:r>
              <a:rPr sz="3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3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Trebuchet MS"/>
                <a:cs typeface="Trebuchet MS"/>
              </a:rPr>
              <a:t>conteúdos </a:t>
            </a:r>
            <a:r>
              <a:rPr sz="3000" spc="-8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Trebuchet MS"/>
                <a:cs typeface="Trebuchet MS"/>
              </a:rPr>
              <a:t>multimídia:</a:t>
            </a:r>
            <a:r>
              <a:rPr sz="30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Trebuchet MS"/>
                <a:cs typeface="Trebuchet MS"/>
              </a:rPr>
              <a:t>&lt;audio&gt;</a:t>
            </a:r>
            <a:r>
              <a:rPr sz="30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FF0000"/>
                </a:solidFill>
                <a:latin typeface="Trebuchet MS"/>
                <a:cs typeface="Trebuchet MS"/>
              </a:rPr>
              <a:t>e </a:t>
            </a:r>
            <a:r>
              <a:rPr sz="3000" spc="-10" dirty="0">
                <a:solidFill>
                  <a:srgbClr val="FF0000"/>
                </a:solidFill>
                <a:latin typeface="Trebuchet MS"/>
                <a:cs typeface="Trebuchet MS"/>
              </a:rPr>
              <a:t>&lt;video&gt;.</a:t>
            </a:r>
            <a:endParaRPr sz="30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67600" y="1066800"/>
            <a:ext cx="3276600" cy="773930"/>
          </a:xfrm>
          <a:prstGeom prst="rect">
            <a:avLst/>
          </a:prstGeom>
          <a:solidFill>
            <a:srgbClr val="DBF4C8"/>
          </a:solidFill>
          <a:ln w="20318">
            <a:solidFill>
              <a:srgbClr val="688E17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1440" marR="69215">
              <a:lnSpc>
                <a:spcPct val="100000"/>
              </a:lnSpc>
              <a:spcBef>
                <a:spcPts val="275"/>
              </a:spcBef>
            </a:pPr>
            <a:r>
              <a:rPr sz="1600" dirty="0">
                <a:solidFill>
                  <a:srgbClr val="FF0000"/>
                </a:solidFill>
                <a:latin typeface="Trebuchet MS"/>
                <a:cs typeface="Trebuchet MS"/>
              </a:rPr>
              <a:t>Um</a:t>
            </a:r>
            <a:r>
              <a:rPr sz="160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rebuchet MS"/>
                <a:cs typeface="Trebuchet MS"/>
              </a:rPr>
              <a:t>elemento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rebuchet MS"/>
                <a:cs typeface="Trebuchet MS"/>
              </a:rPr>
              <a:t>semântico </a:t>
            </a:r>
            <a:r>
              <a:rPr sz="1600" spc="-3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rebuchet MS"/>
                <a:cs typeface="Trebuchet MS"/>
              </a:rPr>
              <a:t>descreve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Trebuchet MS"/>
                <a:cs typeface="Trebuchet MS"/>
              </a:rPr>
              <a:t>claramente</a:t>
            </a:r>
            <a:r>
              <a:rPr sz="160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Trebuchet MS"/>
                <a:cs typeface="Trebuchet MS"/>
              </a:rPr>
              <a:t>seu </a:t>
            </a:r>
            <a:r>
              <a:rPr sz="1600" spc="-3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rebuchet MS"/>
                <a:cs typeface="Trebuchet MS"/>
              </a:rPr>
              <a:t>significado</a:t>
            </a:r>
            <a:r>
              <a:rPr sz="1600" spc="3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Trebuchet MS"/>
                <a:cs typeface="Trebuchet MS"/>
              </a:rPr>
              <a:t>para</a:t>
            </a:r>
            <a:r>
              <a:rPr sz="1600" spc="3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0000"/>
                </a:solidFill>
                <a:latin typeface="Trebuchet MS"/>
                <a:cs typeface="Trebuchet MS"/>
              </a:rPr>
              <a:t>o </a:t>
            </a:r>
            <a:r>
              <a:rPr sz="1600" spc="-15" dirty="0">
                <a:solidFill>
                  <a:srgbClr val="FF0000"/>
                </a:solidFill>
                <a:latin typeface="Trebuchet MS"/>
                <a:cs typeface="Trebuchet MS"/>
              </a:rPr>
              <a:t>navegador </a:t>
            </a:r>
            <a:r>
              <a:rPr sz="1600" spc="-3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160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35" dirty="0">
                <a:solidFill>
                  <a:srgbClr val="FF0000"/>
                </a:solidFill>
                <a:latin typeface="Trebuchet MS"/>
                <a:cs typeface="Trebuchet MS"/>
              </a:rPr>
              <a:t>desenvolvedor.</a:t>
            </a:r>
            <a:endParaRPr sz="16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7C31497B-C2BA-A155-2B6A-D4EF8D374277}"/>
              </a:ext>
            </a:extLst>
          </p:cNvPr>
          <p:cNvSpPr txBox="1"/>
          <p:nvPr/>
        </p:nvSpPr>
        <p:spPr>
          <a:xfrm>
            <a:off x="762000" y="1066800"/>
            <a:ext cx="5520690" cy="566821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650" spc="11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lang="en-US" sz="3300" spc="-5" dirty="0">
                <a:solidFill>
                  <a:srgbClr val="404040"/>
                </a:solidFill>
                <a:latin typeface="Trebuchet MS"/>
                <a:cs typeface="Trebuchet MS"/>
              </a:rPr>
              <a:t>HTML 5</a:t>
            </a:r>
            <a:endParaRPr sz="3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5026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Breve</a:t>
            </a:r>
            <a:r>
              <a:rPr sz="3600" spc="-30" dirty="0"/>
              <a:t> </a:t>
            </a:r>
            <a:r>
              <a:rPr sz="3600" spc="-5" dirty="0"/>
              <a:t>Histórico</a:t>
            </a:r>
            <a:r>
              <a:rPr sz="3600" spc="-80" dirty="0"/>
              <a:t> </a:t>
            </a:r>
            <a:r>
              <a:rPr sz="3600" spc="-5" dirty="0"/>
              <a:t>do</a:t>
            </a:r>
            <a:r>
              <a:rPr sz="3600" spc="-85" dirty="0"/>
              <a:t> </a:t>
            </a:r>
            <a:r>
              <a:rPr sz="3600" spc="-5" dirty="0"/>
              <a:t>HTML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005" y="2119375"/>
            <a:ext cx="8996680" cy="3676134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355600" marR="5080" indent="-342900" algn="just">
              <a:lnSpc>
                <a:spcPct val="91400"/>
              </a:lnSpc>
              <a:spcBef>
                <a:spcPts val="384"/>
              </a:spcBef>
            </a:pPr>
            <a:r>
              <a:rPr sz="225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250" spc="-21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800" spc="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ve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sões</a:t>
            </a:r>
            <a:r>
              <a:rPr sz="2800" spc="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800" spc="-30" dirty="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800" spc="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2800" spc="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HT</a:t>
            </a:r>
            <a:r>
              <a:rPr sz="2800" spc="-25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nã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800" spc="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co</a:t>
            </a:r>
            <a:r>
              <a:rPr sz="2800" spc="-25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nha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800" spc="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800" spc="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20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800" spc="-25" dirty="0">
                <a:solidFill>
                  <a:srgbClr val="404040"/>
                </a:solidFill>
                <a:latin typeface="Trebuchet MS"/>
                <a:cs typeface="Trebuchet MS"/>
              </a:rPr>
              <a:t>ã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o 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para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criação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de seções 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comuns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e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específicas 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como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rodapé,</a:t>
            </a:r>
            <a:r>
              <a:rPr sz="2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cabeçalho,</a:t>
            </a:r>
            <a:r>
              <a:rPr sz="2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5" dirty="0">
                <a:solidFill>
                  <a:srgbClr val="404040"/>
                </a:solidFill>
                <a:latin typeface="Trebuchet MS"/>
                <a:cs typeface="Trebuchet MS"/>
              </a:rPr>
              <a:t>sidebar,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menus</a:t>
            </a:r>
            <a:r>
              <a:rPr sz="2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 etc.</a:t>
            </a:r>
            <a:endParaRPr sz="28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600"/>
              </a:spcBef>
            </a:pPr>
            <a:r>
              <a:rPr sz="225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250" spc="-21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800" spc="-5" dirty="0" err="1">
                <a:solidFill>
                  <a:srgbClr val="404040"/>
                </a:solidFill>
                <a:latin typeface="Trebuchet MS"/>
                <a:cs typeface="Trebuchet MS"/>
              </a:rPr>
              <a:t>El</a:t>
            </a:r>
            <a:r>
              <a:rPr sz="2800" spc="-20" dirty="0" err="1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800" spc="-10" dirty="0" err="1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800" spc="-20" dirty="0" err="1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800" spc="-25" dirty="0" err="1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2800" spc="-10" dirty="0" err="1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800" spc="-5" dirty="0" err="1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8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 err="1">
                <a:solidFill>
                  <a:srgbClr val="404040"/>
                </a:solidFill>
                <a:latin typeface="Trebuchet MS"/>
                <a:cs typeface="Trebuchet MS"/>
              </a:rPr>
              <a:t>obso</a:t>
            </a:r>
            <a:r>
              <a:rPr sz="2800" spc="-10" dirty="0" err="1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800" spc="-20" dirty="0" err="1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800" spc="-10" dirty="0" err="1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800" spc="-5" dirty="0" err="1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lang="pt-BR" sz="2800" spc="-5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35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800" spc="-25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800" spc="-1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5</a:t>
            </a:r>
            <a:endParaRPr sz="2800" dirty="0">
              <a:latin typeface="Trebuchet MS"/>
              <a:cs typeface="Trebuchet MS"/>
            </a:endParaRPr>
          </a:p>
          <a:p>
            <a:pPr marL="757555" marR="149225" indent="-288290" algn="just">
              <a:lnSpc>
                <a:spcPct val="91500"/>
              </a:lnSpc>
              <a:spcBef>
                <a:spcPts val="995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Alguns recursos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como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as </a:t>
            </a:r>
            <a:r>
              <a:rPr sz="2400" i="1" spc="-15" dirty="0">
                <a:solidFill>
                  <a:srgbClr val="404040"/>
                </a:solidFill>
                <a:latin typeface="Trebuchet MS"/>
                <a:cs typeface="Trebuchet MS"/>
              </a:rPr>
              <a:t>tags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&lt;center&gt;,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&lt;big&gt;,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&lt;font&gt;, etc.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se tornaram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obsoletas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. 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Passaram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responsabilidade para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400" spc="-7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CSS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  <a:p>
            <a:pPr marL="757555" marR="499109" indent="-288290">
              <a:lnSpc>
                <a:spcPts val="2780"/>
              </a:lnSpc>
              <a:spcBef>
                <a:spcPts val="605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900" spc="-204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Apesar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dessa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ta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serem</a:t>
            </a:r>
            <a:r>
              <a:rPr sz="24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sole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4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rebuchet MS"/>
                <a:cs typeface="Trebuchet MS"/>
              </a:rPr>
              <a:t>H</a:t>
            </a:r>
            <a:r>
              <a:rPr sz="2400" b="1" spc="-20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2400" b="1" spc="-15" dirty="0">
                <a:solidFill>
                  <a:srgbClr val="FF0000"/>
                </a:solidFill>
                <a:latin typeface="Trebuchet MS"/>
                <a:cs typeface="Trebuchet MS"/>
              </a:rPr>
              <a:t>M</a:t>
            </a:r>
            <a:r>
              <a:rPr sz="2400" b="1" dirty="0">
                <a:solidFill>
                  <a:srgbClr val="FF0000"/>
                </a:solidFill>
                <a:latin typeface="Trebuchet MS"/>
                <a:cs typeface="Trebuchet MS"/>
              </a:rPr>
              <a:t>L5</a:t>
            </a:r>
            <a:r>
              <a:rPr sz="2400" b="1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ainda  reconhece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funcionamento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dessas</a:t>
            </a:r>
            <a:r>
              <a:rPr sz="24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tags.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3917"/>
            <a:ext cx="22148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30" dirty="0">
                <a:latin typeface="Trebuchet MS"/>
                <a:cs typeface="Trebuchet MS"/>
              </a:rPr>
              <a:t>Estrutura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6005" y="1770126"/>
            <a:ext cx="8454390" cy="46704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55600" marR="10160" indent="-342900" algn="just">
              <a:lnSpc>
                <a:spcPct val="101499"/>
              </a:lnSpc>
              <a:spcBef>
                <a:spcPts val="55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900" spc="-18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400" spc="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ram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400" spc="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400" spc="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400" spc="1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400" spc="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400" spc="1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ument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400" spc="1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todo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400" spc="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os 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dias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nossas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vidas.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Jornais,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formulários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seguros, 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catálogos</a:t>
            </a:r>
            <a:r>
              <a:rPr sz="2400" spc="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lojas...</a:t>
            </a:r>
            <a:endParaRPr sz="2400" dirty="0">
              <a:latin typeface="Trebuchet MS"/>
              <a:cs typeface="Trebuchet MS"/>
            </a:endParaRPr>
          </a:p>
          <a:p>
            <a:pPr marL="355600" marR="24130" indent="-342900" algn="just">
              <a:lnSpc>
                <a:spcPct val="102899"/>
              </a:lnSpc>
              <a:spcBef>
                <a:spcPts val="2235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Muitas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páginas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da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FF0000"/>
                </a:solidFill>
                <a:latin typeface="Trebuchet MS"/>
                <a:cs typeface="Trebuchet MS"/>
              </a:rPr>
              <a:t>Web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agem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como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versões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eletrônicas </a:t>
            </a:r>
            <a:r>
              <a:rPr sz="2400" spc="-7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desses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documentos.</a:t>
            </a:r>
            <a:endParaRPr sz="2400" dirty="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0600"/>
              </a:lnSpc>
              <a:spcBef>
                <a:spcPts val="2300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Em todos os tipos de documentos,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estrutura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é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muito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 importante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ajudar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os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leitores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entender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as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mensagens que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você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está tentando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transmitir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 a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navegar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pelo documento.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Assim,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para aprender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escrever páginas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2400" spc="6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web,</a:t>
            </a:r>
            <a:r>
              <a:rPr sz="2400" spc="6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400" spc="6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muito</a:t>
            </a:r>
            <a:r>
              <a:rPr sz="2400" spc="6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importante</a:t>
            </a:r>
            <a:r>
              <a:rPr sz="2400" spc="6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entender</a:t>
            </a:r>
            <a:r>
              <a:rPr sz="2400" spc="6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como</a:t>
            </a:r>
            <a:r>
              <a:rPr sz="2400" spc="6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estruturar </a:t>
            </a:r>
            <a:r>
              <a:rPr sz="2400" spc="-7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documentos.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19094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Estrutura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005" y="1727072"/>
            <a:ext cx="8402955" cy="3527312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55600" marR="271780" indent="-342900">
              <a:lnSpc>
                <a:spcPct val="102899"/>
              </a:lnSpc>
              <a:spcBef>
                <a:spcPts val="15"/>
              </a:spcBef>
              <a:tabLst>
                <a:tab pos="354965" algn="l"/>
              </a:tabLst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HTM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400" spc="-2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utiliz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element</a:t>
            </a:r>
            <a:r>
              <a:rPr sz="2400" spc="-15" dirty="0">
                <a:solidFill>
                  <a:srgbClr val="00B0F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00B0F0"/>
                </a:solidFill>
                <a:latin typeface="Trebuchet MS"/>
                <a:cs typeface="Trebuchet MS"/>
              </a:rPr>
              <a:t>s</a:t>
            </a:r>
            <a:r>
              <a:rPr sz="24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qu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descreve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m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 estrut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u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ra</a:t>
            </a:r>
            <a:r>
              <a:rPr sz="2400" spc="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das  páginas.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100" dirty="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2499"/>
              </a:lnSpc>
              <a:tabLst>
                <a:tab pos="354965" algn="l"/>
              </a:tabLst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Utiliza-se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chamamos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tags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24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00B0F0"/>
                </a:solidFill>
                <a:latin typeface="Trebuchet MS"/>
                <a:cs typeface="Trebuchet MS"/>
              </a:rPr>
              <a:t>definir</a:t>
            </a:r>
            <a:r>
              <a:rPr sz="2400" spc="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diferentes </a:t>
            </a:r>
            <a:r>
              <a:rPr sz="2400" spc="-7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elementos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em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um</a:t>
            </a:r>
            <a:r>
              <a:rPr sz="24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página.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100" dirty="0">
              <a:latin typeface="Trebuchet MS"/>
              <a:cs typeface="Trebuchet MS"/>
            </a:endParaRPr>
          </a:p>
          <a:p>
            <a:pPr marL="355600" marR="197485" indent="-342900">
              <a:lnSpc>
                <a:spcPct val="102899"/>
              </a:lnSpc>
              <a:tabLst>
                <a:tab pos="354965" algn="l"/>
              </a:tabLst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Existem </a:t>
            </a:r>
            <a:r>
              <a:rPr sz="2400" dirty="0">
                <a:solidFill>
                  <a:srgbClr val="00B0F0"/>
                </a:solidFill>
                <a:latin typeface="Trebuchet MS"/>
                <a:cs typeface="Trebuchet MS"/>
              </a:rPr>
              <a:t>vários </a:t>
            </a:r>
            <a:r>
              <a:rPr sz="2400" spc="-10" dirty="0">
                <a:solidFill>
                  <a:srgbClr val="00B0F0"/>
                </a:solidFill>
                <a:latin typeface="Trebuchet MS"/>
                <a:cs typeface="Trebuchet MS"/>
              </a:rPr>
              <a:t>elementos 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diferentes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. Cada elemento tem </a:t>
            </a:r>
            <a:r>
              <a:rPr sz="2400" spc="-7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tag</a:t>
            </a:r>
            <a:r>
              <a:rPr sz="2400" spc="-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de</a:t>
            </a:r>
            <a:r>
              <a:rPr sz="240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abertura</a:t>
            </a:r>
            <a:r>
              <a:rPr sz="2400" spc="-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tag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de fechamento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57442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Estrutura</a:t>
            </a:r>
            <a:r>
              <a:rPr sz="3600" spc="-35" dirty="0"/>
              <a:t> </a:t>
            </a:r>
            <a:r>
              <a:rPr sz="3600" spc="-10" dirty="0"/>
              <a:t>básica</a:t>
            </a:r>
            <a:r>
              <a:rPr sz="3600" spc="-45" dirty="0"/>
              <a:t> </a:t>
            </a:r>
            <a:r>
              <a:rPr sz="3600" spc="-5" dirty="0"/>
              <a:t>de</a:t>
            </a:r>
            <a:r>
              <a:rPr sz="3600" spc="-60" dirty="0"/>
              <a:t> </a:t>
            </a:r>
            <a:r>
              <a:rPr sz="3600" spc="-10" dirty="0"/>
              <a:t>uma</a:t>
            </a:r>
            <a:r>
              <a:rPr sz="3600" spc="-25" dirty="0"/>
              <a:t> </a:t>
            </a:r>
            <a:r>
              <a:rPr sz="3600" spc="-5" dirty="0"/>
              <a:t>tag</a:t>
            </a:r>
            <a:endParaRPr sz="3600"/>
          </a:p>
        </p:txBody>
      </p:sp>
      <p:grpSp>
        <p:nvGrpSpPr>
          <p:cNvPr id="4" name="object 4"/>
          <p:cNvGrpSpPr/>
          <p:nvPr/>
        </p:nvGrpSpPr>
        <p:grpSpPr>
          <a:xfrm>
            <a:off x="2950464" y="5690481"/>
            <a:ext cx="6014085" cy="281305"/>
            <a:chOff x="2950464" y="5690481"/>
            <a:chExt cx="6014085" cy="2813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50464" y="5705855"/>
              <a:ext cx="1485899" cy="26517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995422" y="5720333"/>
              <a:ext cx="1399540" cy="189230"/>
            </a:xfrm>
            <a:custGeom>
              <a:avLst/>
              <a:gdLst/>
              <a:ahLst/>
              <a:cxnLst/>
              <a:rect l="l" t="t" r="r" b="b"/>
              <a:pathLst>
                <a:path w="1399539" h="189229">
                  <a:moveTo>
                    <a:pt x="1399031" y="0"/>
                  </a:moveTo>
                  <a:lnTo>
                    <a:pt x="1397762" y="36779"/>
                  </a:lnTo>
                  <a:lnTo>
                    <a:pt x="1394460" y="66814"/>
                  </a:lnTo>
                  <a:lnTo>
                    <a:pt x="1389506" y="87058"/>
                  </a:lnTo>
                  <a:lnTo>
                    <a:pt x="1383411" y="94487"/>
                  </a:lnTo>
                  <a:lnTo>
                    <a:pt x="715137" y="94487"/>
                  </a:lnTo>
                  <a:lnTo>
                    <a:pt x="709040" y="101917"/>
                  </a:lnTo>
                  <a:lnTo>
                    <a:pt x="704088" y="122161"/>
                  </a:lnTo>
                  <a:lnTo>
                    <a:pt x="700786" y="152196"/>
                  </a:lnTo>
                  <a:lnTo>
                    <a:pt x="699515" y="188975"/>
                  </a:lnTo>
                  <a:lnTo>
                    <a:pt x="698245" y="152196"/>
                  </a:lnTo>
                  <a:lnTo>
                    <a:pt x="694943" y="122161"/>
                  </a:lnTo>
                  <a:lnTo>
                    <a:pt x="689990" y="101917"/>
                  </a:lnTo>
                  <a:lnTo>
                    <a:pt x="683894" y="94487"/>
                  </a:lnTo>
                  <a:lnTo>
                    <a:pt x="15620" y="94487"/>
                  </a:lnTo>
                  <a:lnTo>
                    <a:pt x="9525" y="87058"/>
                  </a:lnTo>
                  <a:lnTo>
                    <a:pt x="4571" y="66814"/>
                  </a:lnTo>
                  <a:lnTo>
                    <a:pt x="1269" y="36779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36884" y="5690481"/>
              <a:ext cx="1827291" cy="28068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81850" y="5705093"/>
              <a:ext cx="1742439" cy="204470"/>
            </a:xfrm>
            <a:custGeom>
              <a:avLst/>
              <a:gdLst/>
              <a:ahLst/>
              <a:cxnLst/>
              <a:rect l="l" t="t" r="r" b="b"/>
              <a:pathLst>
                <a:path w="1742440" h="204470">
                  <a:moveTo>
                    <a:pt x="1741931" y="0"/>
                  </a:moveTo>
                  <a:lnTo>
                    <a:pt x="1740534" y="39738"/>
                  </a:lnTo>
                  <a:lnTo>
                    <a:pt x="1736978" y="72199"/>
                  </a:lnTo>
                  <a:lnTo>
                    <a:pt x="1731645" y="94081"/>
                  </a:lnTo>
                  <a:lnTo>
                    <a:pt x="1725041" y="102107"/>
                  </a:lnTo>
                  <a:lnTo>
                    <a:pt x="887856" y="102107"/>
                  </a:lnTo>
                  <a:lnTo>
                    <a:pt x="881252" y="110134"/>
                  </a:lnTo>
                  <a:lnTo>
                    <a:pt x="875919" y="132016"/>
                  </a:lnTo>
                  <a:lnTo>
                    <a:pt x="872363" y="164477"/>
                  </a:lnTo>
                  <a:lnTo>
                    <a:pt x="870966" y="204215"/>
                  </a:lnTo>
                  <a:lnTo>
                    <a:pt x="869569" y="164477"/>
                  </a:lnTo>
                  <a:lnTo>
                    <a:pt x="866013" y="132016"/>
                  </a:lnTo>
                  <a:lnTo>
                    <a:pt x="860678" y="110134"/>
                  </a:lnTo>
                  <a:lnTo>
                    <a:pt x="854075" y="102107"/>
                  </a:lnTo>
                  <a:lnTo>
                    <a:pt x="16891" y="102107"/>
                  </a:lnTo>
                  <a:lnTo>
                    <a:pt x="10286" y="94081"/>
                  </a:lnTo>
                  <a:lnTo>
                    <a:pt x="4952" y="72199"/>
                  </a:lnTo>
                  <a:lnTo>
                    <a:pt x="1397" y="39738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16939" y="1823973"/>
            <a:ext cx="9091930" cy="2432461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55600" marR="5080" indent="-342900">
              <a:lnSpc>
                <a:spcPct val="102899"/>
              </a:lnSpc>
              <a:spcBef>
                <a:spcPts val="15"/>
              </a:spcBef>
              <a:tabLst>
                <a:tab pos="354965" algn="l"/>
              </a:tabLst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As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tags funcionam como contêineres.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Eles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dizem algo sobre as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informações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estão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entre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as</a:t>
            </a:r>
            <a:r>
              <a:rPr sz="24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tags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abertura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fechamento.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50" dirty="0">
              <a:latin typeface="Trebuchet MS"/>
              <a:cs typeface="Trebuchet MS"/>
            </a:endParaRPr>
          </a:p>
          <a:p>
            <a:pPr marL="578485" algn="ctr">
              <a:lnSpc>
                <a:spcPct val="100000"/>
              </a:lnSpc>
            </a:pPr>
            <a:r>
              <a:rPr sz="2000" dirty="0">
                <a:latin typeface="Trebuchet MS"/>
                <a:cs typeface="Trebuchet MS"/>
              </a:rPr>
              <a:t>Os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Trebuchet MS"/>
                <a:cs typeface="Trebuchet MS"/>
              </a:rPr>
              <a:t>caracteres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Trebuchet MS"/>
                <a:cs typeface="Trebuchet MS"/>
              </a:rPr>
              <a:t>entre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parênteses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indicam</a:t>
            </a:r>
            <a:r>
              <a:rPr sz="2000" spc="-10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</a:t>
            </a:r>
            <a:r>
              <a:rPr sz="2000" spc="20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objetivo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581660" algn="ctr">
              <a:lnSpc>
                <a:spcPct val="100000"/>
              </a:lnSpc>
            </a:pPr>
            <a:r>
              <a:rPr sz="2000" spc="-5" dirty="0">
                <a:latin typeface="Trebuchet MS"/>
                <a:cs typeface="Trebuchet MS"/>
              </a:rPr>
              <a:t>da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b="1" spc="-5" dirty="0">
                <a:latin typeface="Trebuchet MS"/>
                <a:cs typeface="Trebuchet MS"/>
              </a:rPr>
              <a:t>tag</a:t>
            </a:r>
            <a:r>
              <a:rPr sz="2000" spc="-5" dirty="0">
                <a:latin typeface="Trebuchet MS"/>
                <a:cs typeface="Trebuchet MS"/>
              </a:rPr>
              <a:t>.</a:t>
            </a:r>
            <a:endParaRPr sz="2000" dirty="0">
              <a:latin typeface="Trebuchet MS"/>
              <a:cs typeface="Trebuchet MS"/>
            </a:endParaRPr>
          </a:p>
          <a:p>
            <a:pPr marL="2208530" marR="1623060" algn="ctr">
              <a:lnSpc>
                <a:spcPct val="100000"/>
              </a:lnSpc>
            </a:pPr>
            <a:r>
              <a:rPr sz="2000" spc="-55" dirty="0">
                <a:latin typeface="Trebuchet MS"/>
                <a:cs typeface="Trebuchet MS"/>
              </a:rPr>
              <a:t>Por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Trebuchet MS"/>
                <a:cs typeface="Trebuchet MS"/>
              </a:rPr>
              <a:t>exemplo,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Trebuchet MS"/>
                <a:cs typeface="Trebuchet MS"/>
              </a:rPr>
              <a:t>nas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Trebuchet MS"/>
                <a:cs typeface="Trebuchet MS"/>
              </a:rPr>
              <a:t>tags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acima,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sz="2000" b="1" spc="-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representa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 </a:t>
            </a:r>
            <a:r>
              <a:rPr sz="2000" spc="-585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Trebuchet MS"/>
                <a:cs typeface="Trebuchet MS"/>
              </a:rPr>
              <a:t>parágrafo.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96870" y="4651324"/>
            <a:ext cx="1697355" cy="165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1" dirty="0">
                <a:latin typeface="Trebuchet MS"/>
                <a:cs typeface="Trebuchet MS"/>
              </a:rPr>
              <a:t>&lt;</a:t>
            </a:r>
            <a:r>
              <a:rPr sz="7200" b="1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sz="7200" b="1" dirty="0">
                <a:latin typeface="Trebuchet MS"/>
                <a:cs typeface="Trebuchet MS"/>
              </a:rPr>
              <a:t>&gt;</a:t>
            </a:r>
            <a:endParaRPr sz="7200">
              <a:latin typeface="Trebuchet MS"/>
              <a:cs typeface="Trebuchet MS"/>
            </a:endParaRPr>
          </a:p>
          <a:p>
            <a:pPr marL="34925">
              <a:lnSpc>
                <a:spcPct val="100000"/>
              </a:lnSpc>
              <a:spcBef>
                <a:spcPts val="2055"/>
              </a:spcBef>
            </a:pPr>
            <a:r>
              <a:rPr sz="1800" spc="-315" dirty="0">
                <a:latin typeface="Trebuchet MS"/>
                <a:cs typeface="Trebuchet MS"/>
              </a:rPr>
              <a:t>T</a:t>
            </a:r>
            <a:r>
              <a:rPr sz="1800" spc="-85" dirty="0">
                <a:latin typeface="Trebuchet MS"/>
                <a:cs typeface="Trebuchet MS"/>
              </a:rPr>
              <a:t>a</a:t>
            </a:r>
            <a:r>
              <a:rPr sz="1800" dirty="0">
                <a:latin typeface="Trebuchet MS"/>
                <a:cs typeface="Trebuchet MS"/>
              </a:rPr>
              <a:t>g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5" dirty="0">
                <a:latin typeface="Trebuchet MS"/>
                <a:cs typeface="Trebuchet MS"/>
              </a:rPr>
              <a:t>d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abe</a:t>
            </a:r>
            <a:r>
              <a:rPr sz="1800" spc="-20" dirty="0">
                <a:latin typeface="Trebuchet MS"/>
                <a:cs typeface="Trebuchet MS"/>
              </a:rPr>
              <a:t>rt</a:t>
            </a:r>
            <a:r>
              <a:rPr sz="1800" spc="-15" dirty="0">
                <a:latin typeface="Trebuchet MS"/>
                <a:cs typeface="Trebuchet MS"/>
              </a:rPr>
              <a:t>u</a:t>
            </a:r>
            <a:r>
              <a:rPr sz="1800" spc="-20" dirty="0">
                <a:latin typeface="Trebuchet MS"/>
                <a:cs typeface="Trebuchet MS"/>
              </a:rPr>
              <a:t>r</a:t>
            </a:r>
            <a:r>
              <a:rPr sz="1800" spc="-10" dirty="0">
                <a:latin typeface="Trebuchet MS"/>
                <a:cs typeface="Trebuchet MS"/>
              </a:rPr>
              <a:t>a</a:t>
            </a:r>
            <a:r>
              <a:rPr sz="180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02881" y="4651324"/>
            <a:ext cx="3098165" cy="2001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055">
              <a:lnSpc>
                <a:spcPct val="100000"/>
              </a:lnSpc>
              <a:spcBef>
                <a:spcPts val="100"/>
              </a:spcBef>
            </a:pPr>
            <a:r>
              <a:rPr sz="7200" b="1" dirty="0">
                <a:latin typeface="Trebuchet MS"/>
                <a:cs typeface="Trebuchet MS"/>
              </a:rPr>
              <a:t>&lt;</a:t>
            </a:r>
            <a:r>
              <a:rPr sz="7200" b="1" dirty="0">
                <a:solidFill>
                  <a:srgbClr val="001F5F"/>
                </a:solidFill>
                <a:latin typeface="Trebuchet MS"/>
                <a:cs typeface="Trebuchet MS"/>
              </a:rPr>
              <a:t>/</a:t>
            </a:r>
            <a:r>
              <a:rPr sz="7200" b="1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sz="7200" b="1" dirty="0">
                <a:latin typeface="Trebuchet MS"/>
                <a:cs typeface="Trebuchet MS"/>
              </a:rPr>
              <a:t>&gt;</a:t>
            </a:r>
            <a:endParaRPr sz="7200">
              <a:latin typeface="Trebuchet MS"/>
              <a:cs typeface="Trebuchet MS"/>
            </a:endParaRPr>
          </a:p>
          <a:p>
            <a:pPr marL="12700" marR="5080">
              <a:lnSpc>
                <a:spcPts val="2710"/>
              </a:lnSpc>
              <a:spcBef>
                <a:spcPts val="1555"/>
              </a:spcBef>
            </a:pP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22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ta</a:t>
            </a:r>
            <a:r>
              <a:rPr sz="1800" dirty="0">
                <a:latin typeface="Trebuchet MS"/>
                <a:cs typeface="Trebuchet MS"/>
              </a:rPr>
              <a:t>g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5" dirty="0">
                <a:latin typeface="Trebuchet MS"/>
                <a:cs typeface="Trebuchet MS"/>
              </a:rPr>
              <a:t>d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fecha</a:t>
            </a:r>
            <a:r>
              <a:rPr sz="1800" spc="5" dirty="0">
                <a:latin typeface="Trebuchet MS"/>
                <a:cs typeface="Trebuchet MS"/>
              </a:rPr>
              <a:t>m</a:t>
            </a:r>
            <a:r>
              <a:rPr sz="1800" spc="-5" dirty="0">
                <a:latin typeface="Trebuchet MS"/>
                <a:cs typeface="Trebuchet MS"/>
              </a:rPr>
              <a:t>ent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te</a:t>
            </a:r>
            <a:r>
              <a:rPr sz="1800" dirty="0">
                <a:latin typeface="Trebuchet MS"/>
                <a:cs typeface="Trebuchet MS"/>
              </a:rPr>
              <a:t>m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u</a:t>
            </a:r>
            <a:r>
              <a:rPr sz="1800" dirty="0">
                <a:latin typeface="Trebuchet MS"/>
                <a:cs typeface="Trebuchet MS"/>
              </a:rPr>
              <a:t>ma  </a:t>
            </a:r>
            <a:r>
              <a:rPr sz="1800" spc="-5" dirty="0">
                <a:latin typeface="Trebuchet MS"/>
                <a:cs typeface="Trebuchet MS"/>
              </a:rPr>
              <a:t>barra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/</a:t>
            </a:r>
            <a:r>
              <a:rPr sz="2000" b="1" spc="-10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depois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do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símbolo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2400" b="1" spc="-5" dirty="0">
                <a:latin typeface="Trebuchet MS"/>
                <a:cs typeface="Trebuchet MS"/>
              </a:rPr>
              <a:t>&lt;</a:t>
            </a:r>
            <a:r>
              <a:rPr sz="1800" spc="-5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95215" y="4302252"/>
            <a:ext cx="2877185" cy="741045"/>
          </a:xfrm>
          <a:custGeom>
            <a:avLst/>
            <a:gdLst/>
            <a:ahLst/>
            <a:cxnLst/>
            <a:rect l="l" t="t" r="r" b="b"/>
            <a:pathLst>
              <a:path w="2877184" h="741045">
                <a:moveTo>
                  <a:pt x="1367028" y="0"/>
                </a:moveTo>
                <a:lnTo>
                  <a:pt x="1358900" y="17653"/>
                </a:lnTo>
                <a:lnTo>
                  <a:pt x="1350645" y="0"/>
                </a:lnTo>
                <a:lnTo>
                  <a:pt x="90297" y="585089"/>
                </a:lnTo>
                <a:lnTo>
                  <a:pt x="125603" y="534416"/>
                </a:lnTo>
                <a:lnTo>
                  <a:pt x="106553" y="504825"/>
                </a:lnTo>
                <a:lnTo>
                  <a:pt x="99822" y="507492"/>
                </a:lnTo>
                <a:lnTo>
                  <a:pt x="94361" y="512699"/>
                </a:lnTo>
                <a:lnTo>
                  <a:pt x="0" y="648208"/>
                </a:lnTo>
                <a:lnTo>
                  <a:pt x="164337" y="663575"/>
                </a:lnTo>
                <a:lnTo>
                  <a:pt x="171831" y="662813"/>
                </a:lnTo>
                <a:lnTo>
                  <a:pt x="178181" y="659257"/>
                </a:lnTo>
                <a:lnTo>
                  <a:pt x="182880" y="653669"/>
                </a:lnTo>
                <a:lnTo>
                  <a:pt x="185038" y="646430"/>
                </a:lnTo>
                <a:lnTo>
                  <a:pt x="106425" y="619760"/>
                </a:lnTo>
                <a:lnTo>
                  <a:pt x="1358900" y="38227"/>
                </a:lnTo>
                <a:lnTo>
                  <a:pt x="2770886" y="696849"/>
                </a:lnTo>
                <a:lnTo>
                  <a:pt x="2709291" y="702564"/>
                </a:lnTo>
                <a:lnTo>
                  <a:pt x="2702052" y="704723"/>
                </a:lnTo>
                <a:lnTo>
                  <a:pt x="2696337" y="709422"/>
                </a:lnTo>
                <a:lnTo>
                  <a:pt x="2692781" y="715772"/>
                </a:lnTo>
                <a:lnTo>
                  <a:pt x="2692018" y="723265"/>
                </a:lnTo>
                <a:lnTo>
                  <a:pt x="2694178" y="730504"/>
                </a:lnTo>
                <a:lnTo>
                  <a:pt x="2698877" y="736219"/>
                </a:lnTo>
                <a:lnTo>
                  <a:pt x="2705227" y="739775"/>
                </a:lnTo>
                <a:lnTo>
                  <a:pt x="2712719" y="740537"/>
                </a:lnTo>
                <a:lnTo>
                  <a:pt x="2877058" y="725424"/>
                </a:lnTo>
                <a:lnTo>
                  <a:pt x="2783078" y="589915"/>
                </a:lnTo>
                <a:lnTo>
                  <a:pt x="2777616" y="584581"/>
                </a:lnTo>
                <a:lnTo>
                  <a:pt x="2770759" y="581914"/>
                </a:lnTo>
                <a:lnTo>
                  <a:pt x="2763392" y="582041"/>
                </a:lnTo>
                <a:lnTo>
                  <a:pt x="2786888" y="662305"/>
                </a:lnTo>
                <a:lnTo>
                  <a:pt x="1367028" y="0"/>
                </a:lnTo>
                <a:close/>
              </a:path>
            </a:pathLst>
          </a:custGeom>
          <a:solidFill>
            <a:srgbClr val="00AE5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39902"/>
            <a:ext cx="57442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Estrutura</a:t>
            </a:r>
            <a:r>
              <a:rPr sz="3600" spc="-40" dirty="0"/>
              <a:t> </a:t>
            </a:r>
            <a:r>
              <a:rPr sz="3600" spc="-10" dirty="0"/>
              <a:t>básica</a:t>
            </a:r>
            <a:r>
              <a:rPr sz="3600" spc="-45" dirty="0"/>
              <a:t> </a:t>
            </a:r>
            <a:r>
              <a:rPr sz="3600" spc="-5" dirty="0"/>
              <a:t>de</a:t>
            </a:r>
            <a:r>
              <a:rPr sz="3600" spc="-55" dirty="0"/>
              <a:t> </a:t>
            </a:r>
            <a:r>
              <a:rPr sz="3600" spc="-10" dirty="0"/>
              <a:t>uma</a:t>
            </a:r>
            <a:r>
              <a:rPr sz="3600" spc="-30" dirty="0"/>
              <a:t> </a:t>
            </a:r>
            <a:r>
              <a:rPr sz="3600" spc="-5" dirty="0"/>
              <a:t>tag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916939" y="1603375"/>
            <a:ext cx="10372090" cy="158178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05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050" spc="-5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/>
                <a:cs typeface="Trebuchet MS"/>
              </a:rPr>
              <a:t>Atributos</a:t>
            </a:r>
            <a:endParaRPr sz="2600">
              <a:latin typeface="Trebuchet MS"/>
              <a:cs typeface="Trebuchet MS"/>
            </a:endParaRPr>
          </a:p>
          <a:p>
            <a:pPr marL="757555" marR="5080" indent="-288290" algn="just">
              <a:lnSpc>
                <a:spcPct val="91400"/>
              </a:lnSpc>
              <a:spcBef>
                <a:spcPts val="990"/>
              </a:spcBef>
            </a:pPr>
            <a:r>
              <a:rPr sz="175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750" spc="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Atributos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fornecem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informações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adicionais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 sobre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o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conteúdo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de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um 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elemento.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Eles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aparecem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na tag de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abertura do elemento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 são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compostos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de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duas</a:t>
            </a:r>
            <a:r>
              <a:rPr sz="22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partes:</a:t>
            </a:r>
            <a:r>
              <a:rPr sz="22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00AE50"/>
                </a:solidFill>
                <a:latin typeface="Trebuchet MS"/>
                <a:cs typeface="Trebuchet MS"/>
              </a:rPr>
              <a:t>nome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 um</a:t>
            </a:r>
            <a:r>
              <a:rPr sz="22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Trebuchet MS"/>
                <a:cs typeface="Trebuchet MS"/>
              </a:rPr>
              <a:t>valor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separados</a:t>
            </a:r>
            <a:r>
              <a:rPr sz="22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por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sinal</a:t>
            </a:r>
            <a:r>
              <a:rPr sz="22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igual.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4139" y="5397500"/>
            <a:ext cx="9909810" cy="97916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300355" marR="5080" indent="-288290" algn="just">
              <a:lnSpc>
                <a:spcPct val="92300"/>
              </a:lnSpc>
              <a:spcBef>
                <a:spcPts val="300"/>
              </a:spcBef>
            </a:pPr>
            <a:r>
              <a:rPr sz="1750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atribui </a:t>
            </a:r>
            <a:r>
              <a:rPr sz="2200" i="1" spc="-10" dirty="0">
                <a:solidFill>
                  <a:srgbClr val="00AE50"/>
                </a:solidFill>
                <a:latin typeface="Trebuchet MS"/>
                <a:cs typeface="Trebuchet MS"/>
              </a:rPr>
              <a:t>lang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é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usado para indicar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linguagem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usada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neste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elemento. O 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valor</a:t>
            </a:r>
            <a:r>
              <a:rPr sz="2200" spc="1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2200" spc="1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atributo</a:t>
            </a:r>
            <a:r>
              <a:rPr sz="2200" spc="1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i="1" spc="-15" dirty="0">
                <a:solidFill>
                  <a:srgbClr val="00AE50"/>
                </a:solidFill>
                <a:latin typeface="Trebuchet MS"/>
                <a:cs typeface="Trebuchet MS"/>
              </a:rPr>
              <a:t>lang</a:t>
            </a:r>
            <a:r>
              <a:rPr sz="2200" i="1" spc="190" dirty="0">
                <a:solidFill>
                  <a:srgbClr val="00AE5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200" spc="1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2200" spc="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maneira</a:t>
            </a:r>
            <a:r>
              <a:rPr sz="2200" spc="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abreviada</a:t>
            </a:r>
            <a:r>
              <a:rPr sz="2200" spc="1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200" spc="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especificar</a:t>
            </a:r>
            <a:r>
              <a:rPr sz="2200" spc="1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qual</a:t>
            </a:r>
            <a:r>
              <a:rPr sz="2200" spc="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idioma </a:t>
            </a:r>
            <a:r>
              <a:rPr sz="2200" spc="-6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usado</a:t>
            </a:r>
            <a:r>
              <a:rPr sz="22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dentro</a:t>
            </a:r>
            <a:r>
              <a:rPr sz="22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2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todos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os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navegadores</a:t>
            </a:r>
            <a:r>
              <a:rPr sz="2200" spc="-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entendem.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96389" y="3823461"/>
            <a:ext cx="9380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Trebuchet MS"/>
                <a:cs typeface="Trebuchet MS"/>
              </a:rPr>
              <a:t>&lt;p</a:t>
            </a:r>
            <a:r>
              <a:rPr sz="3600" spc="-25" dirty="0">
                <a:latin typeface="Trebuchet MS"/>
                <a:cs typeface="Trebuchet MS"/>
              </a:rPr>
              <a:t> </a:t>
            </a:r>
            <a:r>
              <a:rPr sz="3600" b="1" spc="-25" dirty="0">
                <a:solidFill>
                  <a:srgbClr val="00AE50"/>
                </a:solidFill>
                <a:latin typeface="Trebuchet MS"/>
                <a:cs typeface="Trebuchet MS"/>
              </a:rPr>
              <a:t>lang</a:t>
            </a:r>
            <a:r>
              <a:rPr sz="3600" spc="-25" dirty="0">
                <a:latin typeface="Trebuchet MS"/>
                <a:cs typeface="Trebuchet MS"/>
              </a:rPr>
              <a:t>=“</a:t>
            </a:r>
            <a:r>
              <a:rPr sz="3600" b="1" spc="-25" dirty="0">
                <a:solidFill>
                  <a:srgbClr val="FF0000"/>
                </a:solidFill>
                <a:latin typeface="Trebuchet MS"/>
                <a:cs typeface="Trebuchet MS"/>
              </a:rPr>
              <a:t>pt-br</a:t>
            </a:r>
            <a:r>
              <a:rPr sz="3600" spc="-25" dirty="0">
                <a:latin typeface="Trebuchet MS"/>
                <a:cs typeface="Trebuchet MS"/>
              </a:rPr>
              <a:t>”&gt;Parágrafo</a:t>
            </a:r>
            <a:r>
              <a:rPr sz="3600" spc="-45" dirty="0">
                <a:latin typeface="Trebuchet MS"/>
                <a:cs typeface="Trebuchet MS"/>
              </a:rPr>
              <a:t> </a:t>
            </a:r>
            <a:r>
              <a:rPr sz="3600" spc="-5" dirty="0">
                <a:latin typeface="Trebuchet MS"/>
                <a:cs typeface="Trebuchet MS"/>
              </a:rPr>
              <a:t>em</a:t>
            </a:r>
            <a:r>
              <a:rPr sz="3600" spc="-20" dirty="0">
                <a:latin typeface="Trebuchet MS"/>
                <a:cs typeface="Trebuchet MS"/>
              </a:rPr>
              <a:t> </a:t>
            </a:r>
            <a:r>
              <a:rPr sz="3600" spc="-5" dirty="0">
                <a:latin typeface="Trebuchet MS"/>
                <a:cs typeface="Trebuchet MS"/>
              </a:rPr>
              <a:t>português&lt;/p&gt;</a:t>
            </a:r>
            <a:endParaRPr sz="3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39902"/>
            <a:ext cx="57442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Estrutura</a:t>
            </a:r>
            <a:r>
              <a:rPr sz="3600" spc="-40" dirty="0"/>
              <a:t> </a:t>
            </a:r>
            <a:r>
              <a:rPr sz="3600" spc="-10" dirty="0"/>
              <a:t>básica</a:t>
            </a:r>
            <a:r>
              <a:rPr sz="3600" spc="-45" dirty="0"/>
              <a:t> </a:t>
            </a:r>
            <a:r>
              <a:rPr sz="3600" spc="-5" dirty="0"/>
              <a:t>de</a:t>
            </a:r>
            <a:r>
              <a:rPr sz="3600" spc="-55" dirty="0"/>
              <a:t> </a:t>
            </a:r>
            <a:r>
              <a:rPr sz="3600" spc="-10" dirty="0"/>
              <a:t>uma</a:t>
            </a:r>
            <a:r>
              <a:rPr sz="3600" spc="-30" dirty="0"/>
              <a:t> </a:t>
            </a:r>
            <a:r>
              <a:rPr sz="3600" spc="-5" dirty="0"/>
              <a:t>tag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1031239" y="1525540"/>
            <a:ext cx="10349230" cy="499303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25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250" spc="-21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ri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sz="2800" spc="-25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tos</a:t>
            </a:r>
            <a:endParaRPr sz="2800" dirty="0">
              <a:latin typeface="Trebuchet MS"/>
              <a:cs typeface="Trebuchet MS"/>
            </a:endParaRPr>
          </a:p>
          <a:p>
            <a:pPr marL="757555" marR="5080" indent="-288290">
              <a:lnSpc>
                <a:spcPct val="102499"/>
              </a:lnSpc>
              <a:spcBef>
                <a:spcPts val="965"/>
              </a:spcBef>
              <a:tabLst>
                <a:tab pos="1101725" algn="l"/>
                <a:tab pos="1991995" algn="l"/>
                <a:tab pos="2464435" algn="l"/>
                <a:tab pos="3711575" algn="l"/>
                <a:tab pos="4671695" algn="l"/>
                <a:tab pos="5314950" algn="l"/>
                <a:tab pos="5996305" algn="l"/>
                <a:tab pos="6470015" algn="l"/>
                <a:tab pos="8148320" algn="l"/>
                <a:tab pos="9009380" algn="l"/>
              </a:tabLst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900" spc="-204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nome	do	atributo	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indica	que	tipo	de	informação	extra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2400" spc="1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está </a:t>
            </a:r>
            <a:r>
              <a:rPr sz="2400" spc="-7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fornecendo sobre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conteúdo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do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elemento.</a:t>
            </a:r>
            <a:endParaRPr sz="2400" dirty="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955"/>
              </a:spcBef>
            </a:pPr>
            <a:r>
              <a:rPr sz="16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600" spc="-254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ve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cr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et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ra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ú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8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900" spc="-204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B0F0"/>
                </a:solidFill>
                <a:latin typeface="Trebuchet MS"/>
                <a:cs typeface="Trebuchet MS"/>
              </a:rPr>
              <a:t>va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l</a:t>
            </a:r>
            <a:r>
              <a:rPr sz="2400" spc="-20" dirty="0">
                <a:solidFill>
                  <a:srgbClr val="00B0F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00B0F0"/>
                </a:solidFill>
                <a:latin typeface="Trebuchet MS"/>
                <a:cs typeface="Trebuchet MS"/>
              </a:rPr>
              <a:t>r</a:t>
            </a:r>
            <a:r>
              <a:rPr sz="2400" spc="25" dirty="0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B0F0"/>
                </a:solidFill>
                <a:latin typeface="Trebuchet MS"/>
                <a:cs typeface="Trebuchet MS"/>
              </a:rPr>
              <a:t>é</a:t>
            </a:r>
            <a:r>
              <a:rPr sz="2400" spc="20" dirty="0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B0F0"/>
                </a:solidFill>
                <a:latin typeface="Trebuchet MS"/>
                <a:cs typeface="Trebuchet MS"/>
              </a:rPr>
              <a:t>a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 inf</a:t>
            </a:r>
            <a:r>
              <a:rPr sz="2400" spc="-20" dirty="0">
                <a:solidFill>
                  <a:srgbClr val="00B0F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00B0F0"/>
                </a:solidFill>
                <a:latin typeface="Trebuchet MS"/>
                <a:cs typeface="Trebuchet MS"/>
              </a:rPr>
              <a:t>r</a:t>
            </a:r>
            <a:r>
              <a:rPr sz="2400" spc="10" dirty="0">
                <a:solidFill>
                  <a:srgbClr val="00B0F0"/>
                </a:solidFill>
                <a:latin typeface="Trebuchet MS"/>
                <a:cs typeface="Trebuchet MS"/>
              </a:rPr>
              <a:t>m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a</a:t>
            </a:r>
            <a:r>
              <a:rPr sz="2400" spc="-15" dirty="0">
                <a:solidFill>
                  <a:srgbClr val="00B0F0"/>
                </a:solidFill>
                <a:latin typeface="Trebuchet MS"/>
                <a:cs typeface="Trebuchet MS"/>
              </a:rPr>
              <a:t>ç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ã</a:t>
            </a:r>
            <a:r>
              <a:rPr sz="2400" dirty="0">
                <a:solidFill>
                  <a:srgbClr val="00B0F0"/>
                </a:solidFill>
                <a:latin typeface="Trebuchet MS"/>
                <a:cs typeface="Trebuchet MS"/>
              </a:rPr>
              <a:t>o</a:t>
            </a:r>
            <a:r>
              <a:rPr sz="2400" spc="5" dirty="0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400" spc="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f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ração</a:t>
            </a:r>
            <a:r>
              <a:rPr sz="2400" spc="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at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ri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1025"/>
              </a:spcBef>
            </a:pPr>
            <a:r>
              <a:rPr sz="16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600" spc="-254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ve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co</a:t>
            </a:r>
            <a:r>
              <a:rPr sz="2000" spc="-20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oca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0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en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re</a:t>
            </a:r>
            <a:r>
              <a:rPr sz="20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as</a:t>
            </a:r>
            <a:r>
              <a:rPr sz="2000" spc="-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dup</a:t>
            </a:r>
            <a:r>
              <a:rPr sz="2000" spc="-20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as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8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900" spc="-204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Atrib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4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diferente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4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valores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diferentes.</a:t>
            </a:r>
            <a:endParaRPr sz="2400" dirty="0">
              <a:latin typeface="Trebuchet MS"/>
              <a:cs typeface="Trebuchet MS"/>
            </a:endParaRPr>
          </a:p>
          <a:p>
            <a:pPr marL="1114425">
              <a:lnSpc>
                <a:spcPct val="100000"/>
              </a:lnSpc>
              <a:spcBef>
                <a:spcPts val="1440"/>
              </a:spcBef>
            </a:pPr>
            <a:r>
              <a:rPr sz="3600" b="1" spc="-5" dirty="0">
                <a:latin typeface="Trebuchet MS"/>
                <a:cs typeface="Trebuchet MS"/>
              </a:rPr>
              <a:t>&lt;p</a:t>
            </a:r>
            <a:r>
              <a:rPr sz="3600" b="1" spc="20" dirty="0">
                <a:latin typeface="Trebuchet MS"/>
                <a:cs typeface="Trebuchet MS"/>
              </a:rPr>
              <a:t> </a:t>
            </a:r>
            <a:r>
              <a:rPr sz="3600" b="1" spc="-25" dirty="0">
                <a:solidFill>
                  <a:srgbClr val="00AE50"/>
                </a:solidFill>
                <a:latin typeface="Trebuchet MS"/>
                <a:cs typeface="Trebuchet MS"/>
              </a:rPr>
              <a:t>lang</a:t>
            </a:r>
            <a:r>
              <a:rPr sz="3600" b="1" spc="-25" dirty="0">
                <a:latin typeface="Trebuchet MS"/>
                <a:cs typeface="Trebuchet MS"/>
              </a:rPr>
              <a:t>="</a:t>
            </a:r>
            <a:r>
              <a:rPr sz="3600" b="1" spc="-25" dirty="0">
                <a:solidFill>
                  <a:srgbClr val="FF0000"/>
                </a:solidFill>
                <a:latin typeface="Trebuchet MS"/>
                <a:cs typeface="Trebuchet MS"/>
              </a:rPr>
              <a:t>en-us</a:t>
            </a:r>
            <a:r>
              <a:rPr sz="3600" b="1" spc="-25" dirty="0">
                <a:latin typeface="Trebuchet MS"/>
                <a:cs typeface="Trebuchet MS"/>
              </a:rPr>
              <a:t>"&gt;</a:t>
            </a:r>
            <a:r>
              <a:rPr sz="3600" spc="-25" dirty="0">
                <a:latin typeface="Trebuchet MS"/>
                <a:cs typeface="Trebuchet MS"/>
              </a:rPr>
              <a:t>Paragraph</a:t>
            </a:r>
            <a:r>
              <a:rPr sz="3600" spc="35" dirty="0">
                <a:latin typeface="Trebuchet MS"/>
                <a:cs typeface="Trebuchet MS"/>
              </a:rPr>
              <a:t> </a:t>
            </a:r>
            <a:r>
              <a:rPr sz="3600" dirty="0">
                <a:latin typeface="Trebuchet MS"/>
                <a:cs typeface="Trebuchet MS"/>
              </a:rPr>
              <a:t>in</a:t>
            </a:r>
            <a:r>
              <a:rPr sz="3600" spc="-25" dirty="0">
                <a:latin typeface="Trebuchet MS"/>
                <a:cs typeface="Trebuchet MS"/>
              </a:rPr>
              <a:t> </a:t>
            </a:r>
            <a:r>
              <a:rPr sz="3600" spc="-15" dirty="0">
                <a:latin typeface="Trebuchet MS"/>
                <a:cs typeface="Trebuchet MS"/>
              </a:rPr>
              <a:t>English</a:t>
            </a:r>
            <a:r>
              <a:rPr sz="3600" b="1" spc="-15" dirty="0">
                <a:latin typeface="Trebuchet MS"/>
                <a:cs typeface="Trebuchet MS"/>
              </a:rPr>
              <a:t>&lt;/p&gt;</a:t>
            </a:r>
            <a:endParaRPr sz="3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39902"/>
            <a:ext cx="57442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Estrutura</a:t>
            </a:r>
            <a:r>
              <a:rPr sz="3600" spc="-40" dirty="0"/>
              <a:t> </a:t>
            </a:r>
            <a:r>
              <a:rPr sz="3600" spc="-10" dirty="0"/>
              <a:t>básica</a:t>
            </a:r>
            <a:r>
              <a:rPr sz="3600" spc="-45" dirty="0"/>
              <a:t> </a:t>
            </a:r>
            <a:r>
              <a:rPr sz="3600" spc="-5" dirty="0"/>
              <a:t>de</a:t>
            </a:r>
            <a:r>
              <a:rPr sz="3600" spc="-55" dirty="0"/>
              <a:t> </a:t>
            </a:r>
            <a:r>
              <a:rPr sz="3600" spc="-10" dirty="0"/>
              <a:t>uma</a:t>
            </a:r>
            <a:r>
              <a:rPr sz="3600" spc="-30" dirty="0"/>
              <a:t> </a:t>
            </a:r>
            <a:r>
              <a:rPr sz="3600" spc="-5" dirty="0"/>
              <a:t>tag</a:t>
            </a:r>
            <a:endParaRPr sz="3600" dirty="0"/>
          </a:p>
        </p:txBody>
      </p:sp>
      <p:sp>
        <p:nvSpPr>
          <p:cNvPr id="4" name="object 4"/>
          <p:cNvSpPr txBox="1"/>
          <p:nvPr/>
        </p:nvSpPr>
        <p:spPr>
          <a:xfrm>
            <a:off x="1031239" y="1613932"/>
            <a:ext cx="10368280" cy="4124206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25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250" spc="-21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ri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sz="2800" spc="-25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tos</a:t>
            </a:r>
            <a:endParaRPr sz="2800" dirty="0">
              <a:latin typeface="Trebuchet MS"/>
              <a:cs typeface="Trebuchet MS"/>
            </a:endParaRPr>
          </a:p>
          <a:p>
            <a:pPr marL="757555" marR="5080" indent="-288290" algn="just">
              <a:lnSpc>
                <a:spcPct val="101299"/>
              </a:lnSpc>
              <a:spcBef>
                <a:spcPts val="1000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40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00B0F0"/>
                </a:solidFill>
                <a:latin typeface="Trebuchet MS"/>
                <a:cs typeface="Trebuchet MS"/>
              </a:rPr>
              <a:t>maioria</a:t>
            </a:r>
            <a:r>
              <a:rPr sz="2400" spc="6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dos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atributos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só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pode</a:t>
            </a:r>
            <a:r>
              <a:rPr sz="2400" spc="6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ser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usada</a:t>
            </a:r>
            <a:r>
              <a:rPr sz="2400" spc="6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em</a:t>
            </a:r>
            <a:r>
              <a:rPr sz="2400" spc="6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determinados 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elementos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, embora </a:t>
            </a:r>
            <a:r>
              <a:rPr sz="2400" b="1" spc="-10" dirty="0">
                <a:solidFill>
                  <a:srgbClr val="00B0F0"/>
                </a:solidFill>
                <a:latin typeface="Trebuchet MS"/>
                <a:cs typeface="Trebuchet MS"/>
              </a:rPr>
              <a:t>alguns </a:t>
            </a:r>
            <a:r>
              <a:rPr sz="2400" b="1" spc="-5" dirty="0">
                <a:solidFill>
                  <a:srgbClr val="00B0F0"/>
                </a:solidFill>
                <a:latin typeface="Trebuchet MS"/>
                <a:cs typeface="Trebuchet MS"/>
              </a:rPr>
              <a:t>atributos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podem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ser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usados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em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todos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os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elemento.</a:t>
            </a:r>
            <a:endParaRPr sz="2400" dirty="0">
              <a:latin typeface="Trebuchet MS"/>
              <a:cs typeface="Trebuchet MS"/>
            </a:endParaRPr>
          </a:p>
          <a:p>
            <a:pPr marL="757555" marR="91440" indent="-288290" algn="just">
              <a:lnSpc>
                <a:spcPct val="102899"/>
              </a:lnSpc>
              <a:spcBef>
                <a:spcPts val="840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maioria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dos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valores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atributos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pré-definida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 ou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segue</a:t>
            </a:r>
            <a:r>
              <a:rPr sz="240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um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formato</a:t>
            </a:r>
            <a:r>
              <a:rPr sz="2400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estipulado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00" dirty="0">
              <a:latin typeface="Trebuchet MS"/>
              <a:cs typeface="Trebuchet MS"/>
            </a:endParaRPr>
          </a:p>
          <a:p>
            <a:pPr marL="1000125">
              <a:lnSpc>
                <a:spcPct val="100000"/>
              </a:lnSpc>
            </a:pPr>
            <a:r>
              <a:rPr sz="3600" b="1" dirty="0">
                <a:latin typeface="Trebuchet MS"/>
                <a:cs typeface="Trebuchet MS"/>
              </a:rPr>
              <a:t>&lt;p</a:t>
            </a:r>
            <a:r>
              <a:rPr sz="3600" b="1" spc="10" dirty="0">
                <a:latin typeface="Trebuchet MS"/>
                <a:cs typeface="Trebuchet MS"/>
              </a:rPr>
              <a:t> </a:t>
            </a:r>
            <a:r>
              <a:rPr sz="3600" b="1" spc="-25" dirty="0">
                <a:solidFill>
                  <a:srgbClr val="00AE50"/>
                </a:solidFill>
                <a:latin typeface="Trebuchet MS"/>
                <a:cs typeface="Trebuchet MS"/>
              </a:rPr>
              <a:t>lang</a:t>
            </a:r>
            <a:r>
              <a:rPr sz="3600" b="1" spc="-25" dirty="0">
                <a:latin typeface="Trebuchet MS"/>
                <a:cs typeface="Trebuchet MS"/>
              </a:rPr>
              <a:t>="</a:t>
            </a:r>
            <a:r>
              <a:rPr sz="3600" b="1" spc="-25" dirty="0">
                <a:solidFill>
                  <a:srgbClr val="FF0000"/>
                </a:solidFill>
                <a:latin typeface="Trebuchet MS"/>
                <a:cs typeface="Trebuchet MS"/>
              </a:rPr>
              <a:t>en-us</a:t>
            </a:r>
            <a:r>
              <a:rPr sz="3600" b="1" spc="-25" dirty="0">
                <a:latin typeface="Trebuchet MS"/>
                <a:cs typeface="Trebuchet MS"/>
              </a:rPr>
              <a:t>"&gt;</a:t>
            </a:r>
            <a:r>
              <a:rPr sz="3600" spc="-25" dirty="0">
                <a:latin typeface="Trebuchet MS"/>
                <a:cs typeface="Trebuchet MS"/>
              </a:rPr>
              <a:t>Paragraph</a:t>
            </a:r>
            <a:r>
              <a:rPr sz="3600" spc="5" dirty="0">
                <a:latin typeface="Trebuchet MS"/>
                <a:cs typeface="Trebuchet MS"/>
              </a:rPr>
              <a:t> </a:t>
            </a:r>
            <a:r>
              <a:rPr sz="3600" dirty="0">
                <a:latin typeface="Trebuchet MS"/>
                <a:cs typeface="Trebuchet MS"/>
              </a:rPr>
              <a:t>in</a:t>
            </a:r>
            <a:r>
              <a:rPr sz="3600" spc="-20" dirty="0">
                <a:latin typeface="Trebuchet MS"/>
                <a:cs typeface="Trebuchet MS"/>
              </a:rPr>
              <a:t> </a:t>
            </a:r>
            <a:r>
              <a:rPr sz="3600" spc="-5" dirty="0">
                <a:latin typeface="Trebuchet MS"/>
                <a:cs typeface="Trebuchet MS"/>
              </a:rPr>
              <a:t>English</a:t>
            </a:r>
            <a:r>
              <a:rPr sz="3600" b="1" spc="-5" dirty="0">
                <a:latin typeface="Trebuchet MS"/>
                <a:cs typeface="Trebuchet MS"/>
              </a:rPr>
              <a:t>&lt;/p&gt;</a:t>
            </a:r>
            <a:endParaRPr sz="3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49300"/>
            <a:ext cx="57442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Estrutura</a:t>
            </a:r>
            <a:r>
              <a:rPr sz="3600" spc="-40" dirty="0"/>
              <a:t> </a:t>
            </a:r>
            <a:r>
              <a:rPr sz="3600" spc="-10" dirty="0"/>
              <a:t>básica</a:t>
            </a:r>
            <a:r>
              <a:rPr sz="3600" spc="-45" dirty="0"/>
              <a:t> </a:t>
            </a:r>
            <a:r>
              <a:rPr sz="3600" spc="-5" dirty="0"/>
              <a:t>de</a:t>
            </a:r>
            <a:r>
              <a:rPr sz="3600" spc="-55" dirty="0"/>
              <a:t> </a:t>
            </a:r>
            <a:r>
              <a:rPr sz="3600" spc="-10" dirty="0"/>
              <a:t>uma</a:t>
            </a:r>
            <a:r>
              <a:rPr sz="3600" spc="-30" dirty="0"/>
              <a:t> </a:t>
            </a:r>
            <a:r>
              <a:rPr sz="3600" spc="-5" dirty="0"/>
              <a:t>tag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1211986" y="1905711"/>
            <a:ext cx="11341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Resumo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5394" y="3522421"/>
            <a:ext cx="96405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0000"/>
                </a:solidFill>
                <a:latin typeface="Trebuchet MS"/>
                <a:cs typeface="Trebuchet MS"/>
              </a:rPr>
              <a:t>&lt;a</a:t>
            </a:r>
            <a:r>
              <a:rPr sz="320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25" dirty="0">
                <a:solidFill>
                  <a:srgbClr val="6E2E9F"/>
                </a:solidFill>
                <a:latin typeface="Trebuchet MS"/>
                <a:cs typeface="Trebuchet MS"/>
              </a:rPr>
              <a:t>href</a:t>
            </a:r>
            <a:r>
              <a:rPr sz="3200" spc="-25" dirty="0">
                <a:latin typeface="Trebuchet MS"/>
                <a:cs typeface="Trebuchet MS"/>
              </a:rPr>
              <a:t>="</a:t>
            </a:r>
            <a:r>
              <a:rPr sz="3200" spc="-25" dirty="0">
                <a:solidFill>
                  <a:srgbClr val="0000FF"/>
                </a:solidFill>
                <a:latin typeface="Trebuchet MS"/>
                <a:cs typeface="Trebuchet MS"/>
              </a:rPr>
              <a:t>https:/</a:t>
            </a:r>
            <a:r>
              <a:rPr sz="32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/ww</a:t>
            </a:r>
            <a:r>
              <a:rPr sz="3200" spc="-25" dirty="0">
                <a:solidFill>
                  <a:srgbClr val="0000FF"/>
                </a:solidFill>
                <a:latin typeface="Trebuchet MS"/>
                <a:cs typeface="Trebuchet MS"/>
              </a:rPr>
              <a:t>w</a:t>
            </a:r>
            <a:r>
              <a:rPr sz="32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.google.com</a:t>
            </a:r>
            <a:r>
              <a:rPr sz="3200" spc="-25" dirty="0">
                <a:latin typeface="Trebuchet MS"/>
                <a:cs typeface="Trebuchet MS"/>
              </a:rPr>
              <a:t>"</a:t>
            </a:r>
            <a:r>
              <a:rPr sz="3200" spc="-25" dirty="0">
                <a:solidFill>
                  <a:srgbClr val="FF0000"/>
                </a:solidFill>
                <a:latin typeface="Trebuchet MS"/>
                <a:cs typeface="Trebuchet MS"/>
              </a:rPr>
              <a:t>&gt;</a:t>
            </a:r>
            <a:r>
              <a:rPr sz="3200" spc="-25" dirty="0">
                <a:latin typeface="Trebuchet MS"/>
                <a:cs typeface="Trebuchet MS"/>
              </a:rPr>
              <a:t>Clique</a:t>
            </a:r>
            <a:r>
              <a:rPr sz="3200" spc="50" dirty="0">
                <a:latin typeface="Trebuchet MS"/>
                <a:cs typeface="Trebuchet MS"/>
              </a:rPr>
              <a:t> </a:t>
            </a:r>
            <a:r>
              <a:rPr sz="3200" spc="-5" dirty="0">
                <a:latin typeface="Trebuchet MS"/>
                <a:cs typeface="Trebuchet MS"/>
              </a:rPr>
              <a:t>aqui!</a:t>
            </a:r>
            <a:r>
              <a:rPr sz="3200" spc="-5" dirty="0">
                <a:solidFill>
                  <a:srgbClr val="FF0000"/>
                </a:solidFill>
                <a:latin typeface="Trebuchet MS"/>
                <a:cs typeface="Trebuchet MS"/>
              </a:rPr>
              <a:t>&lt;/a&gt;</a:t>
            </a:r>
            <a:endParaRPr sz="3200" dirty="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331466" y="2116582"/>
            <a:ext cx="9037955" cy="1620520"/>
            <a:chOff x="2331466" y="2116582"/>
            <a:chExt cx="9037955" cy="1620520"/>
          </a:xfrm>
        </p:grpSpPr>
        <p:sp>
          <p:nvSpPr>
            <p:cNvPr id="7" name="object 7"/>
            <p:cNvSpPr/>
            <p:nvPr/>
          </p:nvSpPr>
          <p:spPr>
            <a:xfrm>
              <a:off x="10567416" y="2122932"/>
              <a:ext cx="795655" cy="1513840"/>
            </a:xfrm>
            <a:custGeom>
              <a:avLst/>
              <a:gdLst/>
              <a:ahLst/>
              <a:cxnLst/>
              <a:rect l="l" t="t" r="r" b="b"/>
              <a:pathLst>
                <a:path w="795654" h="1513839">
                  <a:moveTo>
                    <a:pt x="0" y="1513331"/>
                  </a:moveTo>
                  <a:lnTo>
                    <a:pt x="0" y="1218818"/>
                  </a:lnTo>
                  <a:lnTo>
                    <a:pt x="0" y="978280"/>
                  </a:lnTo>
                  <a:lnTo>
                    <a:pt x="0" y="816101"/>
                  </a:lnTo>
                  <a:lnTo>
                    <a:pt x="0" y="756665"/>
                  </a:lnTo>
                  <a:lnTo>
                    <a:pt x="414781" y="756665"/>
                  </a:lnTo>
                  <a:lnTo>
                    <a:pt x="414781" y="697229"/>
                  </a:lnTo>
                  <a:lnTo>
                    <a:pt x="414781" y="535051"/>
                  </a:lnTo>
                  <a:lnTo>
                    <a:pt x="414781" y="294513"/>
                  </a:lnTo>
                  <a:lnTo>
                    <a:pt x="414781" y="0"/>
                  </a:lnTo>
                  <a:lnTo>
                    <a:pt x="414781" y="294513"/>
                  </a:lnTo>
                  <a:lnTo>
                    <a:pt x="414781" y="535051"/>
                  </a:lnTo>
                  <a:lnTo>
                    <a:pt x="414781" y="697229"/>
                  </a:lnTo>
                  <a:lnTo>
                    <a:pt x="414781" y="756665"/>
                  </a:lnTo>
                  <a:lnTo>
                    <a:pt x="795527" y="756665"/>
                  </a:lnTo>
                  <a:lnTo>
                    <a:pt x="795527" y="816101"/>
                  </a:lnTo>
                  <a:lnTo>
                    <a:pt x="795527" y="978280"/>
                  </a:lnTo>
                  <a:lnTo>
                    <a:pt x="795527" y="1218818"/>
                  </a:lnTo>
                  <a:lnTo>
                    <a:pt x="795527" y="1513331"/>
                  </a:lnTo>
                </a:path>
              </a:pathLst>
            </a:custGeom>
            <a:ln w="12698">
              <a:solidFill>
                <a:srgbClr val="90C2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37816" y="3441192"/>
              <a:ext cx="5027930" cy="289560"/>
            </a:xfrm>
            <a:custGeom>
              <a:avLst/>
              <a:gdLst/>
              <a:ahLst/>
              <a:cxnLst/>
              <a:rect l="l" t="t" r="r" b="b"/>
              <a:pathLst>
                <a:path w="5027930" h="289560">
                  <a:moveTo>
                    <a:pt x="0" y="289560"/>
                  </a:moveTo>
                  <a:lnTo>
                    <a:pt x="1142" y="206883"/>
                  </a:lnTo>
                  <a:lnTo>
                    <a:pt x="4190" y="135000"/>
                  </a:lnTo>
                  <a:lnTo>
                    <a:pt x="8889" y="78359"/>
                  </a:lnTo>
                  <a:lnTo>
                    <a:pt x="21843" y="27940"/>
                  </a:lnTo>
                  <a:lnTo>
                    <a:pt x="742822" y="27940"/>
                  </a:lnTo>
                  <a:lnTo>
                    <a:pt x="749807" y="41275"/>
                  </a:lnTo>
                  <a:lnTo>
                    <a:pt x="755776" y="78359"/>
                  </a:lnTo>
                  <a:lnTo>
                    <a:pt x="760476" y="135000"/>
                  </a:lnTo>
                  <a:lnTo>
                    <a:pt x="763523" y="206883"/>
                  </a:lnTo>
                  <a:lnTo>
                    <a:pt x="764666" y="289560"/>
                  </a:lnTo>
                </a:path>
                <a:path w="5027930" h="289560">
                  <a:moveTo>
                    <a:pt x="1166113" y="208280"/>
                  </a:moveTo>
                  <a:lnTo>
                    <a:pt x="1167510" y="127254"/>
                  </a:lnTo>
                  <a:lnTo>
                    <a:pt x="1171194" y="60960"/>
                  </a:lnTo>
                  <a:lnTo>
                    <a:pt x="1176655" y="16383"/>
                  </a:lnTo>
                  <a:lnTo>
                    <a:pt x="1183512" y="0"/>
                  </a:lnTo>
                  <a:lnTo>
                    <a:pt x="5010277" y="0"/>
                  </a:lnTo>
                  <a:lnTo>
                    <a:pt x="5017008" y="16383"/>
                  </a:lnTo>
                  <a:lnTo>
                    <a:pt x="5022595" y="60960"/>
                  </a:lnTo>
                  <a:lnTo>
                    <a:pt x="5026279" y="127254"/>
                  </a:lnTo>
                  <a:lnTo>
                    <a:pt x="5027676" y="208280"/>
                  </a:lnTo>
                </a:path>
              </a:pathLst>
            </a:custGeom>
            <a:ln w="12700">
              <a:solidFill>
                <a:srgbClr val="6E2E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210558" y="1693926"/>
            <a:ext cx="1600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15" dirty="0">
                <a:latin typeface="Trebuchet MS"/>
                <a:cs typeface="Trebuchet MS"/>
              </a:rPr>
              <a:t>T</a:t>
            </a:r>
            <a:r>
              <a:rPr sz="1800" spc="-85" dirty="0">
                <a:latin typeface="Trebuchet MS"/>
                <a:cs typeface="Trebuchet MS"/>
              </a:rPr>
              <a:t>a</a:t>
            </a:r>
            <a:r>
              <a:rPr sz="1800" dirty="0">
                <a:latin typeface="Trebuchet MS"/>
                <a:cs typeface="Trebuchet MS"/>
              </a:rPr>
              <a:t>g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5" dirty="0">
                <a:latin typeface="Trebuchet MS"/>
                <a:cs typeface="Trebuchet MS"/>
              </a:rPr>
              <a:t>d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a</a:t>
            </a:r>
            <a:r>
              <a:rPr sz="1800" spc="5" dirty="0">
                <a:latin typeface="Trebuchet MS"/>
                <a:cs typeface="Trebuchet MS"/>
              </a:rPr>
              <a:t>b</a:t>
            </a:r>
            <a:r>
              <a:rPr sz="1800" spc="-5" dirty="0">
                <a:latin typeface="Trebuchet MS"/>
                <a:cs typeface="Trebuchet MS"/>
              </a:rPr>
              <a:t>er</a:t>
            </a:r>
            <a:r>
              <a:rPr sz="1800" spc="-10" dirty="0">
                <a:latin typeface="Trebuchet MS"/>
                <a:cs typeface="Trebuchet MS"/>
              </a:rPr>
              <a:t>t</a:t>
            </a:r>
            <a:r>
              <a:rPr sz="1800" spc="-5" dirty="0">
                <a:latin typeface="Trebuchet MS"/>
                <a:cs typeface="Trebuchet MS"/>
              </a:rPr>
              <a:t>ura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86000" y="2895600"/>
            <a:ext cx="129540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rebuchet MS"/>
                <a:cs typeface="Trebuchet MS"/>
              </a:rPr>
              <a:t>Nome</a:t>
            </a:r>
            <a:r>
              <a:rPr spc="-120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do  </a:t>
            </a:r>
            <a:r>
              <a:rPr spc="-10" dirty="0">
                <a:solidFill>
                  <a:srgbClr val="FF0000"/>
                </a:solidFill>
                <a:latin typeface="Trebuchet MS"/>
                <a:cs typeface="Trebuchet MS"/>
              </a:rPr>
              <a:t>atributo</a:t>
            </a:r>
            <a:endParaRPr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95800" y="2826258"/>
            <a:ext cx="106337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85" dirty="0">
                <a:latin typeface="Trebuchet MS"/>
                <a:cs typeface="Trebuchet MS"/>
              </a:rPr>
              <a:t>V</a:t>
            </a:r>
            <a:r>
              <a:rPr sz="2000" spc="-35" dirty="0">
                <a:latin typeface="Trebuchet MS"/>
                <a:cs typeface="Trebuchet MS"/>
              </a:rPr>
              <a:t>a</a:t>
            </a:r>
            <a:r>
              <a:rPr sz="2000" spc="-40" dirty="0">
                <a:latin typeface="Trebuchet MS"/>
                <a:cs typeface="Trebuchet MS"/>
              </a:rPr>
              <a:t>l</a:t>
            </a:r>
            <a:r>
              <a:rPr sz="2000" spc="-45" dirty="0">
                <a:latin typeface="Trebuchet MS"/>
                <a:cs typeface="Trebuchet MS"/>
              </a:rPr>
              <a:t>o</a:t>
            </a:r>
            <a:r>
              <a:rPr sz="2000" dirty="0">
                <a:latin typeface="Trebuchet MS"/>
                <a:cs typeface="Trebuchet MS"/>
              </a:rPr>
              <a:t>r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 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at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ib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uto</a:t>
            </a:r>
            <a:endParaRPr sz="20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51076" y="4223003"/>
            <a:ext cx="8808720" cy="584200"/>
          </a:xfrm>
          <a:custGeom>
            <a:avLst/>
            <a:gdLst/>
            <a:ahLst/>
            <a:cxnLst/>
            <a:rect l="l" t="t" r="r" b="b"/>
            <a:pathLst>
              <a:path w="8808720" h="584200">
                <a:moveTo>
                  <a:pt x="8808720" y="0"/>
                </a:moveTo>
                <a:lnTo>
                  <a:pt x="8796020" y="62611"/>
                </a:lnTo>
                <a:lnTo>
                  <a:pt x="8759952" y="120523"/>
                </a:lnTo>
                <a:lnTo>
                  <a:pt x="8702929" y="172339"/>
                </a:lnTo>
                <a:lnTo>
                  <a:pt x="8667496" y="195580"/>
                </a:lnTo>
                <a:lnTo>
                  <a:pt x="8627745" y="216662"/>
                </a:lnTo>
                <a:lnTo>
                  <a:pt x="8584184" y="235585"/>
                </a:lnTo>
                <a:lnTo>
                  <a:pt x="8537194" y="251968"/>
                </a:lnTo>
                <a:lnTo>
                  <a:pt x="8486902" y="265811"/>
                </a:lnTo>
                <a:lnTo>
                  <a:pt x="8433689" y="276987"/>
                </a:lnTo>
                <a:lnTo>
                  <a:pt x="8378063" y="285115"/>
                </a:lnTo>
                <a:lnTo>
                  <a:pt x="8320151" y="290195"/>
                </a:lnTo>
                <a:lnTo>
                  <a:pt x="8260460" y="291846"/>
                </a:lnTo>
                <a:lnTo>
                  <a:pt x="4764024" y="291846"/>
                </a:lnTo>
                <a:lnTo>
                  <a:pt x="4704334" y="293497"/>
                </a:lnTo>
                <a:lnTo>
                  <a:pt x="4646422" y="298577"/>
                </a:lnTo>
                <a:lnTo>
                  <a:pt x="4590796" y="306705"/>
                </a:lnTo>
                <a:lnTo>
                  <a:pt x="4537583" y="317881"/>
                </a:lnTo>
                <a:lnTo>
                  <a:pt x="4487291" y="331724"/>
                </a:lnTo>
                <a:lnTo>
                  <a:pt x="4440301" y="348107"/>
                </a:lnTo>
                <a:lnTo>
                  <a:pt x="4396740" y="367030"/>
                </a:lnTo>
                <a:lnTo>
                  <a:pt x="4356989" y="388112"/>
                </a:lnTo>
                <a:lnTo>
                  <a:pt x="4321556" y="411353"/>
                </a:lnTo>
                <a:lnTo>
                  <a:pt x="4290568" y="436372"/>
                </a:lnTo>
                <a:lnTo>
                  <a:pt x="4243705" y="491490"/>
                </a:lnTo>
                <a:lnTo>
                  <a:pt x="4218940" y="551942"/>
                </a:lnTo>
                <a:lnTo>
                  <a:pt x="4215765" y="583692"/>
                </a:lnTo>
                <a:lnTo>
                  <a:pt x="4212590" y="551942"/>
                </a:lnTo>
                <a:lnTo>
                  <a:pt x="4187825" y="491490"/>
                </a:lnTo>
                <a:lnTo>
                  <a:pt x="4140962" y="436372"/>
                </a:lnTo>
                <a:lnTo>
                  <a:pt x="4109974" y="411353"/>
                </a:lnTo>
                <a:lnTo>
                  <a:pt x="4074541" y="388112"/>
                </a:lnTo>
                <a:lnTo>
                  <a:pt x="4034790" y="367030"/>
                </a:lnTo>
                <a:lnTo>
                  <a:pt x="3991229" y="348107"/>
                </a:lnTo>
                <a:lnTo>
                  <a:pt x="3944239" y="331724"/>
                </a:lnTo>
                <a:lnTo>
                  <a:pt x="3893947" y="317881"/>
                </a:lnTo>
                <a:lnTo>
                  <a:pt x="3840734" y="306705"/>
                </a:lnTo>
                <a:lnTo>
                  <a:pt x="3785108" y="298577"/>
                </a:lnTo>
                <a:lnTo>
                  <a:pt x="3727196" y="293497"/>
                </a:lnTo>
                <a:lnTo>
                  <a:pt x="3667506" y="291846"/>
                </a:lnTo>
                <a:lnTo>
                  <a:pt x="548259" y="291846"/>
                </a:lnTo>
                <a:lnTo>
                  <a:pt x="488569" y="290195"/>
                </a:lnTo>
                <a:lnTo>
                  <a:pt x="430656" y="285115"/>
                </a:lnTo>
                <a:lnTo>
                  <a:pt x="375031" y="276987"/>
                </a:lnTo>
                <a:lnTo>
                  <a:pt x="321818" y="265811"/>
                </a:lnTo>
                <a:lnTo>
                  <a:pt x="271525" y="251968"/>
                </a:lnTo>
                <a:lnTo>
                  <a:pt x="224536" y="235585"/>
                </a:lnTo>
                <a:lnTo>
                  <a:pt x="180975" y="216662"/>
                </a:lnTo>
                <a:lnTo>
                  <a:pt x="141224" y="195580"/>
                </a:lnTo>
                <a:lnTo>
                  <a:pt x="105791" y="172339"/>
                </a:lnTo>
                <a:lnTo>
                  <a:pt x="74803" y="147320"/>
                </a:lnTo>
                <a:lnTo>
                  <a:pt x="27940" y="92202"/>
                </a:lnTo>
                <a:lnTo>
                  <a:pt x="3175" y="31750"/>
                </a:lnTo>
                <a:lnTo>
                  <a:pt x="0" y="0"/>
                </a:lnTo>
              </a:path>
            </a:pathLst>
          </a:custGeom>
          <a:ln w="12700">
            <a:solidFill>
              <a:srgbClr val="90C2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547105" y="4831842"/>
            <a:ext cx="992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-10" dirty="0">
                <a:latin typeface="Trebuchet MS"/>
                <a:cs typeface="Trebuchet MS"/>
              </a:rPr>
              <a:t>l</a:t>
            </a:r>
            <a:r>
              <a:rPr sz="1800" spc="-5" dirty="0">
                <a:latin typeface="Trebuchet MS"/>
                <a:cs typeface="Trebuchet MS"/>
              </a:rPr>
              <a:t>e</a:t>
            </a:r>
            <a:r>
              <a:rPr sz="1800" spc="5" dirty="0">
                <a:latin typeface="Trebuchet MS"/>
                <a:cs typeface="Trebuchet MS"/>
              </a:rPr>
              <a:t>m</a:t>
            </a:r>
            <a:r>
              <a:rPr sz="1800" spc="-5" dirty="0">
                <a:latin typeface="Trebuchet MS"/>
                <a:cs typeface="Trebuchet MS"/>
              </a:rPr>
              <a:t>ento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94916" y="2068067"/>
            <a:ext cx="5768340" cy="1615440"/>
          </a:xfrm>
          <a:custGeom>
            <a:avLst/>
            <a:gdLst/>
            <a:ahLst/>
            <a:cxnLst/>
            <a:rect l="l" t="t" r="r" b="b"/>
            <a:pathLst>
              <a:path w="5768340" h="1615439">
                <a:moveTo>
                  <a:pt x="0" y="1615440"/>
                </a:moveTo>
                <a:lnTo>
                  <a:pt x="0" y="1300988"/>
                </a:lnTo>
                <a:lnTo>
                  <a:pt x="0" y="1044321"/>
                </a:lnTo>
                <a:lnTo>
                  <a:pt x="0" y="871220"/>
                </a:lnTo>
                <a:lnTo>
                  <a:pt x="0" y="807720"/>
                </a:lnTo>
                <a:lnTo>
                  <a:pt x="3007613" y="807720"/>
                </a:lnTo>
                <a:lnTo>
                  <a:pt x="3007613" y="744220"/>
                </a:lnTo>
                <a:lnTo>
                  <a:pt x="3007613" y="571119"/>
                </a:lnTo>
                <a:lnTo>
                  <a:pt x="3007613" y="314452"/>
                </a:lnTo>
                <a:lnTo>
                  <a:pt x="3007613" y="0"/>
                </a:lnTo>
                <a:lnTo>
                  <a:pt x="3007613" y="314452"/>
                </a:lnTo>
                <a:lnTo>
                  <a:pt x="3007613" y="571119"/>
                </a:lnTo>
                <a:lnTo>
                  <a:pt x="3007741" y="744220"/>
                </a:lnTo>
                <a:lnTo>
                  <a:pt x="3007741" y="807720"/>
                </a:lnTo>
                <a:lnTo>
                  <a:pt x="5768339" y="807720"/>
                </a:lnTo>
                <a:lnTo>
                  <a:pt x="5768339" y="871220"/>
                </a:lnTo>
                <a:lnTo>
                  <a:pt x="5768339" y="1044321"/>
                </a:lnTo>
                <a:lnTo>
                  <a:pt x="5768339" y="1300988"/>
                </a:lnTo>
                <a:lnTo>
                  <a:pt x="5768339" y="1615440"/>
                </a:lnTo>
              </a:path>
            </a:pathLst>
          </a:custGeom>
          <a:ln w="12700">
            <a:solidFill>
              <a:srgbClr val="90C2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092943" y="1737486"/>
            <a:ext cx="1924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15" dirty="0">
                <a:latin typeface="Trebuchet MS"/>
                <a:cs typeface="Trebuchet MS"/>
              </a:rPr>
              <a:t>T</a:t>
            </a:r>
            <a:r>
              <a:rPr sz="1800" spc="-85" dirty="0">
                <a:latin typeface="Trebuchet MS"/>
                <a:cs typeface="Trebuchet MS"/>
              </a:rPr>
              <a:t>a</a:t>
            </a:r>
            <a:r>
              <a:rPr sz="1800" dirty="0">
                <a:latin typeface="Trebuchet MS"/>
                <a:cs typeface="Trebuchet MS"/>
              </a:rPr>
              <a:t>g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5" dirty="0">
                <a:latin typeface="Trebuchet MS"/>
                <a:cs typeface="Trebuchet MS"/>
              </a:rPr>
              <a:t>d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f</a:t>
            </a:r>
            <a:r>
              <a:rPr sz="1800" spc="-10" dirty="0">
                <a:latin typeface="Trebuchet MS"/>
                <a:cs typeface="Trebuchet MS"/>
              </a:rPr>
              <a:t>e</a:t>
            </a:r>
            <a:r>
              <a:rPr sz="1800" spc="-15" dirty="0">
                <a:latin typeface="Trebuchet MS"/>
                <a:cs typeface="Trebuchet MS"/>
              </a:rPr>
              <a:t>ch</a:t>
            </a:r>
            <a:r>
              <a:rPr sz="1800" spc="-10" dirty="0">
                <a:latin typeface="Trebuchet MS"/>
                <a:cs typeface="Trebuchet MS"/>
              </a:rPr>
              <a:t>ame</a:t>
            </a:r>
            <a:r>
              <a:rPr sz="1800" spc="-15" dirty="0">
                <a:latin typeface="Trebuchet MS"/>
                <a:cs typeface="Trebuchet MS"/>
              </a:rPr>
              <a:t>n</a:t>
            </a:r>
            <a:r>
              <a:rPr sz="1800" spc="-20" dirty="0">
                <a:latin typeface="Trebuchet MS"/>
                <a:cs typeface="Trebuchet MS"/>
              </a:rPr>
              <a:t>t</a:t>
            </a:r>
            <a:r>
              <a:rPr sz="1800" dirty="0"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33134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Estrutura</a:t>
            </a:r>
            <a:r>
              <a:rPr sz="3600" spc="-165" dirty="0"/>
              <a:t> </a:t>
            </a:r>
            <a:r>
              <a:rPr sz="3600" spc="-5" dirty="0"/>
              <a:t>básica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5910834" y="1890141"/>
            <a:ext cx="5380990" cy="408876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55600" marR="5080" indent="-342900" algn="just">
              <a:lnSpc>
                <a:spcPct val="101400"/>
              </a:lnSpc>
              <a:spcBef>
                <a:spcPts val="60"/>
              </a:spcBef>
            </a:pPr>
            <a:r>
              <a:rPr sz="1750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Esta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estrutura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é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quase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imutável.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Sempre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começará um projeto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HTML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por </a:t>
            </a:r>
            <a:r>
              <a:rPr sz="2200" spc="-6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esse</a:t>
            </a:r>
            <a:r>
              <a:rPr sz="22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código.</a:t>
            </a:r>
            <a:endParaRPr sz="22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800"/>
              </a:lnSpc>
              <a:spcBef>
                <a:spcPts val="900"/>
              </a:spcBef>
              <a:tabLst>
                <a:tab pos="575945" algn="l"/>
                <a:tab pos="1010285" algn="l"/>
                <a:tab pos="1595755" algn="l"/>
                <a:tab pos="1717675" algn="l"/>
                <a:tab pos="1958975" algn="l"/>
                <a:tab pos="2538095" algn="l"/>
                <a:tab pos="2733040" algn="l"/>
                <a:tab pos="3251200" algn="l"/>
                <a:tab pos="3342640" algn="l"/>
                <a:tab pos="3531235" algn="l"/>
                <a:tab pos="3845560" algn="l"/>
                <a:tab pos="3993515" algn="l"/>
                <a:tab pos="4633595" algn="l"/>
                <a:tab pos="5061585" algn="l"/>
              </a:tabLst>
            </a:pPr>
            <a:r>
              <a:rPr sz="175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750" spc="2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É	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possível		compreender	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o	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documento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em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HT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		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		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o  simples,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atravé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		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		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di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isã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de 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blocos</a:t>
            </a:r>
            <a:r>
              <a:rPr sz="2200" spc="2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das</a:t>
            </a:r>
            <a:r>
              <a:rPr sz="2200" spc="2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tags</a:t>
            </a:r>
            <a:r>
              <a:rPr sz="2200" spc="2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essenciais,</a:t>
            </a:r>
            <a:r>
              <a:rPr sz="2200" spc="2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conforme</a:t>
            </a:r>
            <a:r>
              <a:rPr sz="2200" spc="2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200" spc="-6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seguinte</a:t>
            </a:r>
            <a:r>
              <a:rPr sz="22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estrutura:</a:t>
            </a:r>
            <a:endParaRPr sz="22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950"/>
              </a:spcBef>
            </a:pPr>
            <a:r>
              <a:rPr sz="150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500" spc="-4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Definição</a:t>
            </a:r>
            <a:r>
              <a:rPr sz="19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19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documento</a:t>
            </a:r>
            <a:r>
              <a:rPr sz="19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(doctype)</a:t>
            </a:r>
            <a:endParaRPr sz="19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</a:pPr>
            <a:r>
              <a:rPr sz="150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500" spc="-9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Cabeça</a:t>
            </a:r>
            <a:r>
              <a:rPr sz="19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(head)</a:t>
            </a:r>
            <a:endParaRPr sz="19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10"/>
              </a:spcBef>
            </a:pPr>
            <a:r>
              <a:rPr sz="150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500" spc="-8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Trebuchet MS"/>
                <a:cs typeface="Trebuchet MS"/>
              </a:rPr>
              <a:t>Corpo</a:t>
            </a:r>
            <a:r>
              <a:rPr sz="19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Trebuchet MS"/>
                <a:cs typeface="Trebuchet MS"/>
              </a:rPr>
              <a:t>(body)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961" y="1879854"/>
            <a:ext cx="4758055" cy="3909060"/>
          </a:xfrm>
          <a:prstGeom prst="rect">
            <a:avLst/>
          </a:prstGeom>
          <a:ln w="20320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400"/>
              </a:spcBef>
            </a:pPr>
            <a:r>
              <a:rPr sz="2400" spc="-15" dirty="0">
                <a:latin typeface="Arial MT"/>
                <a:cs typeface="Arial MT"/>
              </a:rPr>
              <a:t>&lt;!DOCTYPE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html&gt;</a:t>
            </a:r>
            <a:endParaRPr sz="2400">
              <a:latin typeface="Arial MT"/>
              <a:cs typeface="Arial MT"/>
            </a:endParaRPr>
          </a:p>
          <a:p>
            <a:pPr marL="17399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&lt;html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lang="pt-br"&gt;</a:t>
            </a:r>
            <a:endParaRPr sz="24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&lt;head&gt;</a:t>
            </a:r>
            <a:endParaRPr sz="2400">
              <a:latin typeface="Arial MT"/>
              <a:cs typeface="Arial MT"/>
            </a:endParaRPr>
          </a:p>
          <a:p>
            <a:pPr marL="100520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&lt;meta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charset="utf-8"/&gt;</a:t>
            </a:r>
            <a:endParaRPr sz="2400">
              <a:latin typeface="Arial MT"/>
              <a:cs typeface="Arial MT"/>
            </a:endParaRPr>
          </a:p>
          <a:p>
            <a:pPr marL="100520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&lt;title&gt;HTML5&lt;/title&gt;</a:t>
            </a:r>
            <a:endParaRPr sz="24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&lt;/head&gt;</a:t>
            </a:r>
            <a:endParaRPr sz="24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  <a:spcBef>
                <a:spcPts val="5"/>
              </a:spcBef>
            </a:pPr>
            <a:r>
              <a:rPr sz="2400" spc="-15" dirty="0">
                <a:latin typeface="Arial MT"/>
                <a:cs typeface="Arial MT"/>
              </a:rPr>
              <a:t>&lt;body&gt;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2400" spc="-15" dirty="0">
                <a:latin typeface="Arial MT"/>
                <a:cs typeface="Arial MT"/>
              </a:rPr>
              <a:t>&lt;/body&gt;</a:t>
            </a:r>
            <a:endParaRPr sz="24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  <a:spcBef>
                <a:spcPts val="795"/>
              </a:spcBef>
            </a:pPr>
            <a:r>
              <a:rPr sz="2400" dirty="0">
                <a:latin typeface="Arial MT"/>
                <a:cs typeface="Arial MT"/>
              </a:rPr>
              <a:t>&lt;/html&gt;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001" y="16001"/>
            <a:ext cx="12176760" cy="6842759"/>
          </a:xfrm>
          <a:custGeom>
            <a:avLst/>
            <a:gdLst/>
            <a:ahLst/>
            <a:cxnLst/>
            <a:rect l="l" t="t" r="r" b="b"/>
            <a:pathLst>
              <a:path w="12176760" h="6842759">
                <a:moveTo>
                  <a:pt x="12176760" y="0"/>
                </a:moveTo>
                <a:lnTo>
                  <a:pt x="0" y="0"/>
                </a:lnTo>
                <a:lnTo>
                  <a:pt x="0" y="6842757"/>
                </a:lnTo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33134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Estrutura</a:t>
            </a:r>
            <a:r>
              <a:rPr sz="3600" spc="-165" dirty="0"/>
              <a:t> </a:t>
            </a:r>
            <a:r>
              <a:rPr sz="3600" spc="-5" dirty="0"/>
              <a:t>básica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5910834" y="2026996"/>
            <a:ext cx="5741035" cy="645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  <a:tab pos="716280" algn="l"/>
                <a:tab pos="1833880" algn="l"/>
                <a:tab pos="2565400" algn="l"/>
                <a:tab pos="3094355" algn="l"/>
                <a:tab pos="3418840" algn="l"/>
                <a:tab pos="4656455" algn="l"/>
                <a:tab pos="5447665" algn="l"/>
              </a:tabLst>
            </a:pPr>
            <a:r>
              <a:rPr sz="16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	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y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	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	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r	a	</a:t>
            </a:r>
            <a:r>
              <a:rPr sz="2000" b="1" i="1" spc="-5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sz="2000" b="1" i="1" dirty="0">
                <a:solidFill>
                  <a:srgbClr val="FF0000"/>
                </a:solidFill>
                <a:latin typeface="Trebuchet MS"/>
                <a:cs typeface="Trebuchet MS"/>
              </a:rPr>
              <a:t>rim</a:t>
            </a:r>
            <a:r>
              <a:rPr sz="2000" b="1" i="1" spc="-4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000" b="1" i="1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2000" b="1" i="1" spc="-1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000" b="1" i="1" dirty="0">
                <a:solidFill>
                  <a:srgbClr val="FF0000"/>
                </a:solidFill>
                <a:latin typeface="Trebuchet MS"/>
                <a:cs typeface="Trebuchet MS"/>
              </a:rPr>
              <a:t>a	</a:t>
            </a:r>
            <a:r>
              <a:rPr sz="2000" b="1" i="1" spc="-10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2000" b="1" i="1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2000" b="1" i="1" spc="-15" dirty="0">
                <a:solidFill>
                  <a:srgbClr val="FF0000"/>
                </a:solidFill>
                <a:latin typeface="Trebuchet MS"/>
                <a:cs typeface="Trebuchet MS"/>
              </a:rPr>
              <a:t>h</a:t>
            </a:r>
            <a:r>
              <a:rPr sz="2000" b="1" i="1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000" b="1" i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endParaRPr sz="2000" dirty="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75"/>
              </a:spcBef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código</a:t>
            </a:r>
            <a:r>
              <a:rPr sz="20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documento</a:t>
            </a:r>
            <a:r>
              <a:rPr sz="20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antes</a:t>
            </a:r>
            <a:r>
              <a:rPr sz="20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tag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HTML.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0834" y="2764917"/>
            <a:ext cx="5751195" cy="106743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55600" marR="9525" indent="-342900">
              <a:lnSpc>
                <a:spcPct val="103000"/>
              </a:lnSpc>
              <a:spcBef>
                <a:spcPts val="30"/>
              </a:spcBef>
              <a:tabLst>
                <a:tab pos="1085215" algn="l"/>
                <a:tab pos="1730375" algn="l"/>
                <a:tab pos="2004695" algn="l"/>
                <a:tab pos="3307715" algn="l"/>
                <a:tab pos="3583304" algn="l"/>
                <a:tab pos="4226560" algn="l"/>
                <a:tab pos="5074285" algn="l"/>
              </a:tabLst>
            </a:pPr>
            <a:r>
              <a:rPr sz="16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600" spc="22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ic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	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	o	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av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ga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r	e	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	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	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io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 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qual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especificação</a:t>
            </a:r>
            <a:r>
              <a:rPr sz="20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código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 utilizar.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6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600" spc="4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spc="3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Doctype</a:t>
            </a:r>
            <a:r>
              <a:rPr sz="2000" spc="3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rebuchet MS"/>
                <a:cs typeface="Trebuchet MS"/>
              </a:rPr>
              <a:t>não</a:t>
            </a:r>
            <a:r>
              <a:rPr sz="2000" b="1" spc="3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é</a:t>
            </a:r>
            <a:r>
              <a:rPr sz="2000" b="1" spc="3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uma</a:t>
            </a:r>
            <a:r>
              <a:rPr sz="2000" b="1" spc="2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rebuchet MS"/>
                <a:cs typeface="Trebuchet MS"/>
              </a:rPr>
              <a:t>tag</a:t>
            </a:r>
            <a:r>
              <a:rPr sz="2000" b="1" spc="3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2000" spc="3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HTML,</a:t>
            </a:r>
            <a:r>
              <a:rPr sz="2000" spc="3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mas</a:t>
            </a:r>
            <a:r>
              <a:rPr sz="2000" spc="3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3734" y="3815334"/>
            <a:ext cx="54082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instrução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que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o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browser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tenha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informações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sobre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qual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versão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código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marcação</a:t>
            </a:r>
            <a:r>
              <a:rPr sz="20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foi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escrita.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0834" y="4848555"/>
            <a:ext cx="35953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16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No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caso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se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refere</a:t>
            </a:r>
            <a:r>
              <a:rPr sz="2000" spc="-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ao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HTML5.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8961" y="2017014"/>
            <a:ext cx="4758055" cy="3909060"/>
          </a:xfrm>
          <a:prstGeom prst="rect">
            <a:avLst/>
          </a:prstGeom>
          <a:ln w="20320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405"/>
              </a:spcBef>
            </a:pPr>
            <a:r>
              <a:rPr sz="2400" spc="-15" dirty="0">
                <a:latin typeface="Arial MT"/>
                <a:cs typeface="Arial MT"/>
              </a:rPr>
              <a:t>&lt;!DOCTYPE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html&gt;</a:t>
            </a:r>
            <a:endParaRPr sz="2400">
              <a:latin typeface="Arial MT"/>
              <a:cs typeface="Arial MT"/>
            </a:endParaRPr>
          </a:p>
          <a:p>
            <a:pPr marL="17399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&lt;html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lang="pt-br"&gt;</a:t>
            </a:r>
            <a:endParaRPr sz="24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&lt;head&gt;</a:t>
            </a:r>
            <a:endParaRPr sz="2400">
              <a:latin typeface="Arial MT"/>
              <a:cs typeface="Arial MT"/>
            </a:endParaRPr>
          </a:p>
          <a:p>
            <a:pPr marL="100520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&lt;meta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charset="utf-8"/&gt;</a:t>
            </a:r>
            <a:endParaRPr sz="2400">
              <a:latin typeface="Arial MT"/>
              <a:cs typeface="Arial MT"/>
            </a:endParaRPr>
          </a:p>
          <a:p>
            <a:pPr marL="100520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MT"/>
                <a:cs typeface="Arial MT"/>
              </a:rPr>
              <a:t>&lt;title&gt;HTML5&lt;/title&gt;</a:t>
            </a:r>
            <a:endParaRPr sz="24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&lt;/head&gt;</a:t>
            </a:r>
            <a:endParaRPr sz="24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2400" spc="-15" dirty="0">
                <a:latin typeface="Arial MT"/>
                <a:cs typeface="Arial MT"/>
              </a:rPr>
              <a:t>&lt;body&gt;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2400" spc="-15" dirty="0">
                <a:latin typeface="Arial MT"/>
                <a:cs typeface="Arial MT"/>
              </a:rPr>
              <a:t>&lt;/body&gt;</a:t>
            </a:r>
            <a:endParaRPr sz="24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  <a:spcBef>
                <a:spcPts val="790"/>
              </a:spcBef>
            </a:pPr>
            <a:r>
              <a:rPr sz="2400" dirty="0">
                <a:latin typeface="Arial MT"/>
                <a:cs typeface="Arial MT"/>
              </a:rPr>
              <a:t>&lt;/html&gt;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8382"/>
            <a:ext cx="12192000" cy="6850380"/>
          </a:xfrm>
          <a:custGeom>
            <a:avLst/>
            <a:gdLst/>
            <a:ahLst/>
            <a:cxnLst/>
            <a:rect l="l" t="t" r="r" b="b"/>
            <a:pathLst>
              <a:path w="12192000" h="6850380">
                <a:moveTo>
                  <a:pt x="12192000" y="6850376"/>
                </a:moveTo>
                <a:lnTo>
                  <a:pt x="12192000" y="0"/>
                </a:lnTo>
                <a:lnTo>
                  <a:pt x="0" y="0"/>
                </a:lnTo>
                <a:lnTo>
                  <a:pt x="0" y="6850376"/>
                </a:lnTo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48685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Estrutura</a:t>
            </a:r>
            <a:r>
              <a:rPr sz="3600" spc="-95" dirty="0"/>
              <a:t> </a:t>
            </a:r>
            <a:r>
              <a:rPr sz="3600" spc="-5" dirty="0"/>
              <a:t>básica</a:t>
            </a:r>
            <a:r>
              <a:rPr sz="3600" spc="-65" dirty="0"/>
              <a:t> </a:t>
            </a:r>
            <a:r>
              <a:rPr sz="3600" spc="-15" dirty="0"/>
              <a:t>&lt;html&gt;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800" y="1219200"/>
            <a:ext cx="10058400" cy="57177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12800" marR="508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1684655" algn="l"/>
                <a:tab pos="2949575" algn="l"/>
                <a:tab pos="3383915" algn="l"/>
                <a:tab pos="4785995" algn="l"/>
                <a:tab pos="5215890" algn="l"/>
              </a:tabLst>
            </a:pPr>
            <a:r>
              <a:rPr lang="pt-BR" sz="3200" spc="-5" dirty="0">
                <a:solidFill>
                  <a:schemeClr val="tx1"/>
                </a:solidFill>
                <a:latin typeface="+mj-lt"/>
                <a:cs typeface="Trebuchet MS"/>
              </a:rPr>
              <a:t>O </a:t>
            </a:r>
            <a:r>
              <a:rPr lang="pt-BR" sz="3200" spc="-10" dirty="0">
                <a:solidFill>
                  <a:schemeClr val="tx1"/>
                </a:solidFill>
                <a:latin typeface="+mj-lt"/>
                <a:cs typeface="Trebuchet MS"/>
              </a:rPr>
              <a:t>e</a:t>
            </a:r>
            <a:r>
              <a:rPr lang="pt-BR" sz="3200" spc="-15" dirty="0">
                <a:solidFill>
                  <a:schemeClr val="tx1"/>
                </a:solidFill>
                <a:latin typeface="+mj-lt"/>
                <a:cs typeface="Trebuchet MS"/>
              </a:rPr>
              <a:t>l</a:t>
            </a:r>
            <a:r>
              <a:rPr lang="pt-BR" sz="3200" spc="-10" dirty="0">
                <a:solidFill>
                  <a:schemeClr val="tx1"/>
                </a:solidFill>
                <a:latin typeface="+mj-lt"/>
                <a:cs typeface="Trebuchet MS"/>
              </a:rPr>
              <a:t>emento</a:t>
            </a:r>
            <a:r>
              <a:rPr lang="pt-BR" sz="3200" spc="-5" dirty="0">
                <a:solidFill>
                  <a:schemeClr val="tx1"/>
                </a:solidFill>
                <a:latin typeface="+mj-lt"/>
                <a:cs typeface="Trebuchet MS"/>
              </a:rPr>
              <a:t> p</a:t>
            </a:r>
            <a:r>
              <a:rPr lang="pt-BR" sz="3200" spc="-15" dirty="0">
                <a:solidFill>
                  <a:schemeClr val="tx1"/>
                </a:solidFill>
                <a:latin typeface="+mj-lt"/>
                <a:cs typeface="Trebuchet MS"/>
              </a:rPr>
              <a:t>ri</a:t>
            </a:r>
            <a:r>
              <a:rPr lang="pt-BR" sz="3200" spc="-10" dirty="0">
                <a:solidFill>
                  <a:schemeClr val="tx1"/>
                </a:solidFill>
                <a:latin typeface="+mj-lt"/>
                <a:cs typeface="Trebuchet MS"/>
              </a:rPr>
              <a:t>n</a:t>
            </a:r>
            <a:r>
              <a:rPr lang="pt-BR" sz="3200" spc="-20" dirty="0">
                <a:solidFill>
                  <a:schemeClr val="tx1"/>
                </a:solidFill>
                <a:latin typeface="+mj-lt"/>
                <a:cs typeface="Trebuchet MS"/>
              </a:rPr>
              <a:t>c</a:t>
            </a:r>
            <a:r>
              <a:rPr lang="pt-BR" sz="3200" spc="-15" dirty="0">
                <a:solidFill>
                  <a:schemeClr val="tx1"/>
                </a:solidFill>
                <a:latin typeface="+mj-lt"/>
                <a:cs typeface="Trebuchet MS"/>
              </a:rPr>
              <a:t>i</a:t>
            </a:r>
            <a:r>
              <a:rPr lang="pt-BR" sz="3200" spc="-5" dirty="0">
                <a:solidFill>
                  <a:schemeClr val="tx1"/>
                </a:solidFill>
                <a:latin typeface="+mj-lt"/>
                <a:cs typeface="Trebuchet MS"/>
              </a:rPr>
              <a:t>p</a:t>
            </a:r>
            <a:r>
              <a:rPr lang="pt-BR" sz="3200" spc="-10" dirty="0">
                <a:solidFill>
                  <a:schemeClr val="tx1"/>
                </a:solidFill>
                <a:latin typeface="+mj-lt"/>
                <a:cs typeface="Trebuchet MS"/>
              </a:rPr>
              <a:t>a</a:t>
            </a:r>
            <a:r>
              <a:rPr lang="pt-BR" sz="3200" spc="-5" dirty="0">
                <a:solidFill>
                  <a:schemeClr val="tx1"/>
                </a:solidFill>
                <a:latin typeface="+mj-lt"/>
                <a:cs typeface="Trebuchet MS"/>
              </a:rPr>
              <a:t>l </a:t>
            </a:r>
            <a:r>
              <a:rPr lang="pt-BR" sz="3200" spc="5" dirty="0">
                <a:solidFill>
                  <a:schemeClr val="tx1"/>
                </a:solidFill>
                <a:latin typeface="+mj-lt"/>
                <a:cs typeface="Trebuchet MS"/>
              </a:rPr>
              <a:t>d</a:t>
            </a:r>
            <a:r>
              <a:rPr lang="pt-BR" sz="3200" spc="-10" dirty="0">
                <a:solidFill>
                  <a:schemeClr val="tx1"/>
                </a:solidFill>
                <a:latin typeface="+mj-lt"/>
                <a:cs typeface="Trebuchet MS"/>
              </a:rPr>
              <a:t>es</a:t>
            </a:r>
            <a:r>
              <a:rPr lang="pt-BR" sz="3200" spc="-15" dirty="0">
                <a:solidFill>
                  <a:schemeClr val="tx1"/>
                </a:solidFill>
                <a:latin typeface="+mj-lt"/>
                <a:cs typeface="Trebuchet MS"/>
              </a:rPr>
              <a:t>s</a:t>
            </a:r>
            <a:r>
              <a:rPr lang="pt-BR" sz="3200" spc="-5" dirty="0">
                <a:solidFill>
                  <a:schemeClr val="tx1"/>
                </a:solidFill>
                <a:latin typeface="+mj-lt"/>
                <a:cs typeface="Trebuchet MS"/>
              </a:rPr>
              <a:t>a </a:t>
            </a:r>
            <a:r>
              <a:rPr lang="pt-BR" sz="3200" spc="-5" dirty="0">
                <a:solidFill>
                  <a:schemeClr val="tx1"/>
                </a:solidFill>
                <a:latin typeface="+mj-lt"/>
              </a:rPr>
              <a:t>g</a:t>
            </a:r>
            <a:r>
              <a:rPr lang="pt-BR" sz="3200" spc="-15" dirty="0">
                <a:solidFill>
                  <a:schemeClr val="tx1"/>
                </a:solidFill>
                <a:latin typeface="+mj-lt"/>
              </a:rPr>
              <a:t>r</a:t>
            </a:r>
            <a:r>
              <a:rPr lang="pt-BR" sz="3200" spc="-10" dirty="0">
                <a:solidFill>
                  <a:schemeClr val="tx1"/>
                </a:solidFill>
                <a:latin typeface="+mj-lt"/>
              </a:rPr>
              <a:t>a</a:t>
            </a:r>
            <a:r>
              <a:rPr lang="pt-BR" sz="3200" spc="-25" dirty="0">
                <a:solidFill>
                  <a:schemeClr val="tx1"/>
                </a:solidFill>
                <a:latin typeface="+mj-lt"/>
              </a:rPr>
              <a:t>n</a:t>
            </a:r>
            <a:r>
              <a:rPr lang="pt-BR" sz="3200" spc="-5" dirty="0">
                <a:solidFill>
                  <a:schemeClr val="tx1"/>
                </a:solidFill>
                <a:latin typeface="+mj-lt"/>
              </a:rPr>
              <a:t>de </a:t>
            </a:r>
            <a:r>
              <a:rPr lang="pt-BR" sz="3200" spc="-10" dirty="0">
                <a:solidFill>
                  <a:schemeClr val="tx1"/>
                </a:solidFill>
                <a:latin typeface="+mj-lt"/>
              </a:rPr>
              <a:t>á</a:t>
            </a:r>
            <a:r>
              <a:rPr lang="pt-BR" sz="3200" spc="-15" dirty="0">
                <a:solidFill>
                  <a:schemeClr val="tx1"/>
                </a:solidFill>
                <a:latin typeface="+mj-lt"/>
              </a:rPr>
              <a:t>r</a:t>
            </a:r>
            <a:r>
              <a:rPr lang="pt-BR" sz="3200" spc="-5" dirty="0">
                <a:solidFill>
                  <a:schemeClr val="tx1"/>
                </a:solidFill>
                <a:latin typeface="+mj-lt"/>
              </a:rPr>
              <a:t>vore é se</a:t>
            </a:r>
            <a:r>
              <a:rPr lang="pt-BR" sz="3200" spc="-15" dirty="0">
                <a:solidFill>
                  <a:schemeClr val="tx1"/>
                </a:solidFill>
                <a:latin typeface="+mj-lt"/>
              </a:rPr>
              <a:t>m</a:t>
            </a:r>
            <a:r>
              <a:rPr lang="pt-BR" sz="3200" spc="-5" dirty="0">
                <a:solidFill>
                  <a:schemeClr val="tx1"/>
                </a:solidFill>
                <a:latin typeface="+mj-lt"/>
              </a:rPr>
              <a:t>p</a:t>
            </a:r>
            <a:r>
              <a:rPr lang="pt-BR" sz="3200" spc="-15" dirty="0">
                <a:solidFill>
                  <a:schemeClr val="tx1"/>
                </a:solidFill>
                <a:latin typeface="+mj-lt"/>
              </a:rPr>
              <a:t>r</a:t>
            </a:r>
            <a:r>
              <a:rPr lang="pt-BR" sz="3200" spc="-5" dirty="0">
                <a:solidFill>
                  <a:schemeClr val="tx1"/>
                </a:solidFill>
                <a:latin typeface="+mj-lt"/>
              </a:rPr>
              <a:t>e a </a:t>
            </a:r>
            <a:r>
              <a:rPr lang="pt-BR" sz="3200" spc="-10" dirty="0">
                <a:solidFill>
                  <a:schemeClr val="tx1"/>
                </a:solidFill>
                <a:latin typeface="+mj-lt"/>
              </a:rPr>
              <a:t>t</a:t>
            </a:r>
            <a:r>
              <a:rPr lang="pt-BR" sz="3200" spc="10" dirty="0">
                <a:solidFill>
                  <a:schemeClr val="tx1"/>
                </a:solidFill>
                <a:latin typeface="+mj-lt"/>
              </a:rPr>
              <a:t>a</a:t>
            </a:r>
            <a:r>
              <a:rPr lang="pt-BR" sz="3200" spc="-5" dirty="0">
                <a:solidFill>
                  <a:schemeClr val="tx1"/>
                </a:solidFill>
                <a:latin typeface="+mj-lt"/>
              </a:rPr>
              <a:t>g  </a:t>
            </a:r>
            <a:r>
              <a:rPr lang="pt-BR" sz="3200" spc="-10" dirty="0">
                <a:solidFill>
                  <a:schemeClr val="tx1"/>
                </a:solidFill>
                <a:latin typeface="+mj-lt"/>
              </a:rPr>
              <a:t>HTML.</a:t>
            </a:r>
          </a:p>
          <a:p>
            <a:pPr marL="355600" marR="13335" indent="-342900">
              <a:lnSpc>
                <a:spcPct val="102499"/>
              </a:lnSpc>
              <a:spcBef>
                <a:spcPts val="95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spc="-5" dirty="0">
                <a:solidFill>
                  <a:schemeClr val="tx1"/>
                </a:solidFill>
                <a:latin typeface="+mj-lt"/>
              </a:rPr>
              <a:t>O</a:t>
            </a:r>
            <a:r>
              <a:rPr sz="2400" dirty="0">
                <a:solidFill>
                  <a:schemeClr val="tx1"/>
                </a:solidFill>
                <a:latin typeface="+mj-lt"/>
              </a:rPr>
              <a:t> </a:t>
            </a:r>
            <a:r>
              <a:rPr sz="2400" spc="-5" dirty="0" err="1">
                <a:solidFill>
                  <a:schemeClr val="tx1"/>
                </a:solidFill>
                <a:latin typeface="+mj-lt"/>
              </a:rPr>
              <a:t>atributo</a:t>
            </a:r>
            <a:r>
              <a:rPr sz="24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400" spc="-10" dirty="0">
                <a:solidFill>
                  <a:srgbClr val="00B0F0"/>
                </a:solidFill>
                <a:latin typeface="+mj-lt"/>
              </a:rPr>
              <a:t>lang</a:t>
            </a:r>
            <a:r>
              <a:rPr sz="2400" spc="-5" dirty="0">
                <a:solidFill>
                  <a:srgbClr val="00B0F0"/>
                </a:solidFill>
                <a:latin typeface="+mj-lt"/>
              </a:rPr>
              <a:t> </a:t>
            </a:r>
            <a:r>
              <a:rPr sz="2400" spc="-5" dirty="0">
                <a:solidFill>
                  <a:schemeClr val="tx1"/>
                </a:solidFill>
                <a:latin typeface="+mj-lt"/>
              </a:rPr>
              <a:t>é</a:t>
            </a:r>
            <a:r>
              <a:rPr sz="2400" dirty="0">
                <a:solidFill>
                  <a:schemeClr val="tx1"/>
                </a:solidFill>
                <a:latin typeface="+mj-lt"/>
              </a:rPr>
              <a:t> </a:t>
            </a:r>
            <a:r>
              <a:rPr sz="2400" spc="-5" dirty="0">
                <a:solidFill>
                  <a:schemeClr val="tx1"/>
                </a:solidFill>
                <a:latin typeface="+mj-lt"/>
              </a:rPr>
              <a:t>necessário</a:t>
            </a:r>
            <a:r>
              <a:rPr sz="2400" dirty="0">
                <a:solidFill>
                  <a:schemeClr val="tx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+mj-lt"/>
              </a:rPr>
              <a:t>para</a:t>
            </a:r>
            <a:r>
              <a:rPr sz="2400" spc="-5" dirty="0">
                <a:solidFill>
                  <a:schemeClr val="tx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+mj-lt"/>
              </a:rPr>
              <a:t>que</a:t>
            </a:r>
            <a:r>
              <a:rPr sz="2400" spc="-5" dirty="0">
                <a:solidFill>
                  <a:schemeClr val="tx1"/>
                </a:solidFill>
                <a:latin typeface="+mj-lt"/>
              </a:rPr>
              <a:t> os</a:t>
            </a:r>
            <a:r>
              <a:rPr sz="2400" dirty="0">
                <a:solidFill>
                  <a:schemeClr val="tx1"/>
                </a:solidFill>
                <a:latin typeface="+mj-lt"/>
              </a:rPr>
              <a:t> </a:t>
            </a:r>
            <a:r>
              <a:rPr sz="2400" spc="-10" dirty="0">
                <a:solidFill>
                  <a:srgbClr val="00B0F0"/>
                </a:solidFill>
                <a:latin typeface="+mj-lt"/>
              </a:rPr>
              <a:t>user-agents</a:t>
            </a:r>
            <a:r>
              <a:rPr sz="2400" spc="-10" dirty="0">
                <a:solidFill>
                  <a:schemeClr val="tx1"/>
                </a:solidFill>
                <a:latin typeface="+mj-lt"/>
              </a:rPr>
              <a:t> </a:t>
            </a:r>
            <a:r>
              <a:rPr sz="2400" spc="-470" dirty="0">
                <a:solidFill>
                  <a:schemeClr val="tx1"/>
                </a:solidFill>
                <a:latin typeface="+mj-lt"/>
              </a:rPr>
              <a:t> </a:t>
            </a:r>
            <a:r>
              <a:rPr sz="2400" spc="-5" dirty="0">
                <a:solidFill>
                  <a:schemeClr val="tx1"/>
                </a:solidFill>
                <a:latin typeface="+mj-lt"/>
              </a:rPr>
              <a:t>saibam</a:t>
            </a:r>
            <a:r>
              <a:rPr sz="2400" spc="-35" dirty="0">
                <a:solidFill>
                  <a:schemeClr val="tx1"/>
                </a:solidFill>
                <a:latin typeface="+mj-lt"/>
              </a:rPr>
              <a:t> </a:t>
            </a:r>
            <a:r>
              <a:rPr sz="2400" spc="-5" dirty="0">
                <a:solidFill>
                  <a:schemeClr val="tx1"/>
                </a:solidFill>
                <a:latin typeface="+mj-lt"/>
              </a:rPr>
              <a:t>qual</a:t>
            </a:r>
            <a:r>
              <a:rPr sz="2400" spc="5" dirty="0">
                <a:solidFill>
                  <a:schemeClr val="tx1"/>
                </a:solidFill>
                <a:latin typeface="+mj-lt"/>
              </a:rPr>
              <a:t> </a:t>
            </a:r>
            <a:r>
              <a:rPr sz="2400" spc="-5" dirty="0">
                <a:solidFill>
                  <a:schemeClr val="tx1"/>
                </a:solidFill>
                <a:latin typeface="+mj-lt"/>
              </a:rPr>
              <a:t>a linguagem</a:t>
            </a:r>
            <a:r>
              <a:rPr sz="2400" spc="-30" dirty="0">
                <a:solidFill>
                  <a:schemeClr val="tx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+mj-lt"/>
              </a:rPr>
              <a:t>principal</a:t>
            </a:r>
            <a:r>
              <a:rPr sz="2400" spc="10" dirty="0">
                <a:solidFill>
                  <a:schemeClr val="tx1"/>
                </a:solidFill>
                <a:latin typeface="+mj-lt"/>
              </a:rPr>
              <a:t> </a:t>
            </a:r>
            <a:r>
              <a:rPr sz="2400" spc="-5" dirty="0">
                <a:solidFill>
                  <a:schemeClr val="tx1"/>
                </a:solidFill>
                <a:latin typeface="+mj-lt"/>
              </a:rPr>
              <a:t>do</a:t>
            </a:r>
            <a:r>
              <a:rPr sz="2400" spc="5" dirty="0">
                <a:solidFill>
                  <a:schemeClr val="tx1"/>
                </a:solidFill>
                <a:latin typeface="+mj-lt"/>
              </a:rPr>
              <a:t> </a:t>
            </a:r>
            <a:r>
              <a:rPr sz="2400" spc="-5" dirty="0" err="1">
                <a:solidFill>
                  <a:schemeClr val="tx1"/>
                </a:solidFill>
                <a:latin typeface="+mj-lt"/>
              </a:rPr>
              <a:t>documento</a:t>
            </a:r>
            <a:r>
              <a:rPr sz="2400" spc="-5" dirty="0">
                <a:solidFill>
                  <a:schemeClr val="tx1"/>
                </a:solidFill>
                <a:latin typeface="+mj-lt"/>
              </a:rPr>
              <a:t>.</a:t>
            </a:r>
            <a:endParaRPr lang="en-US" sz="2400" spc="-5" dirty="0">
              <a:solidFill>
                <a:schemeClr val="tx1"/>
              </a:solidFill>
              <a:latin typeface="+mj-lt"/>
            </a:endParaRPr>
          </a:p>
          <a:p>
            <a:pPr marL="355600" marR="13335" indent="-342900">
              <a:lnSpc>
                <a:spcPct val="102499"/>
              </a:lnSpc>
              <a:spcBef>
                <a:spcPts val="95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endParaRPr lang="en-US" sz="2400" spc="-5" dirty="0">
              <a:solidFill>
                <a:schemeClr val="tx1"/>
              </a:solidFill>
              <a:latin typeface="+mj-lt"/>
            </a:endParaRPr>
          </a:p>
          <a:p>
            <a:pPr marL="298450" marR="202565" indent="-2857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chemeClr val="tx1"/>
                </a:solidFill>
                <a:effectLst/>
                <a:latin typeface="+mj-lt"/>
              </a:rPr>
              <a:t>O </a:t>
            </a:r>
            <a:r>
              <a:rPr lang="pt-BR" sz="2400" b="0" i="0" dirty="0">
                <a:solidFill>
                  <a:srgbClr val="00B0F0"/>
                </a:solidFill>
                <a:effectLst/>
                <a:latin typeface="+mj-lt"/>
              </a:rPr>
              <a:t>User Agent</a:t>
            </a:r>
            <a:r>
              <a:rPr lang="pt-BR" sz="2400" b="0" i="0" dirty="0">
                <a:solidFill>
                  <a:schemeClr val="tx1"/>
                </a:solidFill>
                <a:effectLst/>
                <a:latin typeface="+mj-lt"/>
              </a:rPr>
              <a:t>, ou Agente de Usuário, é um componente </a:t>
            </a:r>
            <a:r>
              <a:rPr lang="pt-BR" sz="2400" b="0" i="0" dirty="0">
                <a:solidFill>
                  <a:srgbClr val="00B0F0"/>
                </a:solidFill>
                <a:effectLst/>
                <a:latin typeface="+mj-lt"/>
              </a:rPr>
              <a:t>fundamental</a:t>
            </a:r>
            <a:r>
              <a:rPr lang="pt-BR" sz="2400" b="0" i="0" dirty="0">
                <a:solidFill>
                  <a:schemeClr val="tx1"/>
                </a:solidFill>
                <a:effectLst/>
                <a:latin typeface="+mj-lt"/>
              </a:rPr>
              <a:t> na </a:t>
            </a:r>
            <a:r>
              <a:rPr lang="pt-BR" sz="2400" b="0" i="0" dirty="0">
                <a:solidFill>
                  <a:srgbClr val="FF0000"/>
                </a:solidFill>
                <a:effectLst/>
                <a:latin typeface="+mj-lt"/>
              </a:rPr>
              <a:t>comunicação entre um cliente e um servidor na internet</a:t>
            </a:r>
            <a:r>
              <a:rPr lang="pt-BR" sz="2400" b="0" i="0" dirty="0"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298450" marR="202565" indent="-2857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tx1"/>
              </a:solidFill>
              <a:latin typeface="+mj-lt"/>
            </a:endParaRPr>
          </a:p>
          <a:p>
            <a:pPr marL="298450" marR="202565" indent="-2857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  <a:latin typeface="+mj-lt"/>
              </a:rPr>
              <a:t>É</a:t>
            </a:r>
            <a:r>
              <a:rPr lang="pt-BR" sz="2400" b="0" i="0" dirty="0">
                <a:solidFill>
                  <a:schemeClr val="tx1"/>
                </a:solidFill>
                <a:effectLst/>
                <a:latin typeface="+mj-lt"/>
              </a:rPr>
              <a:t> responsável por </a:t>
            </a:r>
            <a:r>
              <a:rPr lang="pt-BR" sz="2400" b="0" i="0" dirty="0">
                <a:solidFill>
                  <a:srgbClr val="FF0000"/>
                </a:solidFill>
                <a:effectLst/>
                <a:latin typeface="+mj-lt"/>
              </a:rPr>
              <a:t>identificar</a:t>
            </a:r>
            <a:r>
              <a:rPr lang="pt-BR" sz="2400" b="0" i="0" dirty="0">
                <a:solidFill>
                  <a:schemeClr val="tx1"/>
                </a:solidFill>
                <a:effectLst/>
                <a:latin typeface="+mj-lt"/>
              </a:rPr>
              <a:t> e </a:t>
            </a:r>
            <a:r>
              <a:rPr lang="pt-BR" sz="2400" b="0" i="0" dirty="0">
                <a:solidFill>
                  <a:srgbClr val="FF0000"/>
                </a:solidFill>
                <a:effectLst/>
                <a:latin typeface="+mj-lt"/>
              </a:rPr>
              <a:t>informar</a:t>
            </a:r>
            <a:r>
              <a:rPr lang="pt-BR" sz="2400" b="0" i="0" dirty="0">
                <a:solidFill>
                  <a:schemeClr val="tx1"/>
                </a:solidFill>
                <a:effectLst/>
                <a:latin typeface="+mj-lt"/>
              </a:rPr>
              <a:t> ao servidor </a:t>
            </a:r>
            <a:r>
              <a:rPr lang="pt-BR" sz="2400" b="0" i="0" dirty="0">
                <a:solidFill>
                  <a:srgbClr val="FF0000"/>
                </a:solidFill>
                <a:effectLst/>
                <a:latin typeface="+mj-lt"/>
              </a:rPr>
              <a:t>qual é o software e o dispositivo</a:t>
            </a:r>
            <a:r>
              <a:rPr lang="pt-BR" sz="2400" b="0" i="0" dirty="0">
                <a:solidFill>
                  <a:schemeClr val="tx1"/>
                </a:solidFill>
                <a:effectLst/>
                <a:latin typeface="+mj-lt"/>
              </a:rPr>
              <a:t> utilizado pelo usuário para acessar determinado </a:t>
            </a:r>
            <a:r>
              <a:rPr lang="pt-BR" sz="2400" b="0" i="0" dirty="0">
                <a:solidFill>
                  <a:srgbClr val="FF0000"/>
                </a:solidFill>
                <a:effectLst/>
                <a:latin typeface="+mj-lt"/>
              </a:rPr>
              <a:t>recurso online</a:t>
            </a:r>
            <a:r>
              <a:rPr lang="pt-BR" sz="2400" b="0" i="0" dirty="0"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 marL="298450" marR="202565" indent="-2857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endParaRPr lang="pt-BR" sz="2400" b="0" i="0" dirty="0">
              <a:solidFill>
                <a:schemeClr val="tx1"/>
              </a:solidFill>
              <a:effectLst/>
              <a:latin typeface="+mj-lt"/>
            </a:endParaRPr>
          </a:p>
          <a:p>
            <a:pPr marL="298450" marR="202565" indent="-2857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chemeClr val="tx1"/>
                </a:solidFill>
                <a:effectLst/>
                <a:latin typeface="+mj-lt"/>
              </a:rPr>
              <a:t>Essa informação é </a:t>
            </a:r>
            <a:r>
              <a:rPr lang="pt-BR" sz="2400" b="0" i="0" dirty="0">
                <a:solidFill>
                  <a:srgbClr val="FF0000"/>
                </a:solidFill>
                <a:effectLst/>
                <a:latin typeface="+mj-lt"/>
              </a:rPr>
              <a:t>essencial</a:t>
            </a:r>
            <a:r>
              <a:rPr lang="pt-BR" sz="2400" b="0" i="0" dirty="0">
                <a:solidFill>
                  <a:schemeClr val="tx1"/>
                </a:solidFill>
                <a:effectLst/>
                <a:latin typeface="+mj-lt"/>
              </a:rPr>
              <a:t> para que o servidor possa fornecer uma resposta adequada, adaptada às características do cliente.</a:t>
            </a:r>
            <a:endParaRPr lang="pt-BR" sz="2400" dirty="0">
              <a:solidFill>
                <a:schemeClr val="tx1"/>
              </a:solidFill>
              <a:latin typeface="+mj-lt"/>
              <a:cs typeface="Trebuchet MS"/>
            </a:endParaRPr>
          </a:p>
          <a:p>
            <a:pPr marL="355600" marR="13335" indent="-342900">
              <a:lnSpc>
                <a:spcPct val="102499"/>
              </a:lnSpc>
              <a:spcBef>
                <a:spcPts val="95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8382"/>
            <a:ext cx="12192000" cy="6850380"/>
          </a:xfrm>
          <a:custGeom>
            <a:avLst/>
            <a:gdLst/>
            <a:ahLst/>
            <a:cxnLst/>
            <a:rect l="l" t="t" r="r" b="b"/>
            <a:pathLst>
              <a:path w="12192000" h="6850380">
                <a:moveTo>
                  <a:pt x="12192000" y="6850376"/>
                </a:moveTo>
                <a:lnTo>
                  <a:pt x="12192000" y="0"/>
                </a:lnTo>
                <a:lnTo>
                  <a:pt x="0" y="0"/>
                </a:lnTo>
                <a:lnTo>
                  <a:pt x="0" y="6850376"/>
                </a:lnTo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5800" y="201921"/>
            <a:ext cx="48685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600" spc="-5" dirty="0"/>
              <a:t>User-agent </a:t>
            </a:r>
            <a:endParaRPr sz="3600" dirty="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800" y="914400"/>
            <a:ext cx="10820400" cy="57983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l"/>
            <a:r>
              <a:rPr lang="pt-BR" b="0" i="0" dirty="0">
                <a:solidFill>
                  <a:srgbClr val="404040"/>
                </a:solidFill>
                <a:effectLst/>
                <a:latin typeface="quote-cjk-patch"/>
              </a:rPr>
              <a:t>O </a:t>
            </a:r>
            <a:r>
              <a:rPr lang="pt-BR" b="1" i="0" dirty="0">
                <a:solidFill>
                  <a:srgbClr val="00B0F0"/>
                </a:solidFill>
                <a:effectLst/>
                <a:latin typeface="quote-cjk-patch"/>
              </a:rPr>
              <a:t>User-Agent</a:t>
            </a:r>
            <a:r>
              <a:rPr lang="pt-BR" b="0" i="0" dirty="0">
                <a:solidFill>
                  <a:srgbClr val="404040"/>
                </a:solidFill>
                <a:effectLst/>
                <a:latin typeface="quote-cjk-patch"/>
              </a:rPr>
              <a:t> é uma string (cadeia de texto) enviada pelo navegador, aplicativo ou bot em toda requisição HTTP a um servidor web. Ele identifica </a:t>
            </a:r>
            <a:r>
              <a:rPr lang="pt-BR" b="1" i="0" dirty="0">
                <a:solidFill>
                  <a:srgbClr val="00B0F0"/>
                </a:solidFill>
                <a:effectLst/>
                <a:latin typeface="quote-cjk-patch"/>
              </a:rPr>
              <a:t>quem ou o que está fazendo a requisição</a:t>
            </a:r>
            <a:r>
              <a:rPr lang="pt-BR" b="0" i="0" dirty="0">
                <a:solidFill>
                  <a:srgbClr val="404040"/>
                </a:solidFill>
                <a:effectLst/>
                <a:latin typeface="quote-cjk-patch"/>
              </a:rPr>
              <a:t>, fornecendo detalhes como:</a:t>
            </a:r>
          </a:p>
          <a:p>
            <a:pPr algn="l"/>
            <a:endParaRPr lang="pt-BR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404040"/>
                </a:solidFill>
                <a:effectLst/>
                <a:latin typeface="quote-cjk-patch"/>
              </a:rPr>
              <a:t>Navegador</a:t>
            </a:r>
            <a:r>
              <a:rPr lang="pt-BR" b="0" i="0" dirty="0">
                <a:solidFill>
                  <a:srgbClr val="404040"/>
                </a:solidFill>
                <a:effectLst/>
                <a:latin typeface="quote-cjk-patch"/>
              </a:rPr>
              <a:t> (Chrome, Firefox, Safari, Edge)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404040"/>
                </a:solidFill>
                <a:effectLst/>
                <a:latin typeface="quote-cjk-patch"/>
              </a:rPr>
              <a:t>Versão do navegador</a:t>
            </a:r>
            <a:endParaRPr lang="pt-BR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404040"/>
                </a:solidFill>
                <a:effectLst/>
                <a:latin typeface="quote-cjk-patch"/>
              </a:rPr>
              <a:t>Sistema Operacional</a:t>
            </a:r>
            <a:r>
              <a:rPr lang="pt-BR" b="0" i="0" dirty="0">
                <a:solidFill>
                  <a:srgbClr val="404040"/>
                </a:solidFill>
                <a:effectLst/>
                <a:latin typeface="quote-cjk-patch"/>
              </a:rPr>
              <a:t> (Windows, macOS, Android, iOS)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404040"/>
                </a:solidFill>
                <a:effectLst/>
                <a:latin typeface="quote-cjk-patch"/>
              </a:rPr>
              <a:t>Dispositivo</a:t>
            </a:r>
            <a:r>
              <a:rPr lang="pt-BR" b="0" i="0" dirty="0">
                <a:solidFill>
                  <a:srgbClr val="404040"/>
                </a:solidFill>
                <a:effectLst/>
                <a:latin typeface="quote-cjk-patch"/>
              </a:rPr>
              <a:t> (Desktop, Mobile, Tablet)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404040"/>
                </a:solidFill>
                <a:effectLst/>
                <a:latin typeface="quote-cjk-patch"/>
              </a:rPr>
              <a:t>Motor de renderização</a:t>
            </a:r>
            <a:r>
              <a:rPr lang="pt-BR" b="0" i="0" dirty="0">
                <a:solidFill>
                  <a:srgbClr val="404040"/>
                </a:solidFill>
                <a:effectLst/>
                <a:latin typeface="quote-cjk-patch"/>
              </a:rPr>
              <a:t> (Blink, Gecko, WebKit)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404040"/>
                </a:solidFill>
                <a:effectLst/>
                <a:latin typeface="quote-cjk-patch"/>
              </a:rPr>
              <a:t>Bots e rastreadores</a:t>
            </a:r>
            <a:r>
              <a:rPr lang="pt-BR" b="0" i="0" dirty="0">
                <a:solidFill>
                  <a:srgbClr val="404040"/>
                </a:solidFill>
                <a:effectLst/>
                <a:latin typeface="quote-cjk-patch"/>
              </a:rPr>
              <a:t> (Googlebot, Bingbot, etc.)</a:t>
            </a:r>
          </a:p>
          <a:p>
            <a:br>
              <a:rPr lang="pt-BR" dirty="0"/>
            </a:br>
            <a:endParaRPr sz="4000" dirty="0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37747453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4919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Estrutura</a:t>
            </a:r>
            <a:r>
              <a:rPr sz="3600" spc="-70" dirty="0"/>
              <a:t> </a:t>
            </a:r>
            <a:r>
              <a:rPr sz="3600" spc="-10" dirty="0"/>
              <a:t>básica</a:t>
            </a:r>
            <a:r>
              <a:rPr sz="3600" spc="-100" dirty="0"/>
              <a:t> </a:t>
            </a:r>
            <a:r>
              <a:rPr sz="3600" spc="-5" dirty="0"/>
              <a:t>&lt;head&gt;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5943600" y="381000"/>
            <a:ext cx="4467225" cy="101346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  <a:tabLst>
                <a:tab pos="354965" algn="l"/>
              </a:tabLst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No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HEAD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ficam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os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metadados.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  <a:tab pos="2030095" algn="l"/>
                <a:tab pos="2702560" algn="l"/>
              </a:tabLst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Metadados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são	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informações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25251" y="1002793"/>
            <a:ext cx="1155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710" algn="l"/>
              </a:tabLst>
            </a:pPr>
            <a:r>
              <a:rPr sz="2400" spc="20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b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re	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86500" y="1377696"/>
            <a:ext cx="4314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página</a:t>
            </a:r>
            <a:r>
              <a:rPr sz="24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conteúdo</a:t>
            </a:r>
            <a:r>
              <a:rPr sz="2400" spc="-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publicado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43600" y="1860804"/>
            <a:ext cx="5748020" cy="11334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55600" marR="5080" indent="-342900" algn="just">
              <a:lnSpc>
                <a:spcPct val="101499"/>
              </a:lnSpc>
              <a:spcBef>
                <a:spcPts val="55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As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Meta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FF0000"/>
                </a:solidFill>
                <a:latin typeface="Trebuchet MS"/>
                <a:cs typeface="Trebuchet MS"/>
              </a:rPr>
              <a:t>Tags</a:t>
            </a:r>
            <a:r>
              <a:rPr sz="2400" spc="-1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auxiliam</a:t>
            </a:r>
            <a:r>
              <a:rPr sz="2400" spc="7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os</a:t>
            </a:r>
            <a:r>
              <a:rPr sz="2400" spc="7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mecanismos </a:t>
            </a:r>
            <a:r>
              <a:rPr sz="2400" spc="-7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busca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(search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engines)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a 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encontrarem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 seu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site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na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web.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8961" y="2009394"/>
            <a:ext cx="4758055" cy="3907790"/>
          </a:xfrm>
          <a:custGeom>
            <a:avLst/>
            <a:gdLst/>
            <a:ahLst/>
            <a:cxnLst/>
            <a:rect l="l" t="t" r="r" b="b"/>
            <a:pathLst>
              <a:path w="4758055" h="3907790">
                <a:moveTo>
                  <a:pt x="0" y="3907535"/>
                </a:moveTo>
                <a:lnTo>
                  <a:pt x="4757928" y="3907535"/>
                </a:lnTo>
                <a:lnTo>
                  <a:pt x="4757928" y="0"/>
                </a:lnTo>
                <a:lnTo>
                  <a:pt x="0" y="0"/>
                </a:lnTo>
                <a:lnTo>
                  <a:pt x="0" y="3907535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16939" y="2045665"/>
            <a:ext cx="4137025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Arial MT"/>
                <a:cs typeface="Arial MT"/>
              </a:rPr>
              <a:t>&lt;!DOCTYPE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html&gt;</a:t>
            </a:r>
          </a:p>
          <a:p>
            <a:pPr marL="9588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&lt;html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lang="pt-br"&gt;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&lt;head&gt;</a:t>
            </a:r>
            <a:endParaRPr sz="2400" dirty="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&lt;meta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charset="utf-8"/&gt;</a:t>
            </a:r>
            <a:endParaRPr sz="2400" dirty="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&lt;title&gt;HTML5&lt;/title&gt;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&lt;/head&gt;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15" dirty="0">
                <a:latin typeface="Arial MT"/>
                <a:cs typeface="Arial MT"/>
              </a:rPr>
              <a:t>&lt;body&gt;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939" y="4873244"/>
            <a:ext cx="1118235" cy="95821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400" spc="-10" dirty="0">
                <a:latin typeface="Arial MT"/>
                <a:cs typeface="Arial MT"/>
              </a:rPr>
              <a:t>&lt;</a:t>
            </a:r>
            <a:r>
              <a:rPr sz="2400" dirty="0">
                <a:latin typeface="Arial MT"/>
                <a:cs typeface="Arial MT"/>
              </a:rPr>
              <a:t>/</a:t>
            </a:r>
            <a:r>
              <a:rPr sz="2400" spc="-25" dirty="0">
                <a:latin typeface="Arial MT"/>
                <a:cs typeface="Arial MT"/>
              </a:rPr>
              <a:t>b</a:t>
            </a:r>
            <a:r>
              <a:rPr sz="2400" spc="-20" dirty="0">
                <a:latin typeface="Arial MT"/>
                <a:cs typeface="Arial MT"/>
              </a:rPr>
              <a:t>od</a:t>
            </a:r>
            <a:r>
              <a:rPr sz="2400" spc="-15" dirty="0">
                <a:latin typeface="Arial MT"/>
                <a:cs typeface="Arial MT"/>
              </a:rPr>
              <a:t>y</a:t>
            </a:r>
            <a:r>
              <a:rPr sz="2400" dirty="0">
                <a:latin typeface="Arial MT"/>
                <a:cs typeface="Arial MT"/>
              </a:rPr>
              <a:t>&gt;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spc="-5" dirty="0">
                <a:latin typeface="Arial MT"/>
                <a:cs typeface="Arial MT"/>
              </a:rPr>
              <a:t>&lt;/html&gt;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026" name="Picture 2" descr="Best Search Engines 2023">
            <a:extLst>
              <a:ext uri="{FF2B5EF4-FFF2-40B4-BE49-F238E27FC236}">
                <a16:creationId xmlns:a16="http://schemas.microsoft.com/office/drawing/2014/main" id="{7211239D-26B9-C142-DF17-D5A166B9A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983992"/>
            <a:ext cx="6312408" cy="3797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49758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Estrutura</a:t>
            </a:r>
            <a:r>
              <a:rPr sz="3600" spc="-90" dirty="0"/>
              <a:t> </a:t>
            </a:r>
            <a:r>
              <a:rPr sz="3600" spc="-5" dirty="0"/>
              <a:t>básica</a:t>
            </a:r>
            <a:r>
              <a:rPr sz="3600" spc="-60" dirty="0"/>
              <a:t> </a:t>
            </a:r>
            <a:r>
              <a:rPr sz="3600" spc="-15" dirty="0"/>
              <a:t>&lt;meta&gt;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5910834" y="1869185"/>
            <a:ext cx="5749290" cy="394779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55600" marR="16510" indent="-342900" algn="just">
              <a:lnSpc>
                <a:spcPct val="102899"/>
              </a:lnSpc>
              <a:spcBef>
                <a:spcPts val="15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Não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é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visível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 para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os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usuários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,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 mas </a:t>
            </a:r>
            <a:r>
              <a:rPr sz="2400" spc="-6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atende</a:t>
            </a:r>
            <a:r>
              <a:rPr sz="24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24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vários</a:t>
            </a:r>
            <a:r>
              <a:rPr sz="24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propósitos</a:t>
            </a:r>
            <a:endParaRPr sz="2400" dirty="0">
              <a:latin typeface="Arial MT"/>
              <a:cs typeface="Arial MT"/>
            </a:endParaRPr>
          </a:p>
          <a:p>
            <a:pPr marL="355600" marR="17145" indent="-342900" algn="just">
              <a:lnSpc>
                <a:spcPct val="102899"/>
              </a:lnSpc>
              <a:spcBef>
                <a:spcPts val="830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É</a:t>
            </a:r>
            <a:r>
              <a:rPr sz="24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um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elemento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Arial MT"/>
                <a:cs typeface="Arial MT"/>
              </a:rPr>
              <a:t>vazio,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 portanto,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Arial MT"/>
                <a:cs typeface="Arial MT"/>
              </a:rPr>
              <a:t>não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 possui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uma</a:t>
            </a:r>
            <a:r>
              <a:rPr sz="24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tag</a:t>
            </a:r>
            <a:r>
              <a:rPr sz="24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de</a:t>
            </a:r>
            <a:r>
              <a:rPr sz="24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fechamento.</a:t>
            </a:r>
            <a:endParaRPr sz="2400" dirty="0">
              <a:latin typeface="Arial MT"/>
              <a:cs typeface="Arial MT"/>
            </a:endParaRPr>
          </a:p>
          <a:p>
            <a:pPr marL="355600" marR="5080" indent="-342900" algn="just">
              <a:lnSpc>
                <a:spcPct val="100600"/>
              </a:lnSpc>
              <a:spcBef>
                <a:spcPts val="894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charset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: 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Para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HTML5,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codificação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caracteres padrão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é o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UTF-8 (Unicode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8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bits).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Unicode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faz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é 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fornecer um único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número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para cada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caractere,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não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importa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plataforma,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nem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programa,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nem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língua.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961" y="2009394"/>
            <a:ext cx="4758055" cy="3907790"/>
          </a:xfrm>
          <a:custGeom>
            <a:avLst/>
            <a:gdLst/>
            <a:ahLst/>
            <a:cxnLst/>
            <a:rect l="l" t="t" r="r" b="b"/>
            <a:pathLst>
              <a:path w="4758055" h="3907790">
                <a:moveTo>
                  <a:pt x="0" y="3907535"/>
                </a:moveTo>
                <a:lnTo>
                  <a:pt x="4757928" y="3907535"/>
                </a:lnTo>
                <a:lnTo>
                  <a:pt x="4757928" y="0"/>
                </a:lnTo>
                <a:lnTo>
                  <a:pt x="0" y="0"/>
                </a:lnTo>
                <a:lnTo>
                  <a:pt x="0" y="3907535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6939" y="2045665"/>
            <a:ext cx="4137025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Arial MT"/>
                <a:cs typeface="Arial MT"/>
              </a:rPr>
              <a:t>&lt;!DOCTYPE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html&gt;</a:t>
            </a:r>
            <a:endParaRPr sz="2400">
              <a:latin typeface="Arial MT"/>
              <a:cs typeface="Arial MT"/>
            </a:endParaRPr>
          </a:p>
          <a:p>
            <a:pPr marL="9588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&lt;html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lang="pt-br"&gt;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&lt;head&gt;</a:t>
            </a:r>
            <a:endParaRPr sz="24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&lt;meta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charset="utf-8"/&gt;</a:t>
            </a:r>
            <a:endParaRPr sz="24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&lt;title&gt;HTML5&lt;/title&gt;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&lt;/head&gt;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15" dirty="0">
                <a:latin typeface="Arial MT"/>
                <a:cs typeface="Arial MT"/>
              </a:rPr>
              <a:t>&lt;body&gt;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4873244"/>
            <a:ext cx="1118235" cy="95821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400" spc="-10" dirty="0">
                <a:latin typeface="Arial MT"/>
                <a:cs typeface="Arial MT"/>
              </a:rPr>
              <a:t>&lt;</a:t>
            </a:r>
            <a:r>
              <a:rPr sz="2400" dirty="0">
                <a:latin typeface="Arial MT"/>
                <a:cs typeface="Arial MT"/>
              </a:rPr>
              <a:t>/</a:t>
            </a:r>
            <a:r>
              <a:rPr sz="2400" spc="-25" dirty="0">
                <a:latin typeface="Arial MT"/>
                <a:cs typeface="Arial MT"/>
              </a:rPr>
              <a:t>b</a:t>
            </a:r>
            <a:r>
              <a:rPr sz="2400" spc="-20" dirty="0">
                <a:latin typeface="Arial MT"/>
                <a:cs typeface="Arial MT"/>
              </a:rPr>
              <a:t>od</a:t>
            </a:r>
            <a:r>
              <a:rPr sz="2400" spc="-15" dirty="0">
                <a:latin typeface="Arial MT"/>
                <a:cs typeface="Arial MT"/>
              </a:rPr>
              <a:t>y</a:t>
            </a:r>
            <a:r>
              <a:rPr sz="2400" dirty="0">
                <a:latin typeface="Arial MT"/>
                <a:cs typeface="Arial MT"/>
              </a:rPr>
              <a:t>&gt;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spc="-5" dirty="0">
                <a:latin typeface="Arial MT"/>
                <a:cs typeface="Arial MT"/>
              </a:rPr>
              <a:t>&lt;/html&gt;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4974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Mais</a:t>
            </a:r>
            <a:r>
              <a:rPr sz="3600" spc="-55" dirty="0"/>
              <a:t> </a:t>
            </a:r>
            <a:r>
              <a:rPr sz="3600" dirty="0"/>
              <a:t>sobre</a:t>
            </a:r>
            <a:r>
              <a:rPr sz="3600" spc="-45" dirty="0"/>
              <a:t> </a:t>
            </a:r>
            <a:r>
              <a:rPr sz="3600" dirty="0"/>
              <a:t>a</a:t>
            </a:r>
            <a:r>
              <a:rPr sz="3600" spc="-15" dirty="0"/>
              <a:t> </a:t>
            </a:r>
            <a:r>
              <a:rPr sz="3600" spc="-5" dirty="0"/>
              <a:t>tag</a:t>
            </a:r>
            <a:r>
              <a:rPr sz="3600" spc="-30" dirty="0"/>
              <a:t> </a:t>
            </a:r>
            <a:r>
              <a:rPr sz="3600" spc="-15" dirty="0">
                <a:solidFill>
                  <a:srgbClr val="FFC000"/>
                </a:solidFill>
              </a:rPr>
              <a:t>&lt;meta&gt;</a:t>
            </a:r>
            <a:endParaRPr sz="3600" dirty="0">
              <a:solidFill>
                <a:srgbClr val="FFC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005" y="1742693"/>
            <a:ext cx="10904220" cy="261366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900" spc="-18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Essa</a:t>
            </a:r>
            <a:r>
              <a:rPr sz="24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B0F0"/>
                </a:solidFill>
                <a:latin typeface="Arial MT"/>
                <a:cs typeface="Arial MT"/>
              </a:rPr>
              <a:t>tag</a:t>
            </a:r>
            <a:r>
              <a:rPr sz="2400" spc="-5" dirty="0">
                <a:solidFill>
                  <a:srgbClr val="00B0F0"/>
                </a:solidFill>
                <a:latin typeface="Arial MT"/>
                <a:cs typeface="Arial MT"/>
              </a:rPr>
              <a:t> não</a:t>
            </a:r>
            <a:r>
              <a:rPr sz="2400" spc="5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B0F0"/>
                </a:solidFill>
                <a:latin typeface="Arial MT"/>
                <a:cs typeface="Arial MT"/>
              </a:rPr>
              <a:t>é</a:t>
            </a:r>
            <a:r>
              <a:rPr sz="240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solidFill>
                  <a:srgbClr val="00B0F0"/>
                </a:solidFill>
                <a:latin typeface="Arial MT"/>
                <a:cs typeface="Arial MT"/>
              </a:rPr>
              <a:t>visível</a:t>
            </a:r>
            <a:r>
              <a:rPr sz="2400" spc="4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B0F0"/>
                </a:solidFill>
                <a:latin typeface="Arial MT"/>
                <a:cs typeface="Arial MT"/>
              </a:rPr>
              <a:t>para</a:t>
            </a:r>
            <a:r>
              <a:rPr sz="240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B0F0"/>
                </a:solidFill>
                <a:latin typeface="Arial MT"/>
                <a:cs typeface="Arial MT"/>
              </a:rPr>
              <a:t>os usuários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,</a:t>
            </a:r>
            <a:r>
              <a:rPr sz="2400" spc="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mas</a:t>
            </a:r>
            <a:r>
              <a:rPr sz="24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atende</a:t>
            </a:r>
            <a:r>
              <a:rPr sz="2400" spc="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a vários</a:t>
            </a:r>
            <a:r>
              <a:rPr sz="24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propósitos.</a:t>
            </a:r>
            <a:endParaRPr sz="2400" dirty="0">
              <a:latin typeface="Arial MT"/>
              <a:cs typeface="Arial MT"/>
            </a:endParaRPr>
          </a:p>
          <a:p>
            <a:pPr marL="355600" marR="5080" indent="-342900" algn="just">
              <a:lnSpc>
                <a:spcPct val="101499"/>
              </a:lnSpc>
              <a:spcBef>
                <a:spcPts val="950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900" spc="-3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Os</a:t>
            </a:r>
            <a:r>
              <a:rPr sz="2400" spc="3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atributos</a:t>
            </a:r>
            <a:r>
              <a:rPr sz="2400" spc="3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mais</a:t>
            </a:r>
            <a:r>
              <a:rPr sz="2400" spc="3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comuns</a:t>
            </a:r>
            <a:r>
              <a:rPr sz="2400" spc="3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são</a:t>
            </a:r>
            <a:r>
              <a:rPr sz="2400" spc="3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os</a:t>
            </a:r>
            <a:r>
              <a:rPr sz="2400" spc="3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atributos</a:t>
            </a:r>
            <a:r>
              <a:rPr sz="2400" spc="3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name</a:t>
            </a:r>
            <a:r>
              <a:rPr sz="2400" b="1" spc="3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e</a:t>
            </a:r>
            <a:r>
              <a:rPr sz="2400" spc="3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content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,</a:t>
            </a:r>
            <a:r>
              <a:rPr sz="2400" spc="3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que</a:t>
            </a:r>
            <a:r>
              <a:rPr sz="2400" spc="3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tendem</a:t>
            </a:r>
            <a:r>
              <a:rPr sz="2400" spc="3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a </a:t>
            </a:r>
            <a:r>
              <a:rPr sz="2400" spc="-6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ser</a:t>
            </a:r>
            <a:r>
              <a:rPr sz="24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usados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juntos.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Esses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 atributos</a:t>
            </a:r>
            <a:r>
              <a:rPr sz="24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especificam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propriedades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da</a:t>
            </a:r>
            <a:r>
              <a:rPr sz="2400" spc="6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página 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inteira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 marL="355600" marR="127635" indent="-342900" algn="just">
              <a:lnSpc>
                <a:spcPct val="106200"/>
              </a:lnSpc>
              <a:spcBef>
                <a:spcPts val="665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O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valor do atributo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name</a:t>
            </a:r>
            <a:r>
              <a:rPr sz="24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é a </a:t>
            </a:r>
            <a:r>
              <a:rPr sz="2400" spc="-5" dirty="0">
                <a:solidFill>
                  <a:srgbClr val="00B0F0"/>
                </a:solidFill>
                <a:latin typeface="Arial MT"/>
                <a:cs typeface="Arial MT"/>
              </a:rPr>
              <a:t>propriedade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que </a:t>
            </a:r>
            <a:r>
              <a:rPr sz="2400" spc="-15" dirty="0">
                <a:solidFill>
                  <a:srgbClr val="404040"/>
                </a:solidFill>
                <a:latin typeface="Arial MT"/>
                <a:cs typeface="Arial MT"/>
              </a:rPr>
              <a:t>você 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está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definindo</a:t>
            </a:r>
            <a:r>
              <a:rPr sz="2400" spc="6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e o valor 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do</a:t>
            </a:r>
            <a:r>
              <a:rPr sz="24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atributo</a:t>
            </a:r>
            <a:r>
              <a:rPr sz="2400" spc="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content</a:t>
            </a:r>
            <a:r>
              <a:rPr sz="24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é </a:t>
            </a:r>
            <a:r>
              <a:rPr sz="2400" spc="-5" dirty="0">
                <a:solidFill>
                  <a:srgbClr val="00B0F0"/>
                </a:solidFill>
                <a:latin typeface="Arial MT"/>
                <a:cs typeface="Arial MT"/>
              </a:rPr>
              <a:t>o</a:t>
            </a:r>
            <a:r>
              <a:rPr sz="2400" spc="5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B0F0"/>
                </a:solidFill>
                <a:latin typeface="Arial MT"/>
                <a:cs typeface="Arial MT"/>
              </a:rPr>
              <a:t>valor</a:t>
            </a:r>
            <a:r>
              <a:rPr sz="2400" spc="15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que </a:t>
            </a:r>
            <a:r>
              <a:rPr sz="2400" spc="-10" dirty="0">
                <a:solidFill>
                  <a:srgbClr val="404040"/>
                </a:solidFill>
                <a:latin typeface="Arial MT"/>
                <a:cs typeface="Arial MT"/>
              </a:rPr>
              <a:t>você</a:t>
            </a:r>
            <a:r>
              <a:rPr sz="2400" spc="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deseja</a:t>
            </a:r>
            <a:r>
              <a:rPr sz="2400" spc="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atribuir</a:t>
            </a:r>
            <a:r>
              <a:rPr sz="2400" spc="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a essa</a:t>
            </a:r>
            <a:r>
              <a:rPr sz="24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propriedade.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806289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4974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Mais</a:t>
            </a:r>
            <a:r>
              <a:rPr sz="3600" spc="-55" dirty="0"/>
              <a:t> </a:t>
            </a:r>
            <a:r>
              <a:rPr sz="3600" dirty="0"/>
              <a:t>sobre</a:t>
            </a:r>
            <a:r>
              <a:rPr sz="3600" spc="-45" dirty="0"/>
              <a:t> </a:t>
            </a:r>
            <a:r>
              <a:rPr sz="3600" dirty="0"/>
              <a:t>a</a:t>
            </a:r>
            <a:r>
              <a:rPr sz="3600" spc="-15" dirty="0"/>
              <a:t> </a:t>
            </a:r>
            <a:r>
              <a:rPr sz="3600" spc="-5" dirty="0"/>
              <a:t>tag</a:t>
            </a:r>
            <a:r>
              <a:rPr sz="3600" spc="-30" dirty="0"/>
              <a:t> </a:t>
            </a:r>
            <a:r>
              <a:rPr sz="3600" spc="-15" dirty="0">
                <a:solidFill>
                  <a:srgbClr val="FFC000"/>
                </a:solidFill>
              </a:rPr>
              <a:t>&lt;meta&gt;</a:t>
            </a:r>
            <a:endParaRPr sz="3600" dirty="0">
              <a:solidFill>
                <a:srgbClr val="FFC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005" y="1197990"/>
            <a:ext cx="10907395" cy="548162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55600" marR="8890" indent="-342900" algn="just">
              <a:lnSpc>
                <a:spcPts val="2690"/>
              </a:lnSpc>
              <a:spcBef>
                <a:spcPts val="345"/>
              </a:spcBef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Alguns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valores definidos 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para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o atributo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name</a:t>
            </a:r>
            <a:r>
              <a:rPr sz="24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que são comumente </a:t>
            </a:r>
            <a:r>
              <a:rPr sz="2400" dirty="0">
                <a:solidFill>
                  <a:srgbClr val="404040"/>
                </a:solidFill>
                <a:latin typeface="Arial MT"/>
                <a:cs typeface="Arial MT"/>
              </a:rPr>
              <a:t>usados </a:t>
            </a:r>
            <a:r>
              <a:rPr sz="24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são:</a:t>
            </a:r>
            <a:endParaRPr sz="2400" dirty="0">
              <a:latin typeface="Arial MT"/>
              <a:cs typeface="Arial MT"/>
            </a:endParaRPr>
          </a:p>
          <a:p>
            <a:pPr marL="757555" marR="7620" indent="-288290" algn="just">
              <a:lnSpc>
                <a:spcPct val="92500"/>
              </a:lnSpc>
              <a:spcBef>
                <a:spcPts val="819"/>
              </a:spcBef>
            </a:pPr>
            <a:r>
              <a:rPr sz="1750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200" spc="-5" dirty="0">
                <a:solidFill>
                  <a:srgbClr val="0000FF"/>
                </a:solidFill>
                <a:latin typeface="Arial MT"/>
                <a:cs typeface="Arial MT"/>
              </a:rPr>
              <a:t>description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: Esta contém uma descrição da </a:t>
            </a:r>
            <a:r>
              <a:rPr sz="2200" spc="-10" dirty="0">
                <a:solidFill>
                  <a:srgbClr val="404040"/>
                </a:solidFill>
                <a:latin typeface="Arial MT"/>
                <a:cs typeface="Arial MT"/>
              </a:rPr>
              <a:t>página.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Essa descrição é comumente </a:t>
            </a:r>
            <a:r>
              <a:rPr sz="220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usada </a:t>
            </a:r>
            <a:r>
              <a:rPr sz="2200" spc="-10" dirty="0">
                <a:solidFill>
                  <a:srgbClr val="404040"/>
                </a:solidFill>
                <a:latin typeface="Arial MT"/>
                <a:cs typeface="Arial MT"/>
              </a:rPr>
              <a:t>pelos </a:t>
            </a:r>
            <a:r>
              <a:rPr sz="2200" dirty="0">
                <a:solidFill>
                  <a:srgbClr val="404040"/>
                </a:solidFill>
                <a:latin typeface="Arial MT"/>
                <a:cs typeface="Arial MT"/>
              </a:rPr>
              <a:t>mecanismos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de </a:t>
            </a:r>
            <a:r>
              <a:rPr sz="2200" spc="-10" dirty="0">
                <a:solidFill>
                  <a:srgbClr val="404040"/>
                </a:solidFill>
                <a:latin typeface="Arial MT"/>
                <a:cs typeface="Arial MT"/>
              </a:rPr>
              <a:t>pesquisa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para entender o que é a página e deve ter </a:t>
            </a:r>
            <a:r>
              <a:rPr sz="220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no</a:t>
            </a:r>
            <a:r>
              <a:rPr sz="22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máximo</a:t>
            </a:r>
            <a:r>
              <a:rPr sz="2200" spc="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04040"/>
                </a:solidFill>
                <a:latin typeface="Arial MT"/>
                <a:cs typeface="Arial MT"/>
              </a:rPr>
              <a:t>155</a:t>
            </a:r>
            <a:r>
              <a:rPr sz="2200" spc="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200" dirty="0" err="1">
                <a:solidFill>
                  <a:srgbClr val="404040"/>
                </a:solidFill>
                <a:latin typeface="Arial MT"/>
                <a:cs typeface="Arial MT"/>
              </a:rPr>
              <a:t>caracteres</a:t>
            </a:r>
            <a:r>
              <a:rPr sz="2200" dirty="0">
                <a:solidFill>
                  <a:srgbClr val="404040"/>
                </a:solidFill>
                <a:latin typeface="Arial MT"/>
                <a:cs typeface="Arial MT"/>
              </a:rPr>
              <a:t>.</a:t>
            </a:r>
            <a:endParaRPr lang="en-US" sz="2200" dirty="0">
              <a:solidFill>
                <a:srgbClr val="404040"/>
              </a:solidFill>
              <a:latin typeface="Arial MT"/>
              <a:cs typeface="Arial MT"/>
            </a:endParaRPr>
          </a:p>
          <a:p>
            <a:pPr marL="757555" marR="7620" indent="-288290" algn="just">
              <a:lnSpc>
                <a:spcPct val="92500"/>
              </a:lnSpc>
              <a:spcBef>
                <a:spcPts val="819"/>
              </a:spcBef>
            </a:pPr>
            <a:endParaRPr lang="pt-BR" sz="2200" dirty="0">
              <a:solidFill>
                <a:srgbClr val="404040"/>
              </a:solidFill>
              <a:latin typeface="Arial MT"/>
              <a:cs typeface="Arial MT"/>
            </a:endParaRPr>
          </a:p>
          <a:p>
            <a:pPr marL="757555" marR="7620" indent="-288290" algn="just">
              <a:lnSpc>
                <a:spcPct val="92500"/>
              </a:lnSpc>
              <a:spcBef>
                <a:spcPts val="819"/>
              </a:spcBef>
            </a:pPr>
            <a:endParaRPr sz="2200" dirty="0">
              <a:latin typeface="Arial MT"/>
              <a:cs typeface="Arial MT"/>
            </a:endParaRPr>
          </a:p>
          <a:p>
            <a:pPr marL="757555" marR="5715" indent="-288290" algn="just">
              <a:lnSpc>
                <a:spcPct val="92300"/>
              </a:lnSpc>
              <a:spcBef>
                <a:spcPts val="885"/>
              </a:spcBef>
            </a:pPr>
            <a:r>
              <a:rPr sz="1750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200" spc="-5" dirty="0">
                <a:solidFill>
                  <a:srgbClr val="0000FF"/>
                </a:solidFill>
                <a:latin typeface="Arial MT"/>
                <a:cs typeface="Arial MT"/>
              </a:rPr>
              <a:t>keywords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: Contém </a:t>
            </a:r>
            <a:r>
              <a:rPr sz="2200" spc="-10" dirty="0">
                <a:solidFill>
                  <a:srgbClr val="404040"/>
                </a:solidFill>
                <a:latin typeface="Arial MT"/>
                <a:cs typeface="Arial MT"/>
              </a:rPr>
              <a:t>uma lista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de palavras separadas </a:t>
            </a:r>
            <a:r>
              <a:rPr sz="2200" dirty="0">
                <a:solidFill>
                  <a:srgbClr val="404040"/>
                </a:solidFill>
                <a:latin typeface="Arial MT"/>
                <a:cs typeface="Arial MT"/>
              </a:rPr>
              <a:t>por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parsing que um usuário </a:t>
            </a:r>
            <a:r>
              <a:rPr sz="220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pode pesquisar para encontrar a página. </a:t>
            </a:r>
            <a:r>
              <a:rPr sz="2200" spc="-15" dirty="0">
                <a:solidFill>
                  <a:srgbClr val="404040"/>
                </a:solidFill>
                <a:latin typeface="Arial MT"/>
                <a:cs typeface="Arial MT"/>
              </a:rPr>
              <a:t>Na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prática, isso </a:t>
            </a:r>
            <a:r>
              <a:rPr sz="2200" spc="-10" dirty="0">
                <a:solidFill>
                  <a:srgbClr val="404040"/>
                </a:solidFill>
                <a:latin typeface="Arial MT"/>
                <a:cs typeface="Arial MT"/>
              </a:rPr>
              <a:t>não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tem mais nenhum </a:t>
            </a:r>
            <a:r>
              <a:rPr sz="2200" dirty="0">
                <a:solidFill>
                  <a:srgbClr val="404040"/>
                </a:solidFill>
                <a:latin typeface="Arial MT"/>
                <a:cs typeface="Arial MT"/>
              </a:rPr>
              <a:t> efeito</a:t>
            </a:r>
            <a:r>
              <a:rPr sz="22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perceptível</a:t>
            </a:r>
            <a:r>
              <a:rPr sz="2200" spc="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04040"/>
                </a:solidFill>
                <a:latin typeface="Arial MT"/>
                <a:cs typeface="Arial MT"/>
              </a:rPr>
              <a:t>sobre</a:t>
            </a:r>
            <a:r>
              <a:rPr sz="2200" spc="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como</a:t>
            </a:r>
            <a:r>
              <a:rPr sz="2200" spc="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os</a:t>
            </a:r>
            <a:r>
              <a:rPr sz="22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04040"/>
                </a:solidFill>
                <a:latin typeface="Arial MT"/>
                <a:cs typeface="Arial MT"/>
              </a:rPr>
              <a:t>mecanismos</a:t>
            </a:r>
            <a:r>
              <a:rPr sz="22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de</a:t>
            </a:r>
            <a:r>
              <a:rPr sz="220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pesquisa</a:t>
            </a:r>
            <a:r>
              <a:rPr sz="2200" spc="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Arial MT"/>
                <a:cs typeface="Arial MT"/>
              </a:rPr>
              <a:t>indexam</a:t>
            </a:r>
            <a:r>
              <a:rPr sz="2200" spc="8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seu </a:t>
            </a:r>
            <a:r>
              <a:rPr sz="2200" dirty="0">
                <a:solidFill>
                  <a:srgbClr val="404040"/>
                </a:solidFill>
                <a:latin typeface="Arial MT"/>
                <a:cs typeface="Arial MT"/>
              </a:rPr>
              <a:t>site.</a:t>
            </a:r>
            <a:endParaRPr sz="2200" dirty="0">
              <a:latin typeface="Arial MT"/>
              <a:cs typeface="Arial MT"/>
            </a:endParaRPr>
          </a:p>
          <a:p>
            <a:pPr marL="757555" marR="5080" indent="-288290" algn="just">
              <a:lnSpc>
                <a:spcPct val="90800"/>
              </a:lnSpc>
              <a:spcBef>
                <a:spcPts val="910"/>
              </a:spcBef>
            </a:pPr>
            <a:endParaRPr lang="en-US" sz="1750" dirty="0">
              <a:solidFill>
                <a:srgbClr val="90C224"/>
              </a:solidFill>
              <a:latin typeface="Lucida Sans Unicode"/>
              <a:cs typeface="Lucida Sans Unicode"/>
            </a:endParaRPr>
          </a:p>
          <a:p>
            <a:pPr marL="757555" marR="5080" indent="-288290" algn="just">
              <a:lnSpc>
                <a:spcPct val="90800"/>
              </a:lnSpc>
              <a:spcBef>
                <a:spcPts val="910"/>
              </a:spcBef>
            </a:pPr>
            <a:endParaRPr lang="en-US" sz="1750" dirty="0">
              <a:solidFill>
                <a:srgbClr val="90C224"/>
              </a:solidFill>
              <a:latin typeface="Lucida Sans Unicode"/>
              <a:cs typeface="Lucida Sans Unicode"/>
            </a:endParaRPr>
          </a:p>
          <a:p>
            <a:pPr marL="757555" marR="5080" indent="-288290" algn="just">
              <a:lnSpc>
                <a:spcPct val="90800"/>
              </a:lnSpc>
              <a:spcBef>
                <a:spcPts val="910"/>
              </a:spcBef>
            </a:pPr>
            <a:endParaRPr lang="en-US" sz="1750" dirty="0">
              <a:solidFill>
                <a:srgbClr val="90C224"/>
              </a:solidFill>
              <a:latin typeface="Lucida Sans Unicode"/>
              <a:cs typeface="Lucida Sans Unicode"/>
            </a:endParaRPr>
          </a:p>
          <a:p>
            <a:pPr marL="757555" marR="5080" indent="-288290" algn="just">
              <a:lnSpc>
                <a:spcPct val="90800"/>
              </a:lnSpc>
              <a:spcBef>
                <a:spcPts val="910"/>
              </a:spcBef>
            </a:pPr>
            <a:r>
              <a:rPr sz="2000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  <a:hlinkClick r:id="rId2"/>
              </a:rPr>
              <a:t>link para mais exemplos e </a:t>
            </a:r>
            <a:r>
              <a:rPr sz="2200" spc="-10" dirty="0">
                <a:solidFill>
                  <a:srgbClr val="404040"/>
                </a:solidFill>
                <a:latin typeface="Arial MT"/>
                <a:cs typeface="Arial MT"/>
                <a:hlinkClick r:id="rId2"/>
              </a:rPr>
              <a:t>explicações: </a:t>
            </a:r>
            <a:r>
              <a:rPr sz="22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https://www.devmedia.com.br/html-meta- </a:t>
            </a:r>
            <a:r>
              <a:rPr sz="2200" spc="-5" dirty="0">
                <a:solidFill>
                  <a:srgbClr val="0000FF"/>
                </a:solidFill>
                <a:latin typeface="Arial MT"/>
                <a:cs typeface="Arial MT"/>
                <a:hlinkClick r:id="rId2"/>
              </a:rPr>
              <a:t> </a:t>
            </a:r>
            <a:r>
              <a:rPr sz="22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tags-entendendo-o-uso-de-meta-tags/30328</a:t>
            </a:r>
            <a:endParaRPr sz="2200" dirty="0">
              <a:latin typeface="Arial MT"/>
              <a:cs typeface="Arial M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F08476-10E4-39C9-DA0B-76D173B66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048000"/>
            <a:ext cx="8593015" cy="457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801162-1D9C-1218-57C9-DA9F7E48D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4953000"/>
            <a:ext cx="7521678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791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4" y="616458"/>
            <a:ext cx="9226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Mais</a:t>
            </a:r>
            <a:r>
              <a:rPr sz="3600" spc="-55" dirty="0"/>
              <a:t> </a:t>
            </a:r>
            <a:r>
              <a:rPr sz="3600" dirty="0"/>
              <a:t>sobre</a:t>
            </a:r>
            <a:r>
              <a:rPr sz="3600" spc="-45" dirty="0"/>
              <a:t> </a:t>
            </a:r>
            <a:r>
              <a:rPr sz="3600" dirty="0"/>
              <a:t>a</a:t>
            </a:r>
            <a:r>
              <a:rPr sz="3600" spc="-15" dirty="0"/>
              <a:t> </a:t>
            </a:r>
            <a:r>
              <a:rPr sz="3600" spc="-5" dirty="0"/>
              <a:t>tag</a:t>
            </a:r>
            <a:r>
              <a:rPr sz="3600" spc="-30" dirty="0"/>
              <a:t> </a:t>
            </a:r>
            <a:r>
              <a:rPr sz="3600" spc="-15" dirty="0">
                <a:solidFill>
                  <a:srgbClr val="FFC000"/>
                </a:solidFill>
              </a:rPr>
              <a:t>&lt;meta&gt;</a:t>
            </a:r>
            <a:r>
              <a:rPr lang="pt-BR" sz="3600" spc="-15" dirty="0">
                <a:solidFill>
                  <a:srgbClr val="FFC000"/>
                </a:solidFill>
              </a:rPr>
              <a:t> atributo robots</a:t>
            </a:r>
            <a:endParaRPr sz="3600" dirty="0">
              <a:solidFill>
                <a:srgbClr val="FFC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0" y="1295400"/>
            <a:ext cx="9829800" cy="1993494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55600" marR="8890" indent="-342900" algn="just">
              <a:lnSpc>
                <a:spcPts val="2690"/>
              </a:lnSpc>
              <a:spcBef>
                <a:spcPts val="345"/>
              </a:spcBef>
            </a:pPr>
            <a:r>
              <a:rPr sz="1750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200" spc="-5" dirty="0">
                <a:solidFill>
                  <a:srgbClr val="0000FF"/>
                </a:solidFill>
                <a:latin typeface="Arial MT"/>
                <a:cs typeface="Arial MT"/>
              </a:rPr>
              <a:t>robots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: Isso </a:t>
            </a:r>
            <a:r>
              <a:rPr sz="2200" spc="-10" dirty="0">
                <a:solidFill>
                  <a:srgbClr val="404040"/>
                </a:solidFill>
                <a:latin typeface="Arial MT"/>
                <a:cs typeface="Arial MT"/>
              </a:rPr>
              <a:t>indica </a:t>
            </a:r>
            <a:r>
              <a:rPr sz="2200" dirty="0">
                <a:solidFill>
                  <a:srgbClr val="404040"/>
                </a:solidFill>
                <a:latin typeface="Arial MT"/>
                <a:cs typeface="Arial MT"/>
              </a:rPr>
              <a:t>se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os </a:t>
            </a:r>
            <a:r>
              <a:rPr sz="2200" spc="-10" dirty="0">
                <a:solidFill>
                  <a:srgbClr val="FF0000"/>
                </a:solidFill>
                <a:latin typeface="Arial MT"/>
                <a:cs typeface="Arial MT"/>
              </a:rPr>
              <a:t>mecanismos 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de 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pesquisa devem adicionar essa </a:t>
            </a:r>
            <a:r>
              <a:rPr sz="2200" spc="-10" dirty="0">
                <a:solidFill>
                  <a:srgbClr val="FF0000"/>
                </a:solidFill>
                <a:latin typeface="Arial MT"/>
                <a:cs typeface="Arial MT"/>
              </a:rPr>
              <a:t>página </a:t>
            </a:r>
            <a:r>
              <a:rPr sz="2200" spc="-5" dirty="0">
                <a:solidFill>
                  <a:srgbClr val="FF0000"/>
                </a:solidFill>
                <a:latin typeface="Arial MT"/>
                <a:cs typeface="Arial MT"/>
              </a:rPr>
              <a:t> aos resultados da pesquisa ou não</a:t>
            </a:r>
            <a:r>
              <a:rPr sz="2200" spc="-5" dirty="0">
                <a:solidFill>
                  <a:srgbClr val="404040"/>
                </a:solidFill>
                <a:latin typeface="Arial MT"/>
                <a:cs typeface="Arial MT"/>
              </a:rPr>
              <a:t>. </a:t>
            </a:r>
            <a:endParaRPr lang="en-US" sz="2200" spc="-5" dirty="0">
              <a:solidFill>
                <a:srgbClr val="404040"/>
              </a:solidFill>
              <a:latin typeface="Arial MT"/>
              <a:cs typeface="Arial MT"/>
            </a:endParaRPr>
          </a:p>
          <a:p>
            <a:pPr marL="355600" marR="8890" indent="-342900" algn="just">
              <a:lnSpc>
                <a:spcPts val="2690"/>
              </a:lnSpc>
              <a:spcBef>
                <a:spcPts val="345"/>
              </a:spcBef>
            </a:pPr>
            <a:endParaRPr lang="en-US" sz="2000" dirty="0">
              <a:solidFill>
                <a:srgbClr val="90C224"/>
              </a:solidFill>
              <a:latin typeface="Lucida Sans Unicode"/>
              <a:cs typeface="Lucida Sans Unicode"/>
            </a:endParaRPr>
          </a:p>
          <a:p>
            <a:pPr marL="757555" marR="5715" indent="-288290" algn="just">
              <a:lnSpc>
                <a:spcPts val="2470"/>
              </a:lnSpc>
              <a:spcBef>
                <a:spcPts val="860"/>
              </a:spcBef>
            </a:pPr>
            <a:endParaRPr lang="en-US" sz="2000" dirty="0">
              <a:solidFill>
                <a:srgbClr val="90C224"/>
              </a:solidFill>
              <a:latin typeface="Lucida Sans Unicode"/>
              <a:cs typeface="Lucida Sans Unicode"/>
            </a:endParaRPr>
          </a:p>
          <a:p>
            <a:pPr marL="757555" marR="5715" indent="-288290" algn="just">
              <a:lnSpc>
                <a:spcPts val="2470"/>
              </a:lnSpc>
              <a:spcBef>
                <a:spcPts val="860"/>
              </a:spcBef>
            </a:pPr>
            <a:endParaRPr sz="2200" dirty="0">
              <a:latin typeface="Arial MT"/>
              <a:cs typeface="Arial M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E56F91-E7FC-A24C-0B36-5C5CE63FD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08" y="2485137"/>
            <a:ext cx="10394092" cy="388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13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4" y="616458"/>
            <a:ext cx="8540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Mais</a:t>
            </a:r>
            <a:r>
              <a:rPr sz="3600" spc="-55" dirty="0"/>
              <a:t> </a:t>
            </a:r>
            <a:r>
              <a:rPr sz="3600" dirty="0"/>
              <a:t>sobre</a:t>
            </a:r>
            <a:r>
              <a:rPr sz="3600" spc="-45" dirty="0"/>
              <a:t> </a:t>
            </a:r>
            <a:r>
              <a:rPr sz="3600" dirty="0"/>
              <a:t>a</a:t>
            </a:r>
            <a:r>
              <a:rPr sz="3600" spc="-15" dirty="0"/>
              <a:t> </a:t>
            </a:r>
            <a:r>
              <a:rPr sz="3600" spc="-5" dirty="0"/>
              <a:t>tag</a:t>
            </a:r>
            <a:r>
              <a:rPr sz="3600" spc="-30" dirty="0"/>
              <a:t> </a:t>
            </a:r>
            <a:r>
              <a:rPr sz="3600" spc="-15" dirty="0">
                <a:solidFill>
                  <a:srgbClr val="FFC000"/>
                </a:solidFill>
              </a:rPr>
              <a:t>&lt;meta&gt;</a:t>
            </a:r>
            <a:r>
              <a:rPr lang="pt-BR" sz="3600" spc="-15" dirty="0">
                <a:solidFill>
                  <a:srgbClr val="FFC000"/>
                </a:solidFill>
              </a:rPr>
              <a:t> atributo robots</a:t>
            </a:r>
            <a:endParaRPr sz="3600" dirty="0">
              <a:solidFill>
                <a:srgbClr val="FFC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42F760-5B7C-D98B-A220-6AA93ABB5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217829"/>
              </p:ext>
            </p:extLst>
          </p:nvPr>
        </p:nvGraphicFramePr>
        <p:xfrm>
          <a:off x="190501" y="1347725"/>
          <a:ext cx="11810998" cy="4610196"/>
        </p:xfrm>
        <a:graphic>
          <a:graphicData uri="http://schemas.openxmlformats.org/drawingml/2006/table">
            <a:tbl>
              <a:tblPr/>
              <a:tblGrid>
                <a:gridCol w="1939458">
                  <a:extLst>
                    <a:ext uri="{9D8B030D-6E8A-4147-A177-3AD203B41FA5}">
                      <a16:colId xmlns:a16="http://schemas.microsoft.com/office/drawing/2014/main" val="2576954531"/>
                    </a:ext>
                  </a:extLst>
                </a:gridCol>
                <a:gridCol w="1974308">
                  <a:extLst>
                    <a:ext uri="{9D8B030D-6E8A-4147-A177-3AD203B41FA5}">
                      <a16:colId xmlns:a16="http://schemas.microsoft.com/office/drawing/2014/main" val="2714327860"/>
                    </a:ext>
                  </a:extLst>
                </a:gridCol>
                <a:gridCol w="1974308">
                  <a:extLst>
                    <a:ext uri="{9D8B030D-6E8A-4147-A177-3AD203B41FA5}">
                      <a16:colId xmlns:a16="http://schemas.microsoft.com/office/drawing/2014/main" val="4004742737"/>
                    </a:ext>
                  </a:extLst>
                </a:gridCol>
                <a:gridCol w="1974308">
                  <a:extLst>
                    <a:ext uri="{9D8B030D-6E8A-4147-A177-3AD203B41FA5}">
                      <a16:colId xmlns:a16="http://schemas.microsoft.com/office/drawing/2014/main" val="3256603482"/>
                    </a:ext>
                  </a:extLst>
                </a:gridCol>
                <a:gridCol w="1974308">
                  <a:extLst>
                    <a:ext uri="{9D8B030D-6E8A-4147-A177-3AD203B41FA5}">
                      <a16:colId xmlns:a16="http://schemas.microsoft.com/office/drawing/2014/main" val="3922688473"/>
                    </a:ext>
                  </a:extLst>
                </a:gridCol>
                <a:gridCol w="1974308">
                  <a:extLst>
                    <a:ext uri="{9D8B030D-6E8A-4147-A177-3AD203B41FA5}">
                      <a16:colId xmlns:a16="http://schemas.microsoft.com/office/drawing/2014/main" val="3223848439"/>
                    </a:ext>
                  </a:extLst>
                </a:gridCol>
              </a:tblGrid>
              <a:tr h="385963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404040"/>
                          </a:solidFill>
                          <a:effectLst/>
                        </a:rPr>
                        <a:t>Diretiva</a:t>
                      </a:r>
                    </a:p>
                  </a:txBody>
                  <a:tcPr marL="6914" marR="7202" marT="7202" marB="72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404040"/>
                          </a:solidFill>
                          <a:effectLst/>
                        </a:rPr>
                        <a:t>Indexação no SEO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404040"/>
                          </a:solidFill>
                          <a:effectLst/>
                        </a:rPr>
                        <a:t>Segue Links da página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404040"/>
                          </a:solidFill>
                          <a:effectLst/>
                        </a:rPr>
                        <a:t>Armazenamento em Cache (Google)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404040"/>
                          </a:solidFill>
                          <a:effectLst/>
                        </a:rPr>
                        <a:t>Equivalente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404040"/>
                          </a:solidFill>
                          <a:effectLst/>
                        </a:rPr>
                        <a:t>Descrição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228772"/>
                  </a:ext>
                </a:extLst>
              </a:tr>
              <a:tr h="572643">
                <a:tc>
                  <a:txBody>
                    <a:bodyPr/>
                    <a:lstStyle/>
                    <a:p>
                      <a:r>
                        <a:rPr lang="pt-BR" sz="1400" b="1" dirty="0">
                          <a:effectLst/>
                        </a:rPr>
                        <a:t>Padrão</a:t>
                      </a:r>
                      <a:r>
                        <a:rPr lang="pt-BR" sz="1400" dirty="0">
                          <a:effectLst/>
                        </a:rPr>
                        <a:t> (default) Vazio</a:t>
                      </a:r>
                    </a:p>
                  </a:txBody>
                  <a:tcPr marL="6914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✅ Sim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✅ Sim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✅ Sim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index, follow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Comportamento quando nenhuma diretiva é especificada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856200"/>
                  </a:ext>
                </a:extLst>
              </a:tr>
              <a:tr h="385963">
                <a:tc>
                  <a:txBody>
                    <a:bodyPr/>
                    <a:lstStyle/>
                    <a:p>
                      <a:r>
                        <a:rPr lang="pt-BR" sz="1400" b="1">
                          <a:effectLst/>
                        </a:rPr>
                        <a:t>all</a:t>
                      </a:r>
                      <a:endParaRPr lang="pt-BR" sz="1400">
                        <a:effectLst/>
                      </a:endParaRPr>
                    </a:p>
                  </a:txBody>
                  <a:tcPr marL="6914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✅ Sim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✅ Sim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✅ Sim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index, follow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Permite indexação e seguir links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999578"/>
                  </a:ext>
                </a:extLst>
              </a:tr>
              <a:tr h="385963">
                <a:tc>
                  <a:txBody>
                    <a:bodyPr/>
                    <a:lstStyle/>
                    <a:p>
                      <a:r>
                        <a:rPr lang="pt-BR" sz="1400" b="1">
                          <a:effectLst/>
                        </a:rPr>
                        <a:t>index</a:t>
                      </a:r>
                      <a:endParaRPr lang="pt-BR" sz="1400">
                        <a:effectLst/>
                      </a:endParaRPr>
                    </a:p>
                  </a:txBody>
                  <a:tcPr marL="6914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✅ Sim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✅ Sim*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✅ Sim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-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Permite indexação (*links são seguidos por padrão)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907275"/>
                  </a:ext>
                </a:extLst>
              </a:tr>
              <a:tr h="385963">
                <a:tc>
                  <a:txBody>
                    <a:bodyPr/>
                    <a:lstStyle/>
                    <a:p>
                      <a:r>
                        <a:rPr lang="pt-BR" sz="1400" b="1">
                          <a:effectLst/>
                        </a:rPr>
                        <a:t>noindex</a:t>
                      </a:r>
                      <a:endParaRPr lang="pt-BR" sz="1400">
                        <a:effectLst/>
                      </a:endParaRPr>
                    </a:p>
                  </a:txBody>
                  <a:tcPr marL="6914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❌ Não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✅ Sim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✅ Sim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-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Bloqueia indexação mas permite seguir links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209099"/>
                  </a:ext>
                </a:extLst>
              </a:tr>
              <a:tr h="572643">
                <a:tc>
                  <a:txBody>
                    <a:bodyPr/>
                    <a:lstStyle/>
                    <a:p>
                      <a:r>
                        <a:rPr lang="pt-BR" sz="1400" b="1">
                          <a:effectLst/>
                        </a:rPr>
                        <a:t>follow</a:t>
                      </a:r>
                      <a:endParaRPr lang="pt-BR" sz="1400">
                        <a:effectLst/>
                      </a:endParaRPr>
                    </a:p>
                  </a:txBody>
                  <a:tcPr marL="6914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✅ Sim*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✅ Sim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✅ Sim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-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Permite seguir links (*indexação permitida por padrão)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70917"/>
                  </a:ext>
                </a:extLst>
              </a:tr>
              <a:tr h="385963">
                <a:tc>
                  <a:txBody>
                    <a:bodyPr/>
                    <a:lstStyle/>
                    <a:p>
                      <a:r>
                        <a:rPr lang="pt-BR" sz="1400" b="1">
                          <a:effectLst/>
                        </a:rPr>
                        <a:t>nofollow</a:t>
                      </a:r>
                      <a:endParaRPr lang="pt-BR" sz="1400">
                        <a:effectLst/>
                      </a:endParaRPr>
                    </a:p>
                  </a:txBody>
                  <a:tcPr marL="6914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✅ Sim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❌ Não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✅ Sim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-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Permite indexação mas bloqueia seguir links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366463"/>
                  </a:ext>
                </a:extLst>
              </a:tr>
              <a:tr h="385963">
                <a:tc>
                  <a:txBody>
                    <a:bodyPr/>
                    <a:lstStyle/>
                    <a:p>
                      <a:r>
                        <a:rPr lang="pt-BR" sz="1400" b="1">
                          <a:effectLst/>
                        </a:rPr>
                        <a:t>none</a:t>
                      </a:r>
                      <a:endParaRPr lang="pt-BR" sz="1400">
                        <a:effectLst/>
                      </a:endParaRPr>
                    </a:p>
                  </a:txBody>
                  <a:tcPr marL="6914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❌ Não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❌ Não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✅ Sim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noindex, nofollow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Bloqueia indexação e seguir links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015765"/>
                  </a:ext>
                </a:extLst>
              </a:tr>
              <a:tr h="572643">
                <a:tc>
                  <a:txBody>
                    <a:bodyPr/>
                    <a:lstStyle/>
                    <a:p>
                      <a:r>
                        <a:rPr lang="pt-BR" sz="1400" b="1">
                          <a:effectLst/>
                        </a:rPr>
                        <a:t>noarchive</a:t>
                      </a:r>
                      <a:endParaRPr lang="pt-BR" sz="1400">
                        <a:effectLst/>
                      </a:endParaRPr>
                    </a:p>
                  </a:txBody>
                  <a:tcPr marL="6914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✅ Sim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✅ Sim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❌ Não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-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Específico Google - bloqueia cache mas permite indexação</a:t>
                      </a:r>
                    </a:p>
                  </a:txBody>
                  <a:tcPr marL="7202" marR="7202" marT="7202" marB="7202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10842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3FEB53F-726A-39AE-1B23-2C3440A6E557}"/>
              </a:ext>
            </a:extLst>
          </p:cNvPr>
          <p:cNvSpPr txBox="1"/>
          <p:nvPr/>
        </p:nvSpPr>
        <p:spPr>
          <a:xfrm>
            <a:off x="3886200" y="5957921"/>
            <a:ext cx="7848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200" b="1" i="0" dirty="0">
                <a:solidFill>
                  <a:srgbClr val="404040"/>
                </a:solidFill>
                <a:effectLst/>
                <a:latin typeface="quote-cjk-patch"/>
              </a:rPr>
              <a:t>Legenda:</a:t>
            </a:r>
            <a:endParaRPr lang="pt-BR" sz="12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200" b="0" i="0" dirty="0">
                <a:solidFill>
                  <a:srgbClr val="404040"/>
                </a:solidFill>
                <a:effectLst/>
                <a:latin typeface="quote-cjk-patch"/>
              </a:rPr>
              <a:t>✅ Sim = Permitido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200" b="0" i="0" dirty="0">
                <a:solidFill>
                  <a:srgbClr val="404040"/>
                </a:solidFill>
                <a:effectLst/>
                <a:latin typeface="quote-cjk-patch"/>
              </a:rPr>
              <a:t>❌ Não = Bloqueado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1200" b="0" i="0" dirty="0">
                <a:solidFill>
                  <a:srgbClr val="404040"/>
                </a:solidFill>
                <a:effectLst/>
                <a:latin typeface="quote-cjk-patch"/>
              </a:rPr>
              <a:t>*= Comportamento implícito padrão quando não especificado</a:t>
            </a:r>
          </a:p>
        </p:txBody>
      </p:sp>
    </p:spTree>
    <p:extLst>
      <p:ext uri="{BB962C8B-B14F-4D97-AF65-F5344CB8AC3E}">
        <p14:creationId xmlns:p14="http://schemas.microsoft.com/office/powerpoint/2010/main" val="17120599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4974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Mais</a:t>
            </a:r>
            <a:r>
              <a:rPr sz="3600" spc="-55" dirty="0"/>
              <a:t> </a:t>
            </a:r>
            <a:r>
              <a:rPr sz="3600" dirty="0"/>
              <a:t>sobre</a:t>
            </a:r>
            <a:r>
              <a:rPr sz="3600" spc="-45" dirty="0"/>
              <a:t> </a:t>
            </a:r>
            <a:r>
              <a:rPr sz="3600" dirty="0"/>
              <a:t>a</a:t>
            </a:r>
            <a:r>
              <a:rPr sz="3600" spc="-15" dirty="0"/>
              <a:t> </a:t>
            </a:r>
            <a:r>
              <a:rPr sz="3600" spc="-5" dirty="0"/>
              <a:t>tag</a:t>
            </a:r>
            <a:r>
              <a:rPr sz="3600" spc="-30" dirty="0"/>
              <a:t> </a:t>
            </a:r>
            <a:r>
              <a:rPr sz="3600" spc="-15" dirty="0">
                <a:solidFill>
                  <a:srgbClr val="FFC000"/>
                </a:solidFill>
              </a:rPr>
              <a:t>&lt;meta&gt;</a:t>
            </a:r>
            <a:endParaRPr sz="3600" dirty="0">
              <a:solidFill>
                <a:srgbClr val="FFC000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ED221D-5CE7-D9D8-530A-1A83E82261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616915"/>
              </p:ext>
            </p:extLst>
          </p:nvPr>
        </p:nvGraphicFramePr>
        <p:xfrm>
          <a:off x="838200" y="1676400"/>
          <a:ext cx="9296400" cy="4436236"/>
        </p:xfrm>
        <a:graphic>
          <a:graphicData uri="http://schemas.openxmlformats.org/drawingml/2006/table">
            <a:tbl>
              <a:tblPr/>
              <a:tblGrid>
                <a:gridCol w="1580283">
                  <a:extLst>
                    <a:ext uri="{9D8B030D-6E8A-4147-A177-3AD203B41FA5}">
                      <a16:colId xmlns:a16="http://schemas.microsoft.com/office/drawing/2014/main" val="2550692301"/>
                    </a:ext>
                  </a:extLst>
                </a:gridCol>
                <a:gridCol w="2138156">
                  <a:extLst>
                    <a:ext uri="{9D8B030D-6E8A-4147-A177-3AD203B41FA5}">
                      <a16:colId xmlns:a16="http://schemas.microsoft.com/office/drawing/2014/main" val="504987341"/>
                    </a:ext>
                  </a:extLst>
                </a:gridCol>
                <a:gridCol w="5577961">
                  <a:extLst>
                    <a:ext uri="{9D8B030D-6E8A-4147-A177-3AD203B41FA5}">
                      <a16:colId xmlns:a16="http://schemas.microsoft.com/office/drawing/2014/main" val="2941753613"/>
                    </a:ext>
                  </a:extLst>
                </a:gridCol>
              </a:tblGrid>
              <a:tr h="390659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Attribute</a:t>
                      </a:r>
                    </a:p>
                  </a:txBody>
                  <a:tcPr marL="52768" marR="26384" marT="26384" marB="2638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Value</a:t>
                      </a:r>
                    </a:p>
                  </a:txBody>
                  <a:tcPr marL="26384" marR="26384" marT="26384" marB="2638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Description</a:t>
                      </a:r>
                    </a:p>
                  </a:txBody>
                  <a:tcPr marL="26384" marR="26384" marT="26384" marB="2638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13002"/>
                  </a:ext>
                </a:extLst>
              </a:tr>
              <a:tr h="390659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  <a:hlinkClick r:id="rId2"/>
                        </a:rPr>
                        <a:t>charset</a:t>
                      </a:r>
                      <a:endParaRPr lang="en-US" sz="1800">
                        <a:effectLst/>
                      </a:endParaRPr>
                    </a:p>
                  </a:txBody>
                  <a:tcPr marL="52768" marR="26384" marT="26384" marB="2638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i="1">
                          <a:effectLst/>
                        </a:rPr>
                        <a:t>character_set</a:t>
                      </a:r>
                      <a:endParaRPr lang="en-US" sz="1800">
                        <a:effectLst/>
                      </a:endParaRPr>
                    </a:p>
                  </a:txBody>
                  <a:tcPr marL="26384" marR="26384" marT="26384" marB="2638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dirty="0"/>
                        <a:t>Especifica a </a:t>
                      </a:r>
                      <a:r>
                        <a:rPr lang="pt-PT" dirty="0">
                          <a:solidFill>
                            <a:srgbClr val="FF0000"/>
                          </a:solidFill>
                        </a:rPr>
                        <a:t>codificação de caracteres do documento </a:t>
                      </a:r>
                      <a:r>
                        <a:rPr lang="pt-PT" dirty="0"/>
                        <a:t>HTML</a:t>
                      </a:r>
                    </a:p>
                    <a:p>
                      <a:pPr algn="l" fontAlgn="t"/>
                      <a:r>
                        <a:rPr lang="pt-BR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Exemplo: &lt;meta charset="UTF-8"&gt;</a:t>
                      </a:r>
                      <a:endParaRPr lang="en-US" sz="1800" dirty="0">
                        <a:effectLst/>
                      </a:endParaRPr>
                    </a:p>
                  </a:txBody>
                  <a:tcPr marL="26384" marR="26384" marT="26384" marB="2638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833034"/>
                  </a:ext>
                </a:extLst>
              </a:tr>
              <a:tr h="390659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  <a:hlinkClick r:id="rId3"/>
                        </a:rPr>
                        <a:t>content</a:t>
                      </a:r>
                      <a:endParaRPr lang="en-US" sz="1800" dirty="0">
                        <a:effectLst/>
                      </a:endParaRPr>
                    </a:p>
                  </a:txBody>
                  <a:tcPr marL="52768" marR="26384" marT="26384" marB="2638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i="1" dirty="0">
                          <a:effectLst/>
                        </a:rPr>
                        <a:t>text</a:t>
                      </a:r>
                      <a:endParaRPr lang="en-US" sz="1800" dirty="0">
                        <a:effectLst/>
                      </a:endParaRPr>
                    </a:p>
                  </a:txBody>
                  <a:tcPr marL="26384" marR="26384" marT="26384" marB="2638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dirty="0"/>
                        <a:t>Especifica o valor associado ao atributo http-equiv ou name</a:t>
                      </a:r>
                      <a:endParaRPr lang="en-US" sz="1800" dirty="0">
                        <a:effectLst/>
                      </a:endParaRPr>
                    </a:p>
                  </a:txBody>
                  <a:tcPr marL="26384" marR="26384" marT="26384" marB="2638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779366"/>
                  </a:ext>
                </a:extLst>
              </a:tr>
              <a:tr h="114407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http-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equiv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52768" marR="26384" marT="26384" marB="2638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content-type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refresh</a:t>
                      </a:r>
                    </a:p>
                  </a:txBody>
                  <a:tcPr marL="26384" marR="26384" marT="26384" marB="2638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Fornece um cabeçalho HTTP para a informação/valor do atributo content</a:t>
                      </a:r>
                      <a:endParaRPr lang="en-US" sz="1800" dirty="0">
                        <a:effectLst/>
                      </a:endParaRPr>
                    </a:p>
                  </a:txBody>
                  <a:tcPr marL="26384" marR="26384" marT="26384" marB="2638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503491"/>
                  </a:ext>
                </a:extLst>
              </a:tr>
              <a:tr h="1646351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name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52768" marR="26384" marT="26384" marB="2638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application-name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author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description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robots</a:t>
                      </a:r>
                      <a:br>
                        <a:rPr lang="en-US" sz="1800" i="1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keywords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viewport</a:t>
                      </a:r>
                    </a:p>
                  </a:txBody>
                  <a:tcPr marL="26384" marR="26384" marT="26384" marB="2638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dirty="0"/>
                        <a:t>Especifica um nome para os metadados</a:t>
                      </a:r>
                      <a:endParaRPr lang="en-US" sz="1800" dirty="0">
                        <a:effectLst/>
                      </a:endParaRPr>
                    </a:p>
                  </a:txBody>
                  <a:tcPr marL="26384" marR="26384" marT="26384" marB="2638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539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418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4" y="616458"/>
            <a:ext cx="838799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Mais</a:t>
            </a:r>
            <a:r>
              <a:rPr sz="3600" spc="-55" dirty="0"/>
              <a:t> </a:t>
            </a:r>
            <a:r>
              <a:rPr sz="3600" dirty="0"/>
              <a:t>sobre</a:t>
            </a:r>
            <a:r>
              <a:rPr sz="3600" spc="-45" dirty="0"/>
              <a:t> </a:t>
            </a:r>
            <a:r>
              <a:rPr sz="3600" dirty="0"/>
              <a:t>a</a:t>
            </a:r>
            <a:r>
              <a:rPr sz="3600" spc="-15" dirty="0"/>
              <a:t> </a:t>
            </a:r>
            <a:r>
              <a:rPr sz="3600" spc="-5" dirty="0"/>
              <a:t>tag</a:t>
            </a:r>
            <a:r>
              <a:rPr sz="3600" spc="-30" dirty="0"/>
              <a:t> </a:t>
            </a:r>
            <a:r>
              <a:rPr sz="3600" spc="-15" dirty="0">
                <a:solidFill>
                  <a:srgbClr val="FFC000"/>
                </a:solidFill>
              </a:rPr>
              <a:t>&lt;meta&gt;</a:t>
            </a:r>
            <a:r>
              <a:rPr lang="en-US" sz="3600" spc="-15" dirty="0">
                <a:solidFill>
                  <a:srgbClr val="FFC000"/>
                </a:solidFill>
              </a:rPr>
              <a:t> </a:t>
            </a:r>
            <a:r>
              <a:rPr lang="en-US" sz="3600" spc="-15" dirty="0"/>
              <a:t>- http </a:t>
            </a:r>
            <a:r>
              <a:rPr lang="en-US" sz="3600" spc="-15" dirty="0" err="1"/>
              <a:t>equiv</a:t>
            </a:r>
            <a:endParaRPr sz="36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C2495F5-62FC-0E38-3324-4F8101F15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728662"/>
              </p:ext>
            </p:extLst>
          </p:nvPr>
        </p:nvGraphicFramePr>
        <p:xfrm>
          <a:off x="1143000" y="1828800"/>
          <a:ext cx="8991600" cy="298698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956880347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1474723724"/>
                    </a:ext>
                  </a:extLst>
                </a:gridCol>
              </a:tblGrid>
              <a:tr h="29241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content-type</a:t>
                      </a:r>
                    </a:p>
                  </a:txBody>
                  <a:tcPr marL="45689" marR="22845" marT="22845" marB="2284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Especifica a codificação de caracteres do documento.</a:t>
                      </a:r>
                    </a:p>
                    <a:p>
                      <a:pPr algn="l" fontAlgn="t"/>
                      <a:endParaRPr lang="en-US" sz="1400" dirty="0">
                        <a:effectLst/>
                      </a:endParaRPr>
                    </a:p>
                    <a:p>
                      <a:pPr algn="l" fontAlgn="t"/>
                      <a:r>
                        <a:rPr lang="en-US" sz="1400" dirty="0" err="1">
                          <a:effectLst/>
                        </a:rPr>
                        <a:t>Exemplo</a:t>
                      </a:r>
                      <a:r>
                        <a:rPr lang="en-US" sz="1400" dirty="0">
                          <a:effectLst/>
                        </a:rPr>
                        <a:t>:</a:t>
                      </a:r>
                    </a:p>
                    <a:p>
                      <a:pPr algn="l" fontAlgn="t"/>
                      <a:endParaRPr lang="en-US" sz="1400" dirty="0">
                        <a:effectLst/>
                      </a:endParaRPr>
                    </a:p>
                    <a:p>
                      <a:pPr algn="l" fontAlgn="t"/>
                      <a:r>
                        <a:rPr lang="en-US" sz="1800" dirty="0">
                          <a:effectLst/>
                        </a:rPr>
                        <a:t>&lt;meta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http-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equiv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="content-type"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effectLst/>
                        </a:rPr>
                        <a:t>content="text/html; charset=UTF-8</a:t>
                      </a:r>
                      <a:r>
                        <a:rPr lang="en-US" sz="1800" dirty="0">
                          <a:effectLst/>
                        </a:rPr>
                        <a:t>"&gt;</a:t>
                      </a:r>
                    </a:p>
                  </a:txBody>
                  <a:tcPr marL="22845" marR="22845" marT="22845" marB="2284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585151"/>
                  </a:ext>
                </a:extLst>
              </a:tr>
              <a:tr h="621371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effectLst/>
                        </a:rPr>
                        <a:t>refresh</a:t>
                      </a:r>
                    </a:p>
                  </a:txBody>
                  <a:tcPr marL="45689" marR="22845" marT="22845" marB="2284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PT" sz="2000" dirty="0"/>
                        <a:t>Define um intervalo de tempo para o documento se atualizar.</a:t>
                      </a:r>
                    </a:p>
                    <a:p>
                      <a:pPr algn="l" fontAlgn="t"/>
                      <a:endParaRPr lang="en-US" sz="1400" dirty="0">
                        <a:effectLst/>
                      </a:endParaRPr>
                    </a:p>
                    <a:p>
                      <a:pPr algn="l" fontAlgn="t"/>
                      <a:r>
                        <a:rPr lang="en-US" sz="1400" dirty="0" err="1">
                          <a:effectLst/>
                        </a:rPr>
                        <a:t>Exemplo</a:t>
                      </a:r>
                      <a:r>
                        <a:rPr lang="en-US" sz="1400" dirty="0">
                          <a:effectLst/>
                        </a:rPr>
                        <a:t>:</a:t>
                      </a:r>
                    </a:p>
                    <a:p>
                      <a:pPr algn="l" fontAlgn="t"/>
                      <a:endParaRPr lang="en-US" sz="1400" dirty="0">
                        <a:effectLst/>
                      </a:endParaRPr>
                    </a:p>
                    <a:p>
                      <a:pPr algn="l" fontAlgn="t"/>
                      <a:r>
                        <a:rPr lang="en-US" sz="2400" dirty="0">
                          <a:effectLst/>
                        </a:rPr>
                        <a:t>&lt;meta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</a:rPr>
                        <a:t>http-</a:t>
                      </a:r>
                      <a:r>
                        <a:rPr lang="en-US" sz="2400" dirty="0" err="1">
                          <a:solidFill>
                            <a:srgbClr val="FF0000"/>
                          </a:solidFill>
                          <a:effectLst/>
                        </a:rPr>
                        <a:t>equiv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</a:rPr>
                        <a:t>="refresh" </a:t>
                      </a:r>
                      <a:r>
                        <a:rPr lang="en-US" sz="2400" dirty="0">
                          <a:solidFill>
                            <a:srgbClr val="0070C0"/>
                          </a:solidFill>
                          <a:effectLst/>
                        </a:rPr>
                        <a:t>content="300</a:t>
                      </a:r>
                      <a:r>
                        <a:rPr lang="en-US" sz="2400" dirty="0">
                          <a:effectLst/>
                        </a:rPr>
                        <a:t>"&gt; </a:t>
                      </a:r>
                    </a:p>
                    <a:p>
                      <a:pPr algn="l" fontAlgn="t"/>
                      <a:r>
                        <a:rPr lang="en-US" sz="2400" dirty="0" err="1">
                          <a:effectLst/>
                        </a:rPr>
                        <a:t>Atualiza</a:t>
                      </a:r>
                      <a:r>
                        <a:rPr lang="en-US" sz="2400" dirty="0">
                          <a:effectLst/>
                        </a:rPr>
                        <a:t> a </a:t>
                      </a:r>
                      <a:r>
                        <a:rPr lang="en-US" sz="2400" dirty="0" err="1">
                          <a:effectLst/>
                        </a:rPr>
                        <a:t>cada</a:t>
                      </a:r>
                      <a:r>
                        <a:rPr lang="en-US" sz="2400" dirty="0">
                          <a:effectLst/>
                        </a:rPr>
                        <a:t> 300 </a:t>
                      </a:r>
                      <a:r>
                        <a:rPr lang="en-US" sz="2400">
                          <a:effectLst/>
                        </a:rPr>
                        <a:t>segundos</a:t>
                      </a:r>
                      <a:endParaRPr lang="en-US" sz="2400" dirty="0">
                        <a:effectLst/>
                      </a:endParaRPr>
                    </a:p>
                  </a:txBody>
                  <a:tcPr marL="22845" marR="22845" marT="22845" marB="2284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26454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97F44A1-4391-E78C-7A2E-EF005224BD09}"/>
              </a:ext>
            </a:extLst>
          </p:cNvPr>
          <p:cNvSpPr txBox="1"/>
          <p:nvPr/>
        </p:nvSpPr>
        <p:spPr>
          <a:xfrm>
            <a:off x="457200" y="1321374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Valores possíveis para http-equiv</a:t>
            </a:r>
          </a:p>
        </p:txBody>
      </p:sp>
    </p:spTree>
    <p:extLst>
      <p:ext uri="{BB962C8B-B14F-4D97-AF65-F5344CB8AC3E}">
        <p14:creationId xmlns:p14="http://schemas.microsoft.com/office/powerpoint/2010/main" val="20374870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4974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Mais</a:t>
            </a:r>
            <a:r>
              <a:rPr sz="3600" spc="-55" dirty="0"/>
              <a:t> </a:t>
            </a:r>
            <a:r>
              <a:rPr sz="3600" dirty="0"/>
              <a:t>sobre</a:t>
            </a:r>
            <a:r>
              <a:rPr sz="3600" spc="-45" dirty="0"/>
              <a:t> </a:t>
            </a:r>
            <a:r>
              <a:rPr sz="3600" dirty="0"/>
              <a:t>a</a:t>
            </a:r>
            <a:r>
              <a:rPr sz="3600" spc="-15" dirty="0"/>
              <a:t> </a:t>
            </a:r>
            <a:r>
              <a:rPr sz="3600" spc="-5" dirty="0"/>
              <a:t>tag</a:t>
            </a:r>
            <a:r>
              <a:rPr sz="3600" spc="-30" dirty="0"/>
              <a:t> </a:t>
            </a:r>
            <a:r>
              <a:rPr sz="3600" spc="-15" dirty="0"/>
              <a:t>&lt;meta&gt;</a:t>
            </a:r>
            <a:endParaRPr sz="3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E8782-87F7-CFFA-3F35-4B47D23E2B10}"/>
              </a:ext>
            </a:extLst>
          </p:cNvPr>
          <p:cNvSpPr txBox="1"/>
          <p:nvPr/>
        </p:nvSpPr>
        <p:spPr>
          <a:xfrm>
            <a:off x="685800" y="1371600"/>
            <a:ext cx="105918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exemplos</a:t>
            </a:r>
          </a:p>
          <a:p>
            <a:pPr algn="l"/>
            <a:r>
              <a:rPr lang="pt-BR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Defina palavras-chave para motores de busca:</a:t>
            </a:r>
            <a:endParaRPr lang="pt-BR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pt-BR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pt-BR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name</a:t>
            </a:r>
            <a:r>
              <a:rPr lang="pt-BR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="keywords"</a:t>
            </a:r>
            <a:r>
              <a:rPr lang="pt-BR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content</a:t>
            </a:r>
            <a:r>
              <a:rPr lang="pt-BR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="HTML, CSS, JavaScript"&gt;</a:t>
            </a:r>
          </a:p>
          <a:p>
            <a:pPr algn="l"/>
            <a:endParaRPr lang="pt-BR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pt-BR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Defina uma descrição da sua página web:</a:t>
            </a:r>
            <a:endParaRPr lang="pt-BR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pt-BR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pt-BR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name</a:t>
            </a:r>
            <a:r>
              <a:rPr lang="pt-BR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="description"</a:t>
            </a:r>
            <a:r>
              <a:rPr lang="pt-BR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content</a:t>
            </a:r>
            <a:r>
              <a:rPr lang="pt-BR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="Free Web tutorials for HTML and CSS"&gt;</a:t>
            </a:r>
          </a:p>
          <a:p>
            <a:pPr algn="l"/>
            <a:endParaRPr lang="pt-BR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pt-BR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Defina o autor de uma página:</a:t>
            </a:r>
            <a:endParaRPr lang="pt-BR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pt-BR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pt-BR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name</a:t>
            </a:r>
            <a:r>
              <a:rPr lang="pt-BR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="author"</a:t>
            </a:r>
            <a:r>
              <a:rPr lang="pt-BR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content</a:t>
            </a:r>
            <a:r>
              <a:rPr lang="pt-BR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="John Doe"&gt;</a:t>
            </a:r>
          </a:p>
          <a:p>
            <a:pPr algn="l"/>
            <a:endParaRPr lang="pt-BR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pt-BR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Atualize o documento a cada 30 segundos:</a:t>
            </a:r>
            <a:endParaRPr lang="pt-BR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pt-BR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pt-BR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http-equiv</a:t>
            </a:r>
            <a:r>
              <a:rPr lang="pt-BR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="refresh"</a:t>
            </a:r>
            <a:r>
              <a:rPr lang="pt-BR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content</a:t>
            </a:r>
            <a:r>
              <a:rPr lang="pt-BR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="30"&gt;</a:t>
            </a:r>
          </a:p>
          <a:p>
            <a:pPr algn="l"/>
            <a:endParaRPr lang="pt-BR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pt-BR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Configurando a janela de visualização para que seu site tenha uma boa aparência em todos os dispositivos:</a:t>
            </a:r>
            <a:endParaRPr lang="pt-BR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pt-BR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pt-BR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name</a:t>
            </a:r>
            <a:r>
              <a:rPr lang="pt-BR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="viewport"</a:t>
            </a:r>
            <a:r>
              <a:rPr lang="pt-BR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content</a:t>
            </a:r>
            <a:r>
              <a:rPr lang="pt-BR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="width=device-width, initial-scale=1.0"&gt;</a:t>
            </a:r>
          </a:p>
          <a:p>
            <a:pPr algn="l"/>
            <a:endParaRPr lang="pt-BR" b="0" i="0" dirty="0">
              <a:solidFill>
                <a:srgbClr val="0000CD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pt-B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https://www.w3schools.com/tags/tag_meta.asp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2579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4974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Mais</a:t>
            </a:r>
            <a:r>
              <a:rPr sz="3600" spc="-55" dirty="0"/>
              <a:t> </a:t>
            </a:r>
            <a:r>
              <a:rPr sz="3600" dirty="0"/>
              <a:t>sobre</a:t>
            </a:r>
            <a:r>
              <a:rPr sz="3600" spc="-45" dirty="0"/>
              <a:t> </a:t>
            </a:r>
            <a:r>
              <a:rPr sz="3600" dirty="0"/>
              <a:t>a</a:t>
            </a:r>
            <a:r>
              <a:rPr sz="3600" spc="-15" dirty="0"/>
              <a:t> </a:t>
            </a:r>
            <a:r>
              <a:rPr sz="3600" spc="-5" dirty="0"/>
              <a:t>tag</a:t>
            </a:r>
            <a:r>
              <a:rPr sz="3600" spc="-30" dirty="0"/>
              <a:t> </a:t>
            </a:r>
            <a:r>
              <a:rPr sz="3600" spc="-15" dirty="0"/>
              <a:t>&lt;meta&gt;</a:t>
            </a:r>
            <a:endParaRPr sz="36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20B636-AD07-8B9B-BB91-90DF5EB89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37" y="1714500"/>
            <a:ext cx="1044892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143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4974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Mais</a:t>
            </a:r>
            <a:r>
              <a:rPr sz="3600" spc="-55" dirty="0"/>
              <a:t> </a:t>
            </a:r>
            <a:r>
              <a:rPr sz="3600" dirty="0"/>
              <a:t>sobre</a:t>
            </a:r>
            <a:r>
              <a:rPr sz="3600" spc="-45" dirty="0"/>
              <a:t> </a:t>
            </a:r>
            <a:r>
              <a:rPr sz="3600" dirty="0"/>
              <a:t>a</a:t>
            </a:r>
            <a:r>
              <a:rPr sz="3600" spc="-15" dirty="0"/>
              <a:t> </a:t>
            </a:r>
            <a:r>
              <a:rPr sz="3600" spc="-5" dirty="0"/>
              <a:t>tag</a:t>
            </a:r>
            <a:r>
              <a:rPr sz="3600" spc="-30" dirty="0"/>
              <a:t> </a:t>
            </a:r>
            <a:r>
              <a:rPr sz="3600" spc="-15" dirty="0"/>
              <a:t>&lt;meta&gt;</a:t>
            </a:r>
            <a:endParaRPr sz="3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201832-86A0-9438-138D-0C05C6C9E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95401"/>
            <a:ext cx="10972800" cy="523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698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4919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Estrutura</a:t>
            </a:r>
            <a:r>
              <a:rPr sz="3600" spc="-70" dirty="0"/>
              <a:t> </a:t>
            </a:r>
            <a:r>
              <a:rPr sz="3600" spc="-10" dirty="0"/>
              <a:t>básica</a:t>
            </a:r>
            <a:r>
              <a:rPr sz="3600" spc="-100" dirty="0"/>
              <a:t> </a:t>
            </a:r>
            <a:r>
              <a:rPr sz="3600" spc="-5" dirty="0"/>
              <a:t>&lt;head&gt;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5910834" y="1856358"/>
            <a:ext cx="5582920" cy="26054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55600" marR="5080" indent="-342900" algn="just">
              <a:lnSpc>
                <a:spcPct val="101400"/>
              </a:lnSpc>
              <a:spcBef>
                <a:spcPts val="50"/>
              </a:spcBef>
            </a:pPr>
            <a:r>
              <a:rPr sz="2550" spc="1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3200" spc="15" dirty="0">
                <a:solidFill>
                  <a:srgbClr val="404040"/>
                </a:solidFill>
                <a:latin typeface="Trebuchet MS"/>
                <a:cs typeface="Trebuchet MS"/>
              </a:rPr>
              <a:t>Normalmente </a:t>
            </a:r>
            <a:r>
              <a:rPr sz="3200" spc="-5" dirty="0">
                <a:solidFill>
                  <a:srgbClr val="404040"/>
                </a:solidFill>
                <a:latin typeface="Trebuchet MS"/>
                <a:cs typeface="Trebuchet MS"/>
              </a:rPr>
              <a:t>encontrará um </a:t>
            </a:r>
            <a:r>
              <a:rPr sz="3200" spc="-9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Trebuchet MS"/>
                <a:cs typeface="Trebuchet MS"/>
              </a:rPr>
              <a:t>elemento </a:t>
            </a:r>
            <a:r>
              <a:rPr sz="3200" spc="-5" dirty="0">
                <a:solidFill>
                  <a:srgbClr val="FF0000"/>
                </a:solidFill>
                <a:latin typeface="Trebuchet MS"/>
                <a:cs typeface="Trebuchet MS"/>
              </a:rPr>
              <a:t>&lt;title&gt; </a:t>
            </a:r>
            <a:r>
              <a:rPr sz="3200" spc="-10" dirty="0">
                <a:solidFill>
                  <a:srgbClr val="404040"/>
                </a:solidFill>
                <a:latin typeface="Trebuchet MS"/>
                <a:cs typeface="Trebuchet MS"/>
              </a:rPr>
              <a:t>que define </a:t>
            </a:r>
            <a:r>
              <a:rPr sz="3200" spc="-9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Trebuchet MS"/>
                <a:cs typeface="Trebuchet MS"/>
              </a:rPr>
              <a:t>título</a:t>
            </a:r>
            <a:r>
              <a:rPr sz="32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3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spc="-15" dirty="0">
                <a:solidFill>
                  <a:srgbClr val="404040"/>
                </a:solidFill>
                <a:latin typeface="Trebuchet MS"/>
                <a:cs typeface="Trebuchet MS"/>
              </a:rPr>
              <a:t>página.</a:t>
            </a:r>
            <a:endParaRPr sz="3200" dirty="0">
              <a:latin typeface="Trebuchet MS"/>
              <a:cs typeface="Trebuchet MS"/>
            </a:endParaRPr>
          </a:p>
          <a:p>
            <a:pPr marL="355600" marR="566420" indent="-342900" algn="just">
              <a:lnSpc>
                <a:spcPct val="102800"/>
              </a:lnSpc>
              <a:spcBef>
                <a:spcPts val="780"/>
              </a:spcBef>
            </a:pPr>
            <a:r>
              <a:rPr sz="2550" spc="10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3200" spc="100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3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Trebuchet MS"/>
                <a:cs typeface="Trebuchet MS"/>
              </a:rPr>
              <a:t>possível</a:t>
            </a:r>
            <a:r>
              <a:rPr sz="32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Trebuchet MS"/>
                <a:cs typeface="Trebuchet MS"/>
              </a:rPr>
              <a:t>incluir</a:t>
            </a:r>
            <a:r>
              <a:rPr sz="32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404040"/>
                </a:solidFill>
                <a:latin typeface="Trebuchet MS"/>
                <a:cs typeface="Trebuchet MS"/>
              </a:rPr>
              <a:t>scripts</a:t>
            </a:r>
            <a:r>
              <a:rPr sz="3200" spc="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404040"/>
                </a:solidFill>
                <a:latin typeface="Trebuchet MS"/>
                <a:cs typeface="Trebuchet MS"/>
              </a:rPr>
              <a:t>e </a:t>
            </a:r>
            <a:r>
              <a:rPr sz="3200" spc="-9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404040"/>
                </a:solidFill>
                <a:latin typeface="Trebuchet MS"/>
                <a:cs typeface="Trebuchet MS"/>
              </a:rPr>
              <a:t>folhas</a:t>
            </a:r>
            <a:r>
              <a:rPr sz="32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32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Trebuchet MS"/>
                <a:cs typeface="Trebuchet MS"/>
              </a:rPr>
              <a:t>estilo.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961" y="2009394"/>
            <a:ext cx="4758055" cy="3907790"/>
          </a:xfrm>
          <a:custGeom>
            <a:avLst/>
            <a:gdLst/>
            <a:ahLst/>
            <a:cxnLst/>
            <a:rect l="l" t="t" r="r" b="b"/>
            <a:pathLst>
              <a:path w="4758055" h="3907790">
                <a:moveTo>
                  <a:pt x="0" y="3907535"/>
                </a:moveTo>
                <a:lnTo>
                  <a:pt x="4757928" y="3907535"/>
                </a:lnTo>
                <a:lnTo>
                  <a:pt x="4757928" y="0"/>
                </a:lnTo>
                <a:lnTo>
                  <a:pt x="0" y="0"/>
                </a:lnTo>
                <a:lnTo>
                  <a:pt x="0" y="3907535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6939" y="2045665"/>
            <a:ext cx="4137025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Arial MT"/>
                <a:cs typeface="Arial MT"/>
              </a:rPr>
              <a:t>&lt;!DOCTYPE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html&gt;</a:t>
            </a:r>
            <a:endParaRPr sz="2400">
              <a:latin typeface="Arial MT"/>
              <a:cs typeface="Arial MT"/>
            </a:endParaRPr>
          </a:p>
          <a:p>
            <a:pPr marL="9588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&lt;html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lang="pt-br"&gt;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&lt;head&gt;</a:t>
            </a:r>
            <a:endParaRPr sz="24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&lt;meta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charset="utf-8"/&gt;</a:t>
            </a:r>
            <a:endParaRPr sz="24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&lt;title&gt;HTML5&lt;/title&gt;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&lt;/head&gt;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15" dirty="0">
                <a:latin typeface="Arial MT"/>
                <a:cs typeface="Arial MT"/>
              </a:rPr>
              <a:t>&lt;body&gt;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4873244"/>
            <a:ext cx="1118235" cy="95821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400" spc="-10" dirty="0">
                <a:latin typeface="Arial MT"/>
                <a:cs typeface="Arial MT"/>
              </a:rPr>
              <a:t>&lt;</a:t>
            </a:r>
            <a:r>
              <a:rPr sz="2400" dirty="0">
                <a:latin typeface="Arial MT"/>
                <a:cs typeface="Arial MT"/>
              </a:rPr>
              <a:t>/</a:t>
            </a:r>
            <a:r>
              <a:rPr sz="2400" spc="-25" dirty="0">
                <a:latin typeface="Arial MT"/>
                <a:cs typeface="Arial MT"/>
              </a:rPr>
              <a:t>b</a:t>
            </a:r>
            <a:r>
              <a:rPr sz="2400" spc="-20" dirty="0">
                <a:latin typeface="Arial MT"/>
                <a:cs typeface="Arial MT"/>
              </a:rPr>
              <a:t>od</a:t>
            </a:r>
            <a:r>
              <a:rPr sz="2400" spc="-15" dirty="0">
                <a:latin typeface="Arial MT"/>
                <a:cs typeface="Arial MT"/>
              </a:rPr>
              <a:t>y</a:t>
            </a:r>
            <a:r>
              <a:rPr sz="2400" dirty="0">
                <a:latin typeface="Arial MT"/>
                <a:cs typeface="Arial MT"/>
              </a:rPr>
              <a:t>&gt;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spc="-5" dirty="0">
                <a:latin typeface="Arial MT"/>
                <a:cs typeface="Arial MT"/>
              </a:rPr>
              <a:t>&lt;/html&gt;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49060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Estrutura</a:t>
            </a:r>
            <a:r>
              <a:rPr sz="3600" spc="-70" dirty="0"/>
              <a:t> </a:t>
            </a:r>
            <a:r>
              <a:rPr sz="3600" spc="-10" dirty="0"/>
              <a:t>básica</a:t>
            </a:r>
            <a:r>
              <a:rPr sz="3600" spc="-105" dirty="0"/>
              <a:t> </a:t>
            </a:r>
            <a:r>
              <a:rPr sz="3600" spc="-5" dirty="0"/>
              <a:t>&lt;body&gt;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5910834" y="1856358"/>
            <a:ext cx="5746750" cy="15030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55600" marR="5080" indent="-342900" algn="just">
              <a:lnSpc>
                <a:spcPct val="101400"/>
              </a:lnSpc>
              <a:spcBef>
                <a:spcPts val="50"/>
              </a:spcBef>
            </a:pPr>
            <a:r>
              <a:rPr sz="255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550" spc="-48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3200" spc="-83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lang="en-US" sz="3200" spc="-8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3200" spc="-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32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32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spc="1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3200" dirty="0">
                <a:solidFill>
                  <a:srgbClr val="404040"/>
                </a:solidFill>
                <a:latin typeface="Trebuchet MS"/>
                <a:cs typeface="Trebuchet MS"/>
              </a:rPr>
              <a:t>en</a:t>
            </a:r>
            <a:r>
              <a:rPr sz="3200" spc="1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3200" spc="-1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32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3200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3200" spc="-2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3200" spc="-15" dirty="0">
                <a:solidFill>
                  <a:srgbClr val="404040"/>
                </a:solidFill>
                <a:latin typeface="Trebuchet MS"/>
                <a:cs typeface="Trebuchet MS"/>
              </a:rPr>
              <a:t>ss</a:t>
            </a:r>
            <a:r>
              <a:rPr sz="3200" dirty="0">
                <a:solidFill>
                  <a:srgbClr val="404040"/>
                </a:solidFill>
                <a:latin typeface="Trebuchet MS"/>
                <a:cs typeface="Trebuchet MS"/>
              </a:rPr>
              <a:t>e </a:t>
            </a:r>
            <a:r>
              <a:rPr sz="32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Trebuchet MS"/>
                <a:cs typeface="Trebuchet MS"/>
              </a:rPr>
              <a:t>ele</a:t>
            </a:r>
            <a:r>
              <a:rPr sz="320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32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3200" spc="-20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3200" spc="-5" dirty="0">
                <a:solidFill>
                  <a:srgbClr val="404040"/>
                </a:solidFill>
                <a:latin typeface="Trebuchet MS"/>
                <a:cs typeface="Trebuchet MS"/>
              </a:rPr>
              <a:t>to  </a:t>
            </a:r>
            <a:r>
              <a:rPr sz="3200" dirty="0">
                <a:solidFill>
                  <a:srgbClr val="404040"/>
                </a:solidFill>
                <a:latin typeface="Trebuchet MS"/>
                <a:cs typeface="Trebuchet MS"/>
              </a:rPr>
              <a:t>é </a:t>
            </a:r>
            <a:r>
              <a:rPr sz="3200" spc="-5" dirty="0">
                <a:solidFill>
                  <a:srgbClr val="404040"/>
                </a:solidFill>
                <a:latin typeface="Trebuchet MS"/>
                <a:cs typeface="Trebuchet MS"/>
              </a:rPr>
              <a:t>mostrado dentro </a:t>
            </a:r>
            <a:r>
              <a:rPr sz="3200" spc="5" dirty="0">
                <a:solidFill>
                  <a:srgbClr val="404040"/>
                </a:solidFill>
                <a:latin typeface="Trebuchet MS"/>
                <a:cs typeface="Trebuchet MS"/>
              </a:rPr>
              <a:t>da </a:t>
            </a:r>
            <a:r>
              <a:rPr sz="3200" dirty="0">
                <a:solidFill>
                  <a:srgbClr val="404040"/>
                </a:solidFill>
                <a:latin typeface="Trebuchet MS"/>
                <a:cs typeface="Trebuchet MS"/>
              </a:rPr>
              <a:t>janela </a:t>
            </a:r>
            <a:r>
              <a:rPr sz="32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Trebuchet MS"/>
                <a:cs typeface="Trebuchet MS"/>
              </a:rPr>
              <a:t>principal</a:t>
            </a:r>
            <a:r>
              <a:rPr sz="3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3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spc="-90" dirty="0">
                <a:solidFill>
                  <a:srgbClr val="404040"/>
                </a:solidFill>
                <a:latin typeface="Trebuchet MS"/>
                <a:cs typeface="Trebuchet MS"/>
              </a:rPr>
              <a:t>navegador.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961" y="2009394"/>
            <a:ext cx="4758055" cy="3907790"/>
          </a:xfrm>
          <a:prstGeom prst="rect">
            <a:avLst/>
          </a:prstGeom>
          <a:ln w="20320">
            <a:solidFill>
              <a:srgbClr val="000000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85"/>
              </a:spcBef>
            </a:pPr>
            <a:r>
              <a:rPr sz="2400" spc="-15" dirty="0">
                <a:latin typeface="Arial MT"/>
                <a:cs typeface="Arial MT"/>
              </a:rPr>
              <a:t>&lt;!DOCTYPE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html&gt;</a:t>
            </a:r>
            <a:endParaRPr sz="2400">
              <a:latin typeface="Arial MT"/>
              <a:cs typeface="Arial MT"/>
            </a:endParaRPr>
          </a:p>
          <a:p>
            <a:pPr marL="17399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&lt;html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lang="pt-br"&gt;</a:t>
            </a:r>
            <a:endParaRPr sz="24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&lt;head&gt;</a:t>
            </a:r>
            <a:endParaRPr sz="2400">
              <a:latin typeface="Arial MT"/>
              <a:cs typeface="Arial MT"/>
            </a:endParaRPr>
          </a:p>
          <a:p>
            <a:pPr marL="1005205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&lt;meta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charset="utf-8"/&gt;</a:t>
            </a:r>
            <a:endParaRPr sz="2400">
              <a:latin typeface="Arial MT"/>
              <a:cs typeface="Arial MT"/>
            </a:endParaRPr>
          </a:p>
          <a:p>
            <a:pPr marL="100520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MT"/>
                <a:cs typeface="Arial MT"/>
              </a:rPr>
              <a:t>&lt;title&gt;HTML5&lt;/title&gt;</a:t>
            </a:r>
            <a:endParaRPr sz="24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&lt;/head&gt;</a:t>
            </a:r>
            <a:endParaRPr sz="24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2400" spc="-15" dirty="0">
                <a:latin typeface="Arial MT"/>
                <a:cs typeface="Arial MT"/>
              </a:rPr>
              <a:t>&lt;body&gt;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2400" spc="-15" dirty="0">
                <a:latin typeface="Arial MT"/>
                <a:cs typeface="Arial MT"/>
              </a:rPr>
              <a:t>&lt;/body&gt;</a:t>
            </a:r>
            <a:endParaRPr sz="24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  <a:spcBef>
                <a:spcPts val="795"/>
              </a:spcBef>
            </a:pPr>
            <a:r>
              <a:rPr sz="2400" dirty="0">
                <a:latin typeface="Arial MT"/>
                <a:cs typeface="Arial MT"/>
              </a:rPr>
              <a:t>&lt;/html&gt;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398" y="0"/>
            <a:ext cx="12136120" cy="6867525"/>
            <a:chOff x="-9398" y="0"/>
            <a:chExt cx="12136120" cy="686752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15800" cy="6815455"/>
            </a:xfrm>
            <a:custGeom>
              <a:avLst/>
              <a:gdLst/>
              <a:ahLst/>
              <a:cxnLst/>
              <a:rect l="l" t="t" r="r" b="b"/>
              <a:pathLst>
                <a:path w="12115800" h="6815455">
                  <a:moveTo>
                    <a:pt x="12115800" y="0"/>
                  </a:moveTo>
                  <a:lnTo>
                    <a:pt x="0" y="0"/>
                  </a:lnTo>
                  <a:lnTo>
                    <a:pt x="0" y="6815328"/>
                  </a:lnTo>
                  <a:lnTo>
                    <a:pt x="12115800" y="6815328"/>
                  </a:lnTo>
                  <a:lnTo>
                    <a:pt x="12115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2" y="762"/>
              <a:ext cx="12115800" cy="6815455"/>
            </a:xfrm>
            <a:custGeom>
              <a:avLst/>
              <a:gdLst/>
              <a:ahLst/>
              <a:cxnLst/>
              <a:rect l="l" t="t" r="r" b="b"/>
              <a:pathLst>
                <a:path w="12115800" h="6815455">
                  <a:moveTo>
                    <a:pt x="0" y="6815325"/>
                  </a:moveTo>
                  <a:lnTo>
                    <a:pt x="12115800" y="6815325"/>
                  </a:lnTo>
                  <a:lnTo>
                    <a:pt x="12115800" y="0"/>
                  </a:lnTo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1753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</a:t>
            </a:r>
            <a:r>
              <a:rPr sz="3600" spc="-25" dirty="0"/>
              <a:t>x</a:t>
            </a:r>
            <a:r>
              <a:rPr sz="3600" spc="-5" dirty="0"/>
              <a:t>e</a:t>
            </a:r>
            <a:r>
              <a:rPr sz="3600" spc="-20" dirty="0"/>
              <a:t>m</a:t>
            </a:r>
            <a:r>
              <a:rPr sz="3600" spc="-15" dirty="0"/>
              <a:t>p</a:t>
            </a:r>
            <a:r>
              <a:rPr sz="3600" spc="-20" dirty="0"/>
              <a:t>l</a:t>
            </a:r>
            <a:r>
              <a:rPr sz="3600" dirty="0"/>
              <a:t>o</a:t>
            </a:r>
            <a:endParaRPr sz="3600"/>
          </a:p>
        </p:txBody>
      </p:sp>
      <p:grpSp>
        <p:nvGrpSpPr>
          <p:cNvPr id="6" name="object 6"/>
          <p:cNvGrpSpPr/>
          <p:nvPr/>
        </p:nvGrpSpPr>
        <p:grpSpPr>
          <a:xfrm>
            <a:off x="635508" y="1397508"/>
            <a:ext cx="11366500" cy="5032375"/>
            <a:chOff x="635508" y="1397508"/>
            <a:chExt cx="11366500" cy="50323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9400" y="4053840"/>
              <a:ext cx="6740652" cy="23759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5140" y="4259580"/>
              <a:ext cx="6141720" cy="177850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21330" y="4255769"/>
              <a:ext cx="6151245" cy="1788160"/>
            </a:xfrm>
            <a:custGeom>
              <a:avLst/>
              <a:gdLst/>
              <a:ahLst/>
              <a:cxnLst/>
              <a:rect l="l" t="t" r="r" b="b"/>
              <a:pathLst>
                <a:path w="6151245" h="1788160">
                  <a:moveTo>
                    <a:pt x="0" y="1787652"/>
                  </a:moveTo>
                  <a:lnTo>
                    <a:pt x="6150864" y="1787652"/>
                  </a:lnTo>
                  <a:lnTo>
                    <a:pt x="6150864" y="0"/>
                  </a:lnTo>
                  <a:lnTo>
                    <a:pt x="0" y="0"/>
                  </a:lnTo>
                  <a:lnTo>
                    <a:pt x="0" y="1787652"/>
                  </a:lnTo>
                  <a:close/>
                </a:path>
              </a:pathLst>
            </a:custGeom>
            <a:ln w="10160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42331" y="4744211"/>
              <a:ext cx="3602990" cy="152400"/>
            </a:xfrm>
            <a:custGeom>
              <a:avLst/>
              <a:gdLst/>
              <a:ahLst/>
              <a:cxnLst/>
              <a:rect l="l" t="t" r="r" b="b"/>
              <a:pathLst>
                <a:path w="3602990" h="152400">
                  <a:moveTo>
                    <a:pt x="3602736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3602736" y="152400"/>
                  </a:lnTo>
                  <a:lnTo>
                    <a:pt x="360273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43093" y="4744973"/>
              <a:ext cx="3602990" cy="152400"/>
            </a:xfrm>
            <a:custGeom>
              <a:avLst/>
              <a:gdLst/>
              <a:ahLst/>
              <a:cxnLst/>
              <a:rect l="l" t="t" r="r" b="b"/>
              <a:pathLst>
                <a:path w="3602990" h="152400">
                  <a:moveTo>
                    <a:pt x="0" y="152400"/>
                  </a:moveTo>
                  <a:lnTo>
                    <a:pt x="3602736" y="152400"/>
                  </a:lnTo>
                  <a:lnTo>
                    <a:pt x="3602736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20320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2272" y="1405128"/>
              <a:ext cx="11349228" cy="25679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5508" y="1397508"/>
              <a:ext cx="11247120" cy="261061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78180" y="1429511"/>
            <a:ext cx="11244580" cy="246443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2794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20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DOCTYPE</a:t>
            </a:r>
            <a:r>
              <a:rPr sz="1400" spc="-6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C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8450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400" spc="-5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C"/>
                </a:solidFill>
                <a:latin typeface="Consolas"/>
                <a:cs typeface="Consolas"/>
              </a:rPr>
              <a:t>lang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8450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877569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meta</a:t>
            </a:r>
            <a:r>
              <a:rPr sz="1400" spc="-7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9CDCFC"/>
                </a:solidFill>
                <a:latin typeface="Consolas"/>
                <a:cs typeface="Consolas"/>
              </a:rPr>
              <a:t>charset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400" spc="5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400">
              <a:latin typeface="Consolas"/>
              <a:cs typeface="Consolas"/>
            </a:endParaRPr>
          </a:p>
          <a:p>
            <a:pPr marL="877569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Este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é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o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título</a:t>
            </a:r>
            <a:r>
              <a:rPr sz="14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da</a:t>
            </a:r>
            <a:r>
              <a:rPr sz="1400" spc="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página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8450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8450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877569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h1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Este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é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o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corpo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da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página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h1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877569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Qualquer</a:t>
            </a:r>
            <a:r>
              <a:rPr sz="1400" spc="4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coisa</a:t>
            </a:r>
            <a:r>
              <a:rPr sz="1400" spc="4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dentro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do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corpo</a:t>
            </a:r>
            <a:r>
              <a:rPr sz="1400" spc="4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de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uma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página</a:t>
            </a:r>
            <a:r>
              <a:rPr sz="1400" spc="4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da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web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é</a:t>
            </a:r>
            <a:r>
              <a:rPr sz="1400" spc="4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exibida</a:t>
            </a:r>
            <a:r>
              <a:rPr sz="1400" spc="4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na</a:t>
            </a:r>
            <a:r>
              <a:rPr sz="14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janela</a:t>
            </a:r>
            <a:r>
              <a:rPr sz="1400" spc="4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principal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do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navegador.</a:t>
            </a:r>
            <a:r>
              <a:rPr sz="1400" spc="14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8450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84505">
              <a:lnSpc>
                <a:spcPct val="100000"/>
              </a:lnSpc>
            </a:pP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-5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15798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0" dirty="0"/>
              <a:t>R</a:t>
            </a:r>
            <a:r>
              <a:rPr sz="3600" spc="-5" dirty="0"/>
              <a:t>es</a:t>
            </a:r>
            <a:r>
              <a:rPr sz="3600" dirty="0"/>
              <a:t>u</a:t>
            </a:r>
            <a:r>
              <a:rPr sz="3600" spc="-25" dirty="0"/>
              <a:t>m</a:t>
            </a:r>
            <a:r>
              <a:rPr sz="3600" dirty="0"/>
              <a:t>o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005" y="1718970"/>
            <a:ext cx="8455025" cy="4187044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570"/>
              </a:spcBef>
              <a:buClr>
                <a:srgbClr val="90C224"/>
              </a:buClr>
              <a:buSzPct val="79545"/>
              <a:buFont typeface="Wingdings"/>
              <a:buChar char=""/>
              <a:tabLst>
                <a:tab pos="355600" algn="l"/>
              </a:tabLst>
            </a:pP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Página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2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HTM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200" spc="-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sã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2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docum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nt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2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x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o.</a:t>
            </a:r>
            <a:endParaRPr sz="2200" dirty="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994"/>
              </a:spcBef>
              <a:buClr>
                <a:srgbClr val="90C224"/>
              </a:buClr>
              <a:buSzPct val="79545"/>
              <a:buFont typeface="Wingdings"/>
              <a:buChar char=""/>
              <a:tabLst>
                <a:tab pos="355600" algn="l"/>
              </a:tabLst>
            </a:pP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HTML 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usa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tags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(</a:t>
            </a:r>
            <a:r>
              <a:rPr sz="2200" spc="-15" dirty="0">
                <a:solidFill>
                  <a:srgbClr val="FF0000"/>
                </a:solidFill>
                <a:latin typeface="Trebuchet MS"/>
                <a:cs typeface="Trebuchet MS"/>
              </a:rPr>
              <a:t>caracteres </a:t>
            </a:r>
            <a:r>
              <a:rPr sz="2200" spc="-5" dirty="0">
                <a:solidFill>
                  <a:srgbClr val="FF0000"/>
                </a:solidFill>
                <a:latin typeface="Trebuchet MS"/>
                <a:cs typeface="Trebuchet MS"/>
              </a:rPr>
              <a:t>que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Trebuchet MS"/>
                <a:cs typeface="Trebuchet MS"/>
              </a:rPr>
              <a:t>ficam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dentro</a:t>
            </a:r>
            <a:r>
              <a:rPr sz="22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de</a:t>
            </a:r>
            <a:r>
              <a:rPr sz="22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Trebuchet MS"/>
                <a:cs typeface="Trebuchet MS"/>
              </a:rPr>
              <a:t>colchetes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 angulares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)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para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fornecer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as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informações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em torno do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significado </a:t>
            </a:r>
            <a:r>
              <a:rPr sz="2200" spc="-6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especial.</a:t>
            </a:r>
            <a:endParaRPr sz="2200" dirty="0">
              <a:latin typeface="Trebuchet MS"/>
              <a:cs typeface="Trebuchet MS"/>
            </a:endParaRPr>
          </a:p>
          <a:p>
            <a:pPr marL="355600" indent="-342900" algn="just">
              <a:lnSpc>
                <a:spcPct val="100000"/>
              </a:lnSpc>
              <a:spcBef>
                <a:spcPts val="505"/>
              </a:spcBef>
              <a:buClr>
                <a:srgbClr val="90C224"/>
              </a:buClr>
              <a:buSzPct val="79545"/>
              <a:buFont typeface="Wingdings"/>
              <a:buChar char=""/>
              <a:tabLst>
                <a:tab pos="355600" algn="l"/>
              </a:tabLst>
            </a:pP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As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tags</a:t>
            </a:r>
            <a:r>
              <a:rPr sz="22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são</a:t>
            </a:r>
            <a:r>
              <a:rPr sz="22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geralmente</a:t>
            </a:r>
            <a:r>
              <a:rPr sz="22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chamadas</a:t>
            </a:r>
            <a:r>
              <a:rPr sz="22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elementos.</a:t>
            </a:r>
            <a:endParaRPr sz="2200" dirty="0">
              <a:latin typeface="Trebuchet MS"/>
              <a:cs typeface="Trebuchet MS"/>
            </a:endParaRPr>
          </a:p>
          <a:p>
            <a:pPr marL="355600" indent="-342900" algn="just">
              <a:lnSpc>
                <a:spcPts val="2370"/>
              </a:lnSpc>
              <a:spcBef>
                <a:spcPts val="455"/>
              </a:spcBef>
              <a:buClr>
                <a:srgbClr val="90C224"/>
              </a:buClr>
              <a:buSzPct val="79545"/>
              <a:buFont typeface="Wingdings"/>
              <a:buChar char=""/>
              <a:tabLst>
                <a:tab pos="355600" algn="l"/>
              </a:tabLst>
            </a:pPr>
            <a:r>
              <a:rPr sz="2200" spc="-130" dirty="0">
                <a:solidFill>
                  <a:srgbClr val="404040"/>
                </a:solidFill>
                <a:latin typeface="Trebuchet MS"/>
                <a:cs typeface="Trebuchet MS"/>
              </a:rPr>
              <a:t>Tags</a:t>
            </a:r>
            <a:r>
              <a:rPr sz="22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geralmente</a:t>
            </a:r>
            <a:r>
              <a:rPr sz="2200" spc="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vêm</a:t>
            </a:r>
            <a:r>
              <a:rPr sz="2200" spc="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2200" spc="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pares.</a:t>
            </a:r>
            <a:r>
              <a:rPr sz="2200" spc="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2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tag</a:t>
            </a:r>
            <a:r>
              <a:rPr sz="2200" spc="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200" spc="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abertura</a:t>
            </a:r>
            <a:r>
              <a:rPr sz="2200" spc="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indica</a:t>
            </a:r>
            <a:r>
              <a:rPr sz="2200" spc="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200" spc="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início</a:t>
            </a:r>
            <a:endParaRPr sz="2200" dirty="0">
              <a:latin typeface="Trebuchet MS"/>
              <a:cs typeface="Trebuchet MS"/>
            </a:endParaRPr>
          </a:p>
          <a:p>
            <a:pPr marL="355600" algn="just">
              <a:lnSpc>
                <a:spcPts val="2370"/>
              </a:lnSpc>
            </a:pP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22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parte</a:t>
            </a:r>
            <a:r>
              <a:rPr sz="22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22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conteúdo</a:t>
            </a:r>
            <a:r>
              <a:rPr sz="22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2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2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tag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de</a:t>
            </a:r>
            <a:r>
              <a:rPr sz="22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fechamento</a:t>
            </a:r>
            <a:r>
              <a:rPr sz="22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indica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o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fim.</a:t>
            </a:r>
            <a:endParaRPr sz="2200" dirty="0">
              <a:latin typeface="Trebuchet MS"/>
              <a:cs typeface="Trebuchet MS"/>
            </a:endParaRPr>
          </a:p>
          <a:p>
            <a:pPr marL="355600" marR="91440" indent="-342900" algn="just">
              <a:lnSpc>
                <a:spcPts val="2400"/>
              </a:lnSpc>
              <a:spcBef>
                <a:spcPts val="545"/>
              </a:spcBef>
              <a:buClr>
                <a:srgbClr val="90C224"/>
              </a:buClr>
              <a:buSzPct val="79545"/>
              <a:buFont typeface="Wingdings"/>
              <a:buChar char=""/>
              <a:tabLst>
                <a:tab pos="355600" algn="l"/>
              </a:tabLst>
            </a:pPr>
            <a:r>
              <a:rPr sz="2200" spc="-130" dirty="0">
                <a:solidFill>
                  <a:srgbClr val="404040"/>
                </a:solidFill>
                <a:latin typeface="Trebuchet MS"/>
                <a:cs typeface="Trebuchet MS"/>
              </a:rPr>
              <a:t>Tags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abertura podem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conter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atributos,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que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nos dizem mais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detalhes</a:t>
            </a:r>
            <a:r>
              <a:rPr sz="22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sobre</a:t>
            </a:r>
            <a:r>
              <a:rPr sz="22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2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conteúdo</a:t>
            </a:r>
            <a:r>
              <a:rPr sz="22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desse</a:t>
            </a:r>
            <a:r>
              <a:rPr sz="22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elemento.</a:t>
            </a:r>
            <a:endParaRPr sz="2200" dirty="0">
              <a:latin typeface="Trebuchet MS"/>
              <a:cs typeface="Trebuchet MS"/>
            </a:endParaRPr>
          </a:p>
          <a:p>
            <a:pPr marL="355600" indent="-342900" algn="just">
              <a:lnSpc>
                <a:spcPct val="100000"/>
              </a:lnSpc>
              <a:spcBef>
                <a:spcPts val="465"/>
              </a:spcBef>
              <a:buClr>
                <a:srgbClr val="90C224"/>
              </a:buClr>
              <a:buSzPct val="79545"/>
              <a:buFont typeface="Wingdings"/>
              <a:buChar char=""/>
              <a:tabLst>
                <a:tab pos="355600" algn="l"/>
              </a:tabLst>
            </a:pP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Atributos</a:t>
            </a:r>
            <a:r>
              <a:rPr sz="22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requerem</a:t>
            </a:r>
            <a:r>
              <a:rPr sz="22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um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nome</a:t>
            </a:r>
            <a:r>
              <a:rPr sz="22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5" dirty="0">
                <a:solidFill>
                  <a:srgbClr val="404040"/>
                </a:solidFill>
                <a:latin typeface="Trebuchet MS"/>
                <a:cs typeface="Trebuchet MS"/>
              </a:rPr>
              <a:t>valor.</a:t>
            </a:r>
            <a:endParaRPr sz="2200" dirty="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79500"/>
              </a:lnSpc>
              <a:spcBef>
                <a:spcPts val="1000"/>
              </a:spcBef>
              <a:buClr>
                <a:srgbClr val="90C224"/>
              </a:buClr>
              <a:buSzPct val="79545"/>
              <a:buFont typeface="Wingdings"/>
              <a:buChar char=""/>
              <a:tabLst>
                <a:tab pos="355600" algn="l"/>
              </a:tabLst>
            </a:pPr>
            <a:r>
              <a:rPr sz="2200" spc="-5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2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aprender</a:t>
            </a:r>
            <a:r>
              <a:rPr sz="2200" spc="6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HTML,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precisa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saber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quais</a:t>
            </a:r>
            <a:r>
              <a:rPr sz="2200" spc="6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tags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são </a:t>
            </a:r>
            <a:r>
              <a:rPr sz="2200" spc="-6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disponíveis</a:t>
            </a:r>
            <a:r>
              <a:rPr sz="22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2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20" dirty="0">
                <a:solidFill>
                  <a:srgbClr val="404040"/>
                </a:solidFill>
                <a:latin typeface="Trebuchet MS"/>
                <a:cs typeface="Trebuchet MS"/>
              </a:rPr>
              <a:t>usar,</a:t>
            </a:r>
            <a:r>
              <a:rPr sz="2200" spc="-1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o que</a:t>
            </a:r>
            <a:r>
              <a:rPr sz="22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fazem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onde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podem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75" dirty="0">
                <a:solidFill>
                  <a:srgbClr val="404040"/>
                </a:solidFill>
                <a:latin typeface="Trebuchet MS"/>
                <a:cs typeface="Trebuchet MS"/>
              </a:rPr>
              <a:t>ir.</a:t>
            </a:r>
            <a:endParaRPr sz="2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29349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Editores</a:t>
            </a:r>
            <a:r>
              <a:rPr sz="3600" spc="-165" dirty="0"/>
              <a:t> </a:t>
            </a:r>
            <a:r>
              <a:rPr sz="3600" spc="-5" dirty="0"/>
              <a:t>HTML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916939" y="1774316"/>
            <a:ext cx="10359390" cy="125095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55600" marR="5080" indent="-342900">
              <a:lnSpc>
                <a:spcPct val="102899"/>
              </a:lnSpc>
              <a:spcBef>
                <a:spcPts val="15"/>
              </a:spcBef>
              <a:tabLst>
                <a:tab pos="354965" algn="l"/>
                <a:tab pos="1089660" algn="l"/>
                <a:tab pos="2957195" algn="l"/>
                <a:tab pos="4156075" algn="l"/>
                <a:tab pos="4885055" algn="l"/>
                <a:tab pos="5924550" algn="l"/>
                <a:tab pos="7794625" algn="l"/>
                <a:tab pos="9451340" algn="l"/>
                <a:tab pos="9926955" algn="l"/>
              </a:tabLst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2400" spc="-225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ra	</a:t>
            </a:r>
            <a:r>
              <a:rPr sz="2400" b="1" spc="-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b="1" spc="1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env</a:t>
            </a:r>
            <a:r>
              <a:rPr sz="2400" b="1" spc="-1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b="1" spc="-1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400" b="1" spc="-10" dirty="0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er	p</a:t>
            </a:r>
            <a:r>
              <a:rPr sz="2400" b="1" spc="5" dirty="0">
                <a:solidFill>
                  <a:srgbClr val="404040"/>
                </a:solidFill>
                <a:latin typeface="Trebuchet MS"/>
                <a:cs typeface="Trebuchet MS"/>
              </a:rPr>
              <a:t>á</a:t>
            </a: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ginas	</a:t>
            </a:r>
            <a:r>
              <a:rPr sz="2400" b="1" spc="-20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om	H</a:t>
            </a:r>
            <a:r>
              <a:rPr sz="2400" b="1" spc="-2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b="1" spc="-15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400" b="1" spc="-10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,	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en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	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ec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um  editor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texto.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  <a:tabLst>
                <a:tab pos="354965" algn="l"/>
              </a:tabLst>
            </a:pPr>
            <a:r>
              <a:rPr sz="19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Abaixo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alguns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possuem</a:t>
            </a:r>
            <a:r>
              <a:rPr sz="24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funções</a:t>
            </a:r>
            <a:r>
              <a:rPr sz="24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404040"/>
                </a:solidFill>
                <a:latin typeface="Trebuchet MS"/>
                <a:cs typeface="Trebuchet MS"/>
              </a:rPr>
              <a:t>syntax</a:t>
            </a:r>
            <a:r>
              <a:rPr sz="2400" i="1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i="1" spc="-10" dirty="0">
                <a:solidFill>
                  <a:srgbClr val="404040"/>
                </a:solidFill>
                <a:latin typeface="Trebuchet MS"/>
                <a:cs typeface="Trebuchet MS"/>
              </a:rPr>
              <a:t>highlighting</a:t>
            </a:r>
            <a:r>
              <a:rPr sz="2400" i="1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i="1" spc="-15" dirty="0">
                <a:solidFill>
                  <a:srgbClr val="404040"/>
                </a:solidFill>
                <a:latin typeface="Trebuchet MS"/>
                <a:cs typeface="Trebuchet MS"/>
              </a:rPr>
              <a:t>autocomplete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72739" y="2936748"/>
            <a:ext cx="6891655" cy="3022600"/>
            <a:chOff x="2872739" y="2936748"/>
            <a:chExt cx="6891655" cy="30226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2739" y="3281172"/>
              <a:ext cx="673608" cy="67360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1027" y="4194048"/>
              <a:ext cx="637031" cy="6370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72739" y="5268468"/>
              <a:ext cx="955548" cy="6903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1227" y="2936748"/>
              <a:ext cx="1463040" cy="100736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716151" y="3448253"/>
            <a:ext cx="5619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Ato</a:t>
            </a:r>
            <a:r>
              <a:rPr sz="1800" dirty="0">
                <a:latin typeface="Trebuchet MS"/>
                <a:cs typeface="Trebuchet MS"/>
              </a:rPr>
              <a:t>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369689" y="4247515"/>
            <a:ext cx="2317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rebuchet MS"/>
                <a:cs typeface="Trebuchet MS"/>
              </a:rPr>
              <a:t>OS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X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,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Windows</a:t>
            </a:r>
            <a:r>
              <a:rPr sz="1800" b="1" spc="-8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Linux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74469" y="4399533"/>
            <a:ext cx="833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Trebuchet MS"/>
                <a:cs typeface="Trebuchet MS"/>
              </a:rPr>
              <a:t>S</a:t>
            </a:r>
            <a:r>
              <a:rPr sz="1800" dirty="0">
                <a:latin typeface="Trebuchet MS"/>
                <a:cs typeface="Trebuchet MS"/>
              </a:rPr>
              <a:t>u</a:t>
            </a:r>
            <a:r>
              <a:rPr sz="1800" spc="-10" dirty="0">
                <a:latin typeface="Trebuchet MS"/>
                <a:cs typeface="Trebuchet MS"/>
              </a:rPr>
              <a:t>b</a:t>
            </a:r>
            <a:r>
              <a:rPr sz="1800" spc="-5" dirty="0">
                <a:latin typeface="Trebuchet MS"/>
                <a:cs typeface="Trebuchet MS"/>
              </a:rPr>
              <a:t>l</a:t>
            </a:r>
            <a:r>
              <a:rPr sz="1800" dirty="0">
                <a:latin typeface="Trebuchet MS"/>
                <a:cs typeface="Trebuchet MS"/>
              </a:rPr>
              <a:t>i</a:t>
            </a:r>
            <a:r>
              <a:rPr sz="1800" spc="5" dirty="0">
                <a:latin typeface="Trebuchet MS"/>
                <a:cs typeface="Trebuchet MS"/>
              </a:rPr>
              <a:t>me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13630" y="5402071"/>
            <a:ext cx="970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rebuchet MS"/>
                <a:cs typeface="Trebuchet MS"/>
              </a:rPr>
              <a:t>Windows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5572" y="5355132"/>
            <a:ext cx="1113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Trebuchet MS"/>
                <a:cs typeface="Trebuchet MS"/>
              </a:rPr>
              <a:t>Notepad++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69689" y="3432429"/>
            <a:ext cx="2328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rebuchet MS"/>
                <a:cs typeface="Trebuchet MS"/>
              </a:rPr>
              <a:t>OS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X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,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Windows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Linux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83500" y="3432429"/>
            <a:ext cx="900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Brackets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471152" y="3400170"/>
            <a:ext cx="2315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rebuchet MS"/>
                <a:cs typeface="Trebuchet MS"/>
              </a:rPr>
              <a:t>OS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X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,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spc="-5" dirty="0">
                <a:latin typeface="Trebuchet MS"/>
                <a:cs typeface="Trebuchet MS"/>
              </a:rPr>
              <a:t>Windows</a:t>
            </a:r>
            <a:r>
              <a:rPr sz="1800" b="1" spc="-10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Linux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00213" y="4864989"/>
            <a:ext cx="1516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En</a:t>
            </a:r>
            <a:r>
              <a:rPr sz="1800" spc="-10" dirty="0">
                <a:latin typeface="Trebuchet MS"/>
                <a:cs typeface="Trebuchet MS"/>
              </a:rPr>
              <a:t>t</a:t>
            </a:r>
            <a:r>
              <a:rPr sz="1800" dirty="0">
                <a:latin typeface="Trebuchet MS"/>
                <a:cs typeface="Trebuchet MS"/>
              </a:rPr>
              <a:t>re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o</a:t>
            </a:r>
            <a:r>
              <a:rPr sz="1800" spc="-15" dirty="0">
                <a:latin typeface="Trebuchet MS"/>
                <a:cs typeface="Trebuchet MS"/>
              </a:rPr>
              <a:t>u</a:t>
            </a:r>
            <a:r>
              <a:rPr sz="1800" spc="-20" dirty="0">
                <a:latin typeface="Trebuchet MS"/>
                <a:cs typeface="Trebuchet MS"/>
              </a:rPr>
              <a:t>tro</a:t>
            </a:r>
            <a:r>
              <a:rPr sz="1800" spc="-10" dirty="0">
                <a:latin typeface="Trebuchet MS"/>
                <a:cs typeface="Trebuchet MS"/>
              </a:rPr>
              <a:t>s</a:t>
            </a:r>
            <a:r>
              <a:rPr sz="1800" spc="-15" dirty="0">
                <a:latin typeface="Trebuchet MS"/>
                <a:cs typeface="Trebuchet MS"/>
              </a:rPr>
              <a:t>..</a:t>
            </a:r>
            <a:r>
              <a:rPr sz="1800" dirty="0">
                <a:latin typeface="Trebuchet MS"/>
                <a:cs typeface="Trebuchet MS"/>
              </a:rPr>
              <a:t>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079485" y="5279263"/>
            <a:ext cx="25939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Editores </a:t>
            </a:r>
            <a:r>
              <a:rPr sz="1800" dirty="0">
                <a:latin typeface="Trebuchet MS"/>
                <a:cs typeface="Trebuchet MS"/>
              </a:rPr>
              <a:t>de </a:t>
            </a:r>
            <a:r>
              <a:rPr sz="1800" spc="-10" dirty="0">
                <a:latin typeface="Trebuchet MS"/>
                <a:cs typeface="Trebuchet MS"/>
              </a:rPr>
              <a:t>texto básico: </a:t>
            </a:r>
            <a:r>
              <a:rPr sz="1800" spc="-53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Bloco </a:t>
            </a:r>
            <a:r>
              <a:rPr sz="1800" dirty="0">
                <a:latin typeface="Trebuchet MS"/>
                <a:cs typeface="Trebuchet MS"/>
              </a:rPr>
              <a:t>de </a:t>
            </a:r>
            <a:r>
              <a:rPr sz="1800" spc="-15" dirty="0">
                <a:latin typeface="Trebuchet MS"/>
                <a:cs typeface="Trebuchet MS"/>
              </a:rPr>
              <a:t>Notas Windows, </a:t>
            </a:r>
            <a:r>
              <a:rPr sz="1800" spc="-5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Nano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Emacs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no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Linux,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3791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/>
              <a:t>Visual</a:t>
            </a:r>
            <a:r>
              <a:rPr sz="3600" spc="-114" dirty="0"/>
              <a:t> </a:t>
            </a:r>
            <a:r>
              <a:rPr sz="3600" dirty="0"/>
              <a:t>Studio</a:t>
            </a:r>
            <a:r>
              <a:rPr sz="3600" spc="-90" dirty="0"/>
              <a:t> </a:t>
            </a:r>
            <a:r>
              <a:rPr sz="3600" spc="-5" dirty="0"/>
              <a:t>Code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005" y="2172080"/>
            <a:ext cx="3717290" cy="322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Visual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Studio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Code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editor</a:t>
            </a:r>
            <a:endParaRPr sz="18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70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código-fonte</a:t>
            </a:r>
            <a:r>
              <a:rPr sz="18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(leve).</a:t>
            </a:r>
            <a:endParaRPr sz="1800">
              <a:latin typeface="Trebuchet MS"/>
              <a:cs typeface="Trebuchet MS"/>
            </a:endParaRPr>
          </a:p>
          <a:p>
            <a:pPr marL="355600" marR="287020" indent="-342900">
              <a:lnSpc>
                <a:spcPct val="103299"/>
              </a:lnSpc>
              <a:spcBef>
                <a:spcPts val="855"/>
              </a:spcBef>
              <a:tabLst>
                <a:tab pos="354965" algn="l"/>
              </a:tabLst>
            </a:pPr>
            <a:r>
              <a:rPr sz="1450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Está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disponível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Windows, </a:t>
            </a:r>
            <a:r>
              <a:rPr sz="1800" spc="-5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macOS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 Linux.</a:t>
            </a:r>
            <a:endParaRPr sz="1800">
              <a:latin typeface="Trebuchet MS"/>
              <a:cs typeface="Trebuchet MS"/>
            </a:endParaRPr>
          </a:p>
          <a:p>
            <a:pPr marL="355600" marR="12700" indent="-342900">
              <a:lnSpc>
                <a:spcPct val="102800"/>
              </a:lnSpc>
              <a:spcBef>
                <a:spcPts val="875"/>
              </a:spcBef>
              <a:tabLst>
                <a:tab pos="354965" algn="l"/>
              </a:tabLst>
            </a:pPr>
            <a:r>
              <a:rPr sz="1450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Ele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vem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com suporte para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J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avaSc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8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29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y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Scr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18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.j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355600" marR="391160" indent="-342900">
              <a:lnSpc>
                <a:spcPct val="103299"/>
              </a:lnSpc>
              <a:spcBef>
                <a:spcPts val="870"/>
              </a:spcBef>
              <a:tabLst>
                <a:tab pos="423545" algn="l"/>
              </a:tabLst>
            </a:pPr>
            <a:r>
              <a:rPr sz="1450" dirty="0">
                <a:solidFill>
                  <a:srgbClr val="90C224"/>
                </a:solidFill>
                <a:latin typeface="Lucida Sans Unicode"/>
                <a:cs typeface="Lucida Sans Unicode"/>
              </a:rPr>
              <a:t>▶	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possível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instalar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extensões </a:t>
            </a:r>
            <a:r>
              <a:rPr sz="1800" spc="-5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outras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linguagens.</a:t>
            </a:r>
            <a:endParaRPr sz="1800">
              <a:latin typeface="Trebuchet MS"/>
              <a:cs typeface="Trebuchet MS"/>
            </a:endParaRPr>
          </a:p>
          <a:p>
            <a:pPr marL="757555" marR="177800" indent="-288290">
              <a:lnSpc>
                <a:spcPct val="102499"/>
              </a:lnSpc>
              <a:spcBef>
                <a:spcPts val="905"/>
              </a:spcBef>
              <a:tabLst>
                <a:tab pos="756285" algn="l"/>
              </a:tabLst>
            </a:pPr>
            <a:r>
              <a:rPr sz="125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++,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16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#,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Java,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Python,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PHP</a:t>
            </a:r>
            <a:r>
              <a:rPr sz="16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e </a:t>
            </a:r>
            <a:r>
              <a:rPr sz="1600" spc="-4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Go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6528" y="2159507"/>
            <a:ext cx="4206239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1759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Ar</a:t>
            </a:r>
            <a:r>
              <a:rPr sz="3600" spc="-15" dirty="0"/>
              <a:t>q</a:t>
            </a:r>
            <a:r>
              <a:rPr sz="3600" dirty="0"/>
              <a:t>u</a:t>
            </a:r>
            <a:r>
              <a:rPr sz="3600" spc="-20" dirty="0"/>
              <a:t>i</a:t>
            </a:r>
            <a:r>
              <a:rPr sz="3600" dirty="0"/>
              <a:t>vos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005" y="2135886"/>
            <a:ext cx="845439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solidFill>
                  <a:srgbClr val="404040"/>
                </a:solidFill>
                <a:latin typeface="Trebuchet MS"/>
                <a:cs typeface="Trebuchet MS"/>
              </a:rPr>
              <a:t>Independente</a:t>
            </a:r>
            <a:r>
              <a:rPr sz="2600" spc="2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2600" spc="2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rebuchet MS"/>
                <a:cs typeface="Trebuchet MS"/>
              </a:rPr>
              <a:t>editor</a:t>
            </a:r>
            <a:r>
              <a:rPr sz="2600" spc="2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rebuchet MS"/>
                <a:cs typeface="Trebuchet MS"/>
              </a:rPr>
              <a:t>utilizado</a:t>
            </a:r>
            <a:r>
              <a:rPr sz="2600" spc="2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600" spc="-15" dirty="0">
                <a:solidFill>
                  <a:srgbClr val="FF0000"/>
                </a:solidFill>
                <a:latin typeface="Trebuchet MS"/>
                <a:cs typeface="Trebuchet MS"/>
              </a:rPr>
              <a:t>basta</a:t>
            </a:r>
            <a:r>
              <a:rPr sz="2600" spc="2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FF0000"/>
                </a:solidFill>
                <a:latin typeface="Trebuchet MS"/>
                <a:cs typeface="Trebuchet MS"/>
              </a:rPr>
              <a:t>salvar</a:t>
            </a:r>
            <a:r>
              <a:rPr sz="2600" spc="25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600" spc="2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FF0000"/>
                </a:solidFill>
                <a:latin typeface="Trebuchet MS"/>
                <a:cs typeface="Trebuchet MS"/>
              </a:rPr>
              <a:t>arquivo</a:t>
            </a:r>
            <a:endParaRPr sz="26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78802" y="2492197"/>
            <a:ext cx="202946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89305" algn="l"/>
              </a:tabLst>
            </a:pPr>
            <a:r>
              <a:rPr sz="2600" dirty="0">
                <a:solidFill>
                  <a:srgbClr val="404040"/>
                </a:solidFill>
                <a:latin typeface="Trebuchet MS"/>
                <a:cs typeface="Trebuchet MS"/>
              </a:rPr>
              <a:t>Em	</a:t>
            </a:r>
            <a:r>
              <a:rPr sz="2600" spc="-10" dirty="0">
                <a:solidFill>
                  <a:srgbClr val="404040"/>
                </a:solidFill>
                <a:latin typeface="Trebuchet MS"/>
                <a:cs typeface="Trebuchet MS"/>
              </a:rPr>
              <a:t>seguida,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67550" y="2849372"/>
            <a:ext cx="21393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69390" algn="l"/>
              </a:tabLst>
            </a:pPr>
            <a:r>
              <a:rPr sz="2600" spc="10" dirty="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sz="2600" dirty="0">
                <a:solidFill>
                  <a:srgbClr val="404040"/>
                </a:solidFill>
                <a:latin typeface="Trebuchet MS"/>
                <a:cs typeface="Trebuchet MS"/>
              </a:rPr>
              <a:t>rowser	</a:t>
            </a:r>
            <a:r>
              <a:rPr sz="2600" spc="-15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6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600" spc="-2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6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6005" y="2492197"/>
            <a:ext cx="6123305" cy="113665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algn="just">
              <a:lnSpc>
                <a:spcPts val="2810"/>
              </a:lnSpc>
              <a:spcBef>
                <a:spcPts val="455"/>
              </a:spcBef>
            </a:pPr>
            <a:r>
              <a:rPr sz="2600" spc="-5" dirty="0">
                <a:solidFill>
                  <a:srgbClr val="404040"/>
                </a:solidFill>
                <a:latin typeface="Trebuchet MS"/>
                <a:cs typeface="Trebuchet MS"/>
              </a:rPr>
              <a:t>com</a:t>
            </a:r>
            <a:r>
              <a:rPr sz="26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Trebuchet MS"/>
                <a:cs typeface="Trebuchet MS"/>
              </a:rPr>
              <a:t>extensão</a:t>
            </a:r>
            <a:r>
              <a:rPr sz="26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Trebuchet MS"/>
                <a:cs typeface="Trebuchet MS"/>
              </a:rPr>
              <a:t>.html</a:t>
            </a:r>
            <a:r>
              <a:rPr sz="2600" b="1" i="1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Trebuchet MS"/>
                <a:cs typeface="Trebuchet MS"/>
              </a:rPr>
              <a:t>com</a:t>
            </a:r>
            <a:r>
              <a:rPr sz="2600" dirty="0">
                <a:solidFill>
                  <a:srgbClr val="404040"/>
                </a:solidFill>
                <a:latin typeface="Trebuchet MS"/>
                <a:cs typeface="Trebuchet MS"/>
              </a:rPr>
              <a:t> o</a:t>
            </a:r>
            <a:r>
              <a:rPr sz="2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Trebuchet MS"/>
                <a:cs typeface="Trebuchet MS"/>
              </a:rPr>
              <a:t>código. </a:t>
            </a:r>
            <a:r>
              <a:rPr sz="26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rebuchet MS"/>
                <a:cs typeface="Trebuchet MS"/>
              </a:rPr>
              <a:t>podemos</a:t>
            </a:r>
            <a:r>
              <a:rPr sz="26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rebuchet MS"/>
                <a:cs typeface="Trebuchet MS"/>
              </a:rPr>
              <a:t>abrir</a:t>
            </a:r>
            <a:r>
              <a:rPr sz="26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rebuchet MS"/>
                <a:cs typeface="Trebuchet MS"/>
              </a:rPr>
              <a:t>esse</a:t>
            </a:r>
            <a:r>
              <a:rPr sz="26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Trebuchet MS"/>
                <a:cs typeface="Trebuchet MS"/>
              </a:rPr>
              <a:t>arquivo</a:t>
            </a:r>
            <a:r>
              <a:rPr sz="2600" spc="-5" dirty="0">
                <a:solidFill>
                  <a:srgbClr val="404040"/>
                </a:solidFill>
                <a:latin typeface="Trebuchet MS"/>
                <a:cs typeface="Trebuchet MS"/>
              </a:rPr>
              <a:t> em</a:t>
            </a:r>
            <a:r>
              <a:rPr sz="26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600" spc="15" dirty="0">
                <a:solidFill>
                  <a:srgbClr val="404040"/>
                </a:solidFill>
                <a:latin typeface="Trebuchet MS"/>
                <a:cs typeface="Trebuchet MS"/>
              </a:rPr>
              <a:t>um </a:t>
            </a:r>
            <a:r>
              <a:rPr sz="26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600" spc="-65" dirty="0">
                <a:solidFill>
                  <a:srgbClr val="404040"/>
                </a:solidFill>
                <a:latin typeface="Trebuchet MS"/>
                <a:cs typeface="Trebuchet MS"/>
              </a:rPr>
              <a:t>visualizar.</a:t>
            </a:r>
            <a:endParaRPr sz="2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4004" y="2463749"/>
            <a:ext cx="3825240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b="1" spc="-5" dirty="0">
                <a:latin typeface="Trebuchet MS"/>
                <a:cs typeface="Trebuchet MS"/>
              </a:rPr>
              <a:t>HTML</a:t>
            </a:r>
            <a:r>
              <a:rPr sz="4900" b="1" spc="-260" dirty="0">
                <a:latin typeface="Trebuchet MS"/>
                <a:cs typeface="Trebuchet MS"/>
              </a:rPr>
              <a:t> </a:t>
            </a:r>
            <a:r>
              <a:rPr sz="4900" b="1" spc="-5" dirty="0">
                <a:latin typeface="Trebuchet MS"/>
                <a:cs typeface="Trebuchet MS"/>
              </a:rPr>
              <a:t>-</a:t>
            </a:r>
            <a:r>
              <a:rPr sz="4900" b="1" spc="-145" dirty="0">
                <a:latin typeface="Trebuchet MS"/>
                <a:cs typeface="Trebuchet MS"/>
              </a:rPr>
              <a:t> </a:t>
            </a:r>
            <a:r>
              <a:rPr sz="4900" b="1" spc="-95" dirty="0">
                <a:latin typeface="Trebuchet MS"/>
                <a:cs typeface="Trebuchet MS"/>
              </a:rPr>
              <a:t>Texto</a:t>
            </a:r>
            <a:endParaRPr sz="4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4058" y="2205989"/>
            <a:ext cx="10314941" cy="35842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criar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página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da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Web,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adiciona</a:t>
            </a:r>
            <a:r>
              <a:rPr sz="2400" spc="5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rebuchet MS"/>
                <a:cs typeface="Trebuchet MS"/>
              </a:rPr>
              <a:t>tags</a:t>
            </a:r>
            <a:r>
              <a:rPr sz="2400" b="1" spc="5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(conhecidas</a:t>
            </a:r>
            <a:r>
              <a:rPr sz="2400" spc="5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como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marcação)</a:t>
            </a:r>
            <a:r>
              <a:rPr sz="2400" spc="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ao</a:t>
            </a:r>
            <a:r>
              <a:rPr sz="2400" spc="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conteúdo</a:t>
            </a:r>
            <a:r>
              <a:rPr sz="2400" spc="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2400" spc="1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página.</a:t>
            </a:r>
            <a:r>
              <a:rPr sz="2400" spc="1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Essas</a:t>
            </a:r>
            <a:r>
              <a:rPr sz="2400" spc="1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tags</a:t>
            </a:r>
            <a:r>
              <a:rPr sz="2400" spc="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fornecem</a:t>
            </a:r>
            <a:r>
              <a:rPr sz="2400" spc="1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400" spc="1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significado</a:t>
            </a:r>
            <a:r>
              <a:rPr sz="2400" spc="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extra </a:t>
            </a:r>
            <a:r>
              <a:rPr sz="2400" spc="-5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permitem que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os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navegadores mostrem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aos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usuários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estrutura apropriada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para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página.</a:t>
            </a:r>
            <a:endParaRPr sz="2400" dirty="0">
              <a:latin typeface="Trebuchet MS"/>
              <a:cs typeface="Trebuchet MS"/>
            </a:endParaRPr>
          </a:p>
          <a:p>
            <a:pPr marL="757555" marR="27940" indent="-288290" algn="just">
              <a:lnSpc>
                <a:spcPct val="103000"/>
              </a:lnSpc>
              <a:spcBef>
                <a:spcPts val="850"/>
              </a:spcBef>
            </a:pPr>
            <a:r>
              <a:rPr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400" b="1" spc="-10" dirty="0" err="1">
                <a:solidFill>
                  <a:srgbClr val="FF0000"/>
                </a:solidFill>
                <a:latin typeface="Trebuchet MS"/>
                <a:cs typeface="Trebuchet MS"/>
              </a:rPr>
              <a:t>Marcação</a:t>
            </a:r>
            <a:r>
              <a:rPr sz="2400" b="1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Trebuchet MS"/>
                <a:cs typeface="Trebuchet MS"/>
              </a:rPr>
              <a:t>estrutural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: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os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elementos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que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você pode usar para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descrever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cabeçalhos</a:t>
            </a:r>
            <a:r>
              <a:rPr sz="24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parágrafos.</a:t>
            </a:r>
            <a:endParaRPr sz="2400" dirty="0">
              <a:latin typeface="Trebuchet MS"/>
              <a:cs typeface="Trebuchet MS"/>
            </a:endParaRPr>
          </a:p>
          <a:p>
            <a:pPr marL="469900" algn="just">
              <a:lnSpc>
                <a:spcPct val="100000"/>
              </a:lnSpc>
              <a:spcBef>
                <a:spcPts val="940"/>
              </a:spcBef>
            </a:pPr>
            <a:r>
              <a:rPr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2400" b="1" spc="-5" dirty="0" err="1">
                <a:solidFill>
                  <a:srgbClr val="FF0000"/>
                </a:solidFill>
                <a:latin typeface="Trebuchet MS"/>
                <a:cs typeface="Trebuchet MS"/>
              </a:rPr>
              <a:t>Ma</a:t>
            </a:r>
            <a:r>
              <a:rPr sz="2400" b="1" spc="-10" dirty="0" err="1">
                <a:solidFill>
                  <a:srgbClr val="FF0000"/>
                </a:solidFill>
                <a:latin typeface="Trebuchet MS"/>
                <a:cs typeface="Trebuchet MS"/>
              </a:rPr>
              <a:t>rc</a:t>
            </a:r>
            <a:r>
              <a:rPr sz="2400" b="1" dirty="0" err="1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400" b="1" spc="-10" dirty="0" err="1">
                <a:solidFill>
                  <a:srgbClr val="FF0000"/>
                </a:solidFill>
                <a:latin typeface="Trebuchet MS"/>
                <a:cs typeface="Trebuchet MS"/>
              </a:rPr>
              <a:t>ç</a:t>
            </a:r>
            <a:r>
              <a:rPr sz="2400" b="1" spc="-15" dirty="0" err="1">
                <a:solidFill>
                  <a:srgbClr val="FF0000"/>
                </a:solidFill>
                <a:latin typeface="Trebuchet MS"/>
                <a:cs typeface="Trebuchet MS"/>
              </a:rPr>
              <a:t>ã</a:t>
            </a:r>
            <a:r>
              <a:rPr sz="2400" b="1" dirty="0" err="1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400" b="1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rebuchet MS"/>
                <a:cs typeface="Trebuchet MS"/>
              </a:rPr>
              <a:t>semâ</a:t>
            </a:r>
            <a:r>
              <a:rPr sz="2400" b="1" spc="-10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2400" b="1" spc="-15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2400" b="1" spc="-5" dirty="0">
                <a:solidFill>
                  <a:srgbClr val="FF0000"/>
                </a:solidFill>
                <a:latin typeface="Trebuchet MS"/>
                <a:cs typeface="Trebuchet MS"/>
              </a:rPr>
              <a:t>ic</a:t>
            </a:r>
            <a:r>
              <a:rPr sz="2400" b="1" spc="-1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:</a:t>
            </a:r>
            <a:r>
              <a:rPr sz="24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fornece</a:t>
            </a:r>
            <a:r>
              <a:rPr sz="24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inf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rm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ç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ões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x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tr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  <a:p>
            <a:pPr marL="1155700" marR="332740" indent="-228600" algn="just">
              <a:lnSpc>
                <a:spcPct val="106200"/>
              </a:lnSpc>
              <a:spcBef>
                <a:spcPts val="844"/>
              </a:spcBef>
            </a:pPr>
            <a:r>
              <a:rPr sz="160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600" spc="-8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Como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ênfase</a:t>
            </a:r>
            <a:r>
              <a:rPr sz="2000" spc="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colocada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uma frase,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algo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escreveu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é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uma </a:t>
            </a:r>
            <a:r>
              <a:rPr sz="2000" spc="-5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citação,</a:t>
            </a:r>
            <a:r>
              <a:rPr sz="20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significado</a:t>
            </a:r>
            <a:r>
              <a:rPr sz="20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siglas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assim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por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diante.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5" y="613917"/>
            <a:ext cx="13385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450" dirty="0">
                <a:latin typeface="Trebuchet MS"/>
                <a:cs typeface="Trebuchet MS"/>
              </a:rPr>
              <a:t>T</a:t>
            </a:r>
            <a:r>
              <a:rPr sz="4000" b="1" spc="-10" dirty="0">
                <a:latin typeface="Trebuchet MS"/>
                <a:cs typeface="Trebuchet MS"/>
              </a:rPr>
              <a:t>e</a:t>
            </a:r>
            <a:r>
              <a:rPr sz="4000" b="1" spc="-5" dirty="0">
                <a:latin typeface="Trebuchet MS"/>
                <a:cs typeface="Trebuchet MS"/>
              </a:rPr>
              <a:t>x</a:t>
            </a:r>
            <a:r>
              <a:rPr sz="4000" b="1" spc="-20" dirty="0">
                <a:latin typeface="Trebuchet MS"/>
                <a:cs typeface="Trebuchet MS"/>
              </a:rPr>
              <a:t>t</a:t>
            </a:r>
            <a:r>
              <a:rPr sz="4000" b="1" spc="-5" dirty="0">
                <a:latin typeface="Trebuchet MS"/>
                <a:cs typeface="Trebuchet MS"/>
              </a:rPr>
              <a:t>o</a:t>
            </a:r>
            <a:endParaRPr sz="4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3536" y="2525267"/>
            <a:ext cx="5803900" cy="364693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21380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Cabeçalho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311150" y="2525267"/>
            <a:ext cx="5803900" cy="3322320"/>
          </a:xfrm>
          <a:custGeom>
            <a:avLst/>
            <a:gdLst/>
            <a:ahLst/>
            <a:cxnLst/>
            <a:rect l="l" t="t" r="r" b="b"/>
            <a:pathLst>
              <a:path w="5803900" h="3322320">
                <a:moveTo>
                  <a:pt x="5803392" y="0"/>
                </a:moveTo>
                <a:lnTo>
                  <a:pt x="0" y="0"/>
                </a:lnTo>
                <a:lnTo>
                  <a:pt x="0" y="3322320"/>
                </a:lnTo>
                <a:lnTo>
                  <a:pt x="5803392" y="3322320"/>
                </a:lnTo>
                <a:lnTo>
                  <a:pt x="58033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389636" y="2537841"/>
            <a:ext cx="5249164" cy="1733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DOCTYPE</a:t>
            </a:r>
            <a:r>
              <a:rPr sz="1400" spc="-7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C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767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400" spc="-4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C"/>
                </a:solidFill>
                <a:latin typeface="Consolas"/>
                <a:cs typeface="Consolas"/>
              </a:rPr>
              <a:t>lang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767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80073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meta</a:t>
            </a:r>
            <a:r>
              <a:rPr sz="1400" spc="-7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9CDCFC"/>
                </a:solidFill>
                <a:latin typeface="Consolas"/>
                <a:cs typeface="Consolas"/>
              </a:rPr>
              <a:t>charset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400" spc="5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400" dirty="0">
              <a:latin typeface="Consolas"/>
              <a:cs typeface="Consolas"/>
            </a:endParaRPr>
          </a:p>
          <a:p>
            <a:pPr marL="80073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Este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é</a:t>
            </a:r>
            <a:r>
              <a:rPr sz="1400" spc="-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o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título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da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página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5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767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767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1938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h1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15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Este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é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um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cabeçalho</a:t>
            </a:r>
            <a:r>
              <a:rPr sz="1400" spc="-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principal</a:t>
            </a:r>
            <a:r>
              <a:rPr sz="1400" spc="6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h1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564895"/>
              </p:ext>
            </p:extLst>
          </p:nvPr>
        </p:nvGraphicFramePr>
        <p:xfrm>
          <a:off x="670051" y="4305717"/>
          <a:ext cx="5085712" cy="12385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6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25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56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97675">
                <a:tc>
                  <a:txBody>
                    <a:bodyPr/>
                    <a:lstStyle/>
                    <a:p>
                      <a:pPr marR="42545" algn="r">
                        <a:lnSpc>
                          <a:spcPts val="1325"/>
                        </a:lnSpc>
                      </a:pPr>
                      <a:r>
                        <a:rPr sz="1400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&lt;</a:t>
                      </a:r>
                      <a:r>
                        <a:rPr sz="1400" dirty="0">
                          <a:solidFill>
                            <a:srgbClr val="549CD4"/>
                          </a:solidFill>
                          <a:latin typeface="Consolas"/>
                          <a:cs typeface="Consolas"/>
                        </a:rPr>
                        <a:t>h2</a:t>
                      </a:r>
                      <a:r>
                        <a:rPr sz="1400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25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Este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5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é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5"/>
                        </a:lnSpc>
                      </a:pPr>
                      <a:r>
                        <a:rPr sz="1400" spc="-5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um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25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cabeçalho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5"/>
                        </a:lnSpc>
                      </a:pPr>
                      <a:r>
                        <a:rPr sz="1400" spc="-5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de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5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nível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25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325"/>
                        </a:lnSpc>
                      </a:pPr>
                      <a:r>
                        <a:rPr sz="1400" spc="5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&lt;/</a:t>
                      </a:r>
                      <a:r>
                        <a:rPr sz="1400" spc="5" dirty="0">
                          <a:solidFill>
                            <a:srgbClr val="549CD4"/>
                          </a:solidFill>
                          <a:latin typeface="Consolas"/>
                          <a:cs typeface="Consolas"/>
                        </a:rPr>
                        <a:t>h2</a:t>
                      </a:r>
                      <a:r>
                        <a:rPr sz="1400" spc="5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R="42545" algn="r">
                        <a:lnSpc>
                          <a:spcPts val="1475"/>
                        </a:lnSpc>
                      </a:pPr>
                      <a:r>
                        <a:rPr sz="1400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&lt;</a:t>
                      </a:r>
                      <a:r>
                        <a:rPr sz="1400" dirty="0">
                          <a:solidFill>
                            <a:srgbClr val="549CD4"/>
                          </a:solidFill>
                          <a:latin typeface="Consolas"/>
                          <a:cs typeface="Consolas"/>
                        </a:rPr>
                        <a:t>h3</a:t>
                      </a:r>
                      <a:r>
                        <a:rPr sz="1400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475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Este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é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400" spc="-5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um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475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cabeçalho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400" spc="-5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de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nível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5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3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475"/>
                        </a:lnSpc>
                      </a:pPr>
                      <a:r>
                        <a:rPr sz="1400" spc="5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&lt;/</a:t>
                      </a:r>
                      <a:r>
                        <a:rPr sz="1400" spc="5" dirty="0">
                          <a:solidFill>
                            <a:srgbClr val="549CD4"/>
                          </a:solidFill>
                          <a:latin typeface="Consolas"/>
                          <a:cs typeface="Consolas"/>
                        </a:rPr>
                        <a:t>h3</a:t>
                      </a:r>
                      <a:r>
                        <a:rPr sz="1400" spc="5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550">
                <a:tc>
                  <a:txBody>
                    <a:bodyPr/>
                    <a:lstStyle/>
                    <a:p>
                      <a:pPr marR="42545" algn="r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&lt;</a:t>
                      </a:r>
                      <a:r>
                        <a:rPr sz="1400" dirty="0">
                          <a:solidFill>
                            <a:srgbClr val="549CD4"/>
                          </a:solidFill>
                          <a:latin typeface="Consolas"/>
                          <a:cs typeface="Consolas"/>
                        </a:rPr>
                        <a:t>h4</a:t>
                      </a:r>
                      <a:r>
                        <a:rPr sz="1400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Este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é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60"/>
                        </a:lnSpc>
                      </a:pPr>
                      <a:r>
                        <a:rPr sz="1400" spc="-5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um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cabeçalho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60"/>
                        </a:lnSpc>
                      </a:pPr>
                      <a:r>
                        <a:rPr sz="1400" spc="-5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de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nível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460"/>
                        </a:lnSpc>
                      </a:pPr>
                      <a:r>
                        <a:rPr sz="1400" spc="5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&lt;/</a:t>
                      </a:r>
                      <a:r>
                        <a:rPr sz="1400" spc="5" dirty="0">
                          <a:solidFill>
                            <a:srgbClr val="549CD4"/>
                          </a:solidFill>
                          <a:latin typeface="Consolas"/>
                          <a:cs typeface="Consolas"/>
                        </a:rPr>
                        <a:t>h4</a:t>
                      </a:r>
                      <a:r>
                        <a:rPr sz="1400" spc="5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246">
                <a:tc>
                  <a:txBody>
                    <a:bodyPr/>
                    <a:lstStyle/>
                    <a:p>
                      <a:pPr marR="42545" algn="r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&lt;</a:t>
                      </a:r>
                      <a:r>
                        <a:rPr sz="1400" dirty="0">
                          <a:solidFill>
                            <a:srgbClr val="549CD4"/>
                          </a:solidFill>
                          <a:latin typeface="Consolas"/>
                          <a:cs typeface="Consolas"/>
                        </a:rPr>
                        <a:t>h5</a:t>
                      </a:r>
                      <a:r>
                        <a:rPr sz="1400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Este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é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60"/>
                        </a:lnSpc>
                      </a:pPr>
                      <a:r>
                        <a:rPr sz="1400" spc="-5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um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cabeçalho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60"/>
                        </a:lnSpc>
                      </a:pPr>
                      <a:r>
                        <a:rPr sz="1400" spc="-5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de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nível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460"/>
                        </a:lnSpc>
                      </a:pPr>
                      <a:r>
                        <a:rPr sz="1400" spc="5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&lt;/</a:t>
                      </a:r>
                      <a:r>
                        <a:rPr sz="1400" spc="5" dirty="0">
                          <a:solidFill>
                            <a:srgbClr val="549CD4"/>
                          </a:solidFill>
                          <a:latin typeface="Consolas"/>
                          <a:cs typeface="Consolas"/>
                        </a:rPr>
                        <a:t>h5</a:t>
                      </a:r>
                      <a:r>
                        <a:rPr sz="1400" spc="5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178">
                <a:tc>
                  <a:txBody>
                    <a:bodyPr/>
                    <a:lstStyle/>
                    <a:p>
                      <a:pPr marR="41910" algn="r">
                        <a:lnSpc>
                          <a:spcPts val="1460"/>
                        </a:lnSpc>
                      </a:pPr>
                      <a:r>
                        <a:rPr sz="1400" spc="-5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&lt;</a:t>
                      </a:r>
                      <a:r>
                        <a:rPr sz="1400" spc="-5" dirty="0">
                          <a:solidFill>
                            <a:srgbClr val="549CD4"/>
                          </a:solidFill>
                          <a:latin typeface="Consolas"/>
                          <a:cs typeface="Consolas"/>
                        </a:rPr>
                        <a:t>h6</a:t>
                      </a:r>
                      <a:r>
                        <a:rPr sz="1400" spc="-5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460"/>
                        </a:lnSpc>
                      </a:pPr>
                      <a:r>
                        <a:rPr sz="1400" spc="-5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Este</a:t>
                      </a:r>
                      <a:endParaRPr sz="14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é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60"/>
                        </a:lnSpc>
                      </a:pPr>
                      <a:r>
                        <a:rPr sz="1400" spc="-1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um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cabeçalho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60"/>
                        </a:lnSpc>
                      </a:pPr>
                      <a:r>
                        <a:rPr sz="1400" spc="-1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de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nível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60"/>
                        </a:lnSpc>
                      </a:pPr>
                      <a:r>
                        <a:rPr sz="1400" dirty="0">
                          <a:solidFill>
                            <a:srgbClr val="D2D2D2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460"/>
                        </a:lnSpc>
                      </a:pPr>
                      <a:r>
                        <a:rPr sz="1400" spc="5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&lt;/</a:t>
                      </a:r>
                      <a:r>
                        <a:rPr sz="1400" spc="5" dirty="0">
                          <a:solidFill>
                            <a:srgbClr val="549CD4"/>
                          </a:solidFill>
                          <a:latin typeface="Consolas"/>
                          <a:cs typeface="Consolas"/>
                        </a:rPr>
                        <a:t>h6</a:t>
                      </a:r>
                      <a:r>
                        <a:rPr sz="1400" spc="5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460">
                <a:tc>
                  <a:txBody>
                    <a:bodyPr/>
                    <a:lstStyle/>
                    <a:p>
                      <a:pPr marL="127000">
                        <a:lnSpc>
                          <a:spcPts val="1400"/>
                        </a:lnSpc>
                      </a:pPr>
                      <a:r>
                        <a:rPr sz="1400" spc="-5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&lt;/</a:t>
                      </a:r>
                      <a:r>
                        <a:rPr sz="1400" spc="-5" dirty="0">
                          <a:solidFill>
                            <a:srgbClr val="549CD4"/>
                          </a:solidFill>
                          <a:latin typeface="Consolas"/>
                          <a:cs typeface="Consolas"/>
                        </a:rPr>
                        <a:t>body</a:t>
                      </a:r>
                      <a:r>
                        <a:rPr sz="1400" spc="-5" dirty="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89636" y="5526735"/>
            <a:ext cx="7169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/</a:t>
            </a:r>
            <a:r>
              <a:rPr sz="1400" spc="10" dirty="0">
                <a:solidFill>
                  <a:srgbClr val="549CD4"/>
                </a:solidFill>
                <a:latin typeface="Consolas"/>
                <a:cs typeface="Consolas"/>
              </a:rPr>
              <a:t>ht</a:t>
            </a:r>
            <a:r>
              <a:rPr sz="1400" spc="15" dirty="0">
                <a:solidFill>
                  <a:srgbClr val="549CD4"/>
                </a:solidFill>
                <a:latin typeface="Consolas"/>
                <a:cs typeface="Consolas"/>
              </a:rPr>
              <a:t>m</a:t>
            </a:r>
            <a:r>
              <a:rPr sz="1400" spc="-5" dirty="0">
                <a:solidFill>
                  <a:srgbClr val="549CD4"/>
                </a:solidFill>
                <a:latin typeface="Consolas"/>
                <a:cs typeface="Consolas"/>
              </a:rPr>
              <a:t>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2422" y="3348988"/>
            <a:ext cx="10520680" cy="3509011"/>
          </a:xfrm>
          <a:custGeom>
            <a:avLst/>
            <a:gdLst/>
            <a:ahLst/>
            <a:cxnLst/>
            <a:rect l="l" t="t" r="r" b="b"/>
            <a:pathLst>
              <a:path w="10520680" h="3108959">
                <a:moveTo>
                  <a:pt x="10520172" y="0"/>
                </a:moveTo>
                <a:lnTo>
                  <a:pt x="0" y="0"/>
                </a:lnTo>
                <a:lnTo>
                  <a:pt x="0" y="3108960"/>
                </a:lnTo>
                <a:lnTo>
                  <a:pt x="10520172" y="3108960"/>
                </a:lnTo>
                <a:lnTo>
                  <a:pt x="105201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381000"/>
            <a:ext cx="1982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Parágrafo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490118" y="1050925"/>
            <a:ext cx="25749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100"/>
              </a:spcBef>
            </a:pPr>
            <a:r>
              <a:rPr sz="1800" b="1" dirty="0">
                <a:solidFill>
                  <a:srgbClr val="6E2E9F"/>
                </a:solidFill>
                <a:latin typeface="Trebuchet MS"/>
                <a:cs typeface="Trebuchet MS"/>
              </a:rPr>
              <a:t>&lt;p&gt;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ts val="1920"/>
              </a:lnSpc>
              <a:tabLst>
                <a:tab pos="567055" algn="l"/>
                <a:tab pos="1161415" algn="l"/>
                <a:tab pos="1614170" algn="l"/>
              </a:tabLst>
            </a:pPr>
            <a:r>
              <a:rPr sz="1600" spc="-40" dirty="0">
                <a:latin typeface="Trebuchet MS"/>
                <a:cs typeface="Trebuchet MS"/>
              </a:rPr>
              <a:t>Para	</a:t>
            </a:r>
            <a:r>
              <a:rPr sz="1600" spc="-5" dirty="0">
                <a:latin typeface="Trebuchet MS"/>
                <a:cs typeface="Trebuchet MS"/>
              </a:rPr>
              <a:t>criar	</a:t>
            </a:r>
            <a:r>
              <a:rPr sz="1600" dirty="0">
                <a:latin typeface="Trebuchet MS"/>
                <a:cs typeface="Trebuchet MS"/>
              </a:rPr>
              <a:t>um	</a:t>
            </a:r>
            <a:r>
              <a:rPr sz="1600" spc="-10" dirty="0">
                <a:latin typeface="Trebuchet MS"/>
                <a:cs typeface="Trebuchet MS"/>
              </a:rPr>
              <a:t>parágrafo,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11093" y="1325245"/>
            <a:ext cx="1099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7890" algn="l"/>
              </a:tabLst>
            </a:pPr>
            <a:r>
              <a:rPr sz="1600" spc="-10" dirty="0">
                <a:latin typeface="Trebuchet MS"/>
                <a:cs typeface="Trebuchet MS"/>
              </a:rPr>
              <a:t>co</a:t>
            </a:r>
            <a:r>
              <a:rPr sz="1600" spc="-5" dirty="0">
                <a:latin typeface="Trebuchet MS"/>
                <a:cs typeface="Trebuchet MS"/>
              </a:rPr>
              <a:t>l</a:t>
            </a:r>
            <a:r>
              <a:rPr sz="1600" spc="-10" dirty="0">
                <a:latin typeface="Trebuchet MS"/>
                <a:cs typeface="Trebuchet MS"/>
              </a:rPr>
              <a:t>oqu</a:t>
            </a:r>
            <a:r>
              <a:rPr sz="1600" spc="-5" dirty="0">
                <a:latin typeface="Trebuchet MS"/>
                <a:cs typeface="Trebuchet MS"/>
              </a:rPr>
              <a:t>e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5" dirty="0">
                <a:latin typeface="Trebuchet MS"/>
                <a:cs typeface="Trebuchet MS"/>
              </a:rPr>
              <a:t>as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118" y="1568780"/>
            <a:ext cx="382079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rebuchet MS"/>
                <a:cs typeface="Trebuchet MS"/>
              </a:rPr>
              <a:t>palavras </a:t>
            </a:r>
            <a:r>
              <a:rPr sz="1600" spc="-5" dirty="0">
                <a:latin typeface="Trebuchet MS"/>
                <a:cs typeface="Trebuchet MS"/>
              </a:rPr>
              <a:t>que compõem o </a:t>
            </a:r>
            <a:r>
              <a:rPr sz="1600" spc="-10" dirty="0">
                <a:latin typeface="Trebuchet MS"/>
                <a:cs typeface="Trebuchet MS"/>
              </a:rPr>
              <a:t>parágrafo </a:t>
            </a:r>
            <a:r>
              <a:rPr sz="1600" spc="-5" dirty="0">
                <a:latin typeface="Trebuchet MS"/>
                <a:cs typeface="Trebuchet MS"/>
              </a:rPr>
              <a:t>com 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uma</a:t>
            </a:r>
            <a:r>
              <a:rPr sz="1600" spc="33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tag</a:t>
            </a:r>
            <a:r>
              <a:rPr sz="1600" spc="34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de</a:t>
            </a:r>
            <a:r>
              <a:rPr sz="1600" spc="34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abertura</a:t>
            </a:r>
            <a:r>
              <a:rPr sz="1600" spc="34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&lt;p&gt;</a:t>
            </a:r>
            <a:r>
              <a:rPr sz="1600" spc="35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e</a:t>
            </a:r>
            <a:r>
              <a:rPr sz="1600" spc="35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fechando</a:t>
            </a:r>
            <a:r>
              <a:rPr sz="1600" spc="34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a </a:t>
            </a:r>
            <a:r>
              <a:rPr sz="1600" spc="-47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tag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&lt;/p&gt;.</a:t>
            </a:r>
            <a:endParaRPr sz="1600" dirty="0">
              <a:latin typeface="Trebuchet MS"/>
              <a:cs typeface="Trebuchet MS"/>
            </a:endParaRPr>
          </a:p>
          <a:p>
            <a:pPr marL="12700" marR="7620" algn="just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Trebuchet MS"/>
                <a:cs typeface="Trebuchet MS"/>
              </a:rPr>
              <a:t>Por </a:t>
            </a:r>
            <a:r>
              <a:rPr sz="1600" spc="-10" dirty="0">
                <a:latin typeface="Trebuchet MS"/>
                <a:cs typeface="Trebuchet MS"/>
              </a:rPr>
              <a:t>padrão, 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um </a:t>
            </a:r>
            <a:r>
              <a:rPr sz="1600" spc="-10" dirty="0">
                <a:solidFill>
                  <a:srgbClr val="FF0000"/>
                </a:solidFill>
                <a:latin typeface="Trebuchet MS"/>
                <a:cs typeface="Trebuchet MS"/>
              </a:rPr>
              <a:t>navegador mostrará cada 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rebuchet MS"/>
                <a:cs typeface="Trebuchet MS"/>
              </a:rPr>
              <a:t>parágrafo 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em </a:t>
            </a:r>
            <a:r>
              <a:rPr sz="1600" spc="-10" dirty="0">
                <a:solidFill>
                  <a:srgbClr val="FF0000"/>
                </a:solidFill>
                <a:latin typeface="Trebuchet MS"/>
                <a:cs typeface="Trebuchet MS"/>
              </a:rPr>
              <a:t>uma nova </a:t>
            </a:r>
            <a:r>
              <a:rPr sz="1600" dirty="0">
                <a:solidFill>
                  <a:srgbClr val="FF0000"/>
                </a:solidFill>
                <a:latin typeface="Trebuchet MS"/>
                <a:cs typeface="Trebuchet MS"/>
              </a:rPr>
              <a:t>linha </a:t>
            </a:r>
            <a:r>
              <a:rPr sz="1600" spc="-5" dirty="0">
                <a:latin typeface="Trebuchet MS"/>
                <a:cs typeface="Trebuchet MS"/>
              </a:rPr>
              <a:t>com </a:t>
            </a:r>
            <a:r>
              <a:rPr sz="1600" spc="-10" dirty="0">
                <a:latin typeface="Trebuchet MS"/>
                <a:cs typeface="Trebuchet MS"/>
              </a:rPr>
              <a:t>algum </a:t>
            </a:r>
            <a:r>
              <a:rPr sz="1600" spc="-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espaço</a:t>
            </a:r>
            <a:r>
              <a:rPr sz="1600" spc="-5" dirty="0">
                <a:latin typeface="Trebuchet MS"/>
                <a:cs typeface="Trebuchet MS"/>
              </a:rPr>
              <a:t> entre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ele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e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os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parágrafos </a:t>
            </a:r>
            <a:r>
              <a:rPr sz="1600" spc="-5" dirty="0">
                <a:latin typeface="Trebuchet MS"/>
                <a:cs typeface="Trebuchet MS"/>
              </a:rPr>
              <a:t> subsequentes.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98517" y="4854194"/>
            <a:ext cx="48520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mais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sentenças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que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formam</a:t>
            </a:r>
            <a:r>
              <a:rPr sz="1400" spc="5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uma</a:t>
            </a:r>
            <a:r>
              <a:rPr sz="1400" spc="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unidade</a:t>
            </a:r>
            <a:r>
              <a:rPr sz="1400" spc="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de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discurso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9639" y="3360419"/>
            <a:ext cx="4160520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DOCTYPE</a:t>
            </a:r>
            <a:r>
              <a:rPr sz="1400" spc="-7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9CDCFC"/>
                </a:solidFill>
                <a:latin typeface="Consolas"/>
                <a:cs typeface="Consolas"/>
              </a:rPr>
              <a:t>html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767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400" spc="-4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C"/>
                </a:solidFill>
                <a:latin typeface="Consolas"/>
                <a:cs typeface="Consolas"/>
              </a:rPr>
              <a:t>lang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767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80073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meta</a:t>
            </a:r>
            <a:r>
              <a:rPr sz="1400" spc="-1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C"/>
                </a:solidFill>
                <a:latin typeface="Consolas"/>
                <a:cs typeface="Consolas"/>
              </a:rPr>
              <a:t>charset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400" dirty="0">
              <a:latin typeface="Consolas"/>
              <a:cs typeface="Consolas"/>
            </a:endParaRPr>
          </a:p>
          <a:p>
            <a:pPr marL="80073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Parágrafo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767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767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800735" marR="50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Um parágrafo</a:t>
            </a:r>
            <a:r>
              <a:rPr sz="1400" spc="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consiste 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em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 uma ou </a:t>
            </a:r>
            <a:r>
              <a:rPr sz="1400" spc="-75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autocontida.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9639" y="5280914"/>
            <a:ext cx="7908290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O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início</a:t>
            </a:r>
            <a:r>
              <a:rPr sz="14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de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um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parágrafo é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indicado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por</a:t>
            </a:r>
            <a:r>
              <a:rPr sz="14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uma</a:t>
            </a:r>
            <a:r>
              <a:rPr sz="1400" spc="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nova</a:t>
            </a:r>
            <a:r>
              <a:rPr sz="1400" spc="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linha.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5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1193800" marR="5080" indent="-393700">
              <a:lnSpc>
                <a:spcPct val="100000"/>
              </a:lnSpc>
              <a:tabLst>
                <a:tab pos="2472055" algn="l"/>
              </a:tabLst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O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texto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fica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mais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fácil</a:t>
            </a:r>
            <a:r>
              <a:rPr sz="14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de</a:t>
            </a:r>
            <a:r>
              <a:rPr sz="14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entender</a:t>
            </a:r>
            <a:r>
              <a:rPr sz="14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quando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é</a:t>
            </a:r>
            <a:r>
              <a:rPr sz="1400" spc="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dividido</a:t>
            </a:r>
            <a:r>
              <a:rPr sz="14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em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unidades</a:t>
            </a:r>
            <a:r>
              <a:rPr sz="14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de 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texto.</a:t>
            </a:r>
            <a:r>
              <a:rPr sz="1400" spc="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Por</a:t>
            </a:r>
            <a:r>
              <a:rPr sz="14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exemplo,</a:t>
            </a:r>
            <a:r>
              <a:rPr sz="1400" spc="5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um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livro</a:t>
            </a:r>
            <a:r>
              <a:rPr sz="1400" spc="4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pode</a:t>
            </a:r>
            <a:r>
              <a:rPr sz="14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ter</a:t>
            </a:r>
            <a:r>
              <a:rPr sz="14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capítulos.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Capítulos</a:t>
            </a:r>
            <a:r>
              <a:rPr sz="1400" spc="4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podem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ter </a:t>
            </a:r>
            <a:r>
              <a:rPr sz="1400" spc="-75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subtítulos.	Sob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cada</a:t>
            </a:r>
            <a:r>
              <a:rPr sz="14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cabeçalho,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haverá</a:t>
            </a:r>
            <a:r>
              <a:rPr sz="14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um</a:t>
            </a:r>
            <a:r>
              <a:rPr sz="14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ou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mais</a:t>
            </a:r>
            <a:r>
              <a:rPr sz="14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parágrafos.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5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0767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</p:txBody>
      </p:sp>
      <p:pic>
        <p:nvPicPr>
          <p:cNvPr id="10" name="object 10"/>
          <p:cNvPicPr/>
          <p:nvPr/>
        </p:nvPicPr>
        <p:blipFill rotWithShape="1">
          <a:blip r:embed="rId2" cstate="print"/>
          <a:srcRect t="3492"/>
          <a:stretch/>
        </p:blipFill>
        <p:spPr>
          <a:xfrm>
            <a:off x="4550563" y="1550671"/>
            <a:ext cx="7516368" cy="303326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18" y="3082288"/>
            <a:ext cx="11375390" cy="3851911"/>
            <a:chOff x="0" y="3395471"/>
            <a:chExt cx="11375390" cy="346265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968" y="3403091"/>
              <a:ext cx="11250168" cy="343052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728" y="3395471"/>
              <a:ext cx="11151108" cy="346252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9352" y="3428999"/>
              <a:ext cx="11146790" cy="3325495"/>
            </a:xfrm>
            <a:custGeom>
              <a:avLst/>
              <a:gdLst/>
              <a:ahLst/>
              <a:cxnLst/>
              <a:rect l="l" t="t" r="r" b="b"/>
              <a:pathLst>
                <a:path w="11146790" h="3325495">
                  <a:moveTo>
                    <a:pt x="11146536" y="0"/>
                  </a:moveTo>
                  <a:lnTo>
                    <a:pt x="0" y="0"/>
                  </a:lnTo>
                  <a:lnTo>
                    <a:pt x="0" y="3325367"/>
                  </a:lnTo>
                  <a:lnTo>
                    <a:pt x="11146536" y="3325367"/>
                  </a:lnTo>
                  <a:lnTo>
                    <a:pt x="111465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5229" y="304800"/>
            <a:ext cx="41808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Negrito</a:t>
            </a:r>
            <a:r>
              <a:rPr spc="-55" dirty="0"/>
              <a:t> </a:t>
            </a:r>
            <a:r>
              <a:rPr spc="-5" dirty="0"/>
              <a:t>(bold)</a:t>
            </a:r>
            <a:r>
              <a:rPr spc="-60" dirty="0"/>
              <a:t> </a:t>
            </a:r>
            <a:r>
              <a:rPr dirty="0"/>
              <a:t>e</a:t>
            </a:r>
            <a:r>
              <a:rPr spc="-25" dirty="0"/>
              <a:t> </a:t>
            </a:r>
            <a:r>
              <a:rPr spc="-5" dirty="0"/>
              <a:t>itálico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7697" y="4624323"/>
            <a:ext cx="44799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80"/>
              </a:lnSpc>
              <a:spcBef>
                <a:spcPts val="100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negrito.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21590">
              <a:lnSpc>
                <a:spcPts val="1680"/>
              </a:lnSpc>
            </a:pP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pode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ver</a:t>
            </a:r>
            <a:r>
              <a:rPr sz="1400" spc="10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principais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características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40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D2D2D2"/>
                </a:solidFill>
                <a:latin typeface="Consolas"/>
                <a:cs typeface="Consolas"/>
              </a:rPr>
              <a:t>em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5229" y="3129660"/>
            <a:ext cx="5055870" cy="2374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DOCTYPE</a:t>
            </a:r>
            <a:r>
              <a:rPr sz="1400" spc="-9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9CDCFC"/>
                </a:solidFill>
                <a:latin typeface="Consolas"/>
                <a:cs typeface="Consolas"/>
              </a:rPr>
              <a:t>html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07034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400" spc="-4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C"/>
                </a:solidFill>
                <a:latin typeface="Consolas"/>
                <a:cs typeface="Consolas"/>
              </a:rPr>
              <a:t>lang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07034">
              <a:lnSpc>
                <a:spcPts val="1655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800735">
              <a:lnSpc>
                <a:spcPts val="1655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meta</a:t>
            </a:r>
            <a:r>
              <a:rPr sz="1400" spc="-8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9CDCFC"/>
                </a:solidFill>
                <a:latin typeface="Consolas"/>
                <a:cs typeface="Consolas"/>
              </a:rPr>
              <a:t>charset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400" spc="5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400">
              <a:latin typeface="Consolas"/>
              <a:cs typeface="Consolas"/>
            </a:endParaRPr>
          </a:p>
          <a:p>
            <a:pPr marL="800735">
              <a:lnSpc>
                <a:spcPct val="100000"/>
              </a:lnSpc>
              <a:spcBef>
                <a:spcPts val="70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Negrito e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Itálico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07034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07034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800735">
              <a:lnSpc>
                <a:spcPts val="167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É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assim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que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fazemos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uma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palavra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aparecer</a:t>
            </a:r>
            <a:endParaRPr sz="1400">
              <a:latin typeface="Consolas"/>
              <a:cs typeface="Consolas"/>
            </a:endParaRPr>
          </a:p>
          <a:p>
            <a:pPr marL="800735">
              <a:lnSpc>
                <a:spcPts val="167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Dentro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de</a:t>
            </a:r>
            <a:r>
              <a:rPr sz="14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uma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descrição</a:t>
            </a:r>
            <a:r>
              <a:rPr sz="1400" spc="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do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produto,</a:t>
            </a:r>
            <a:r>
              <a:rPr sz="14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você</a:t>
            </a:r>
            <a:endParaRPr sz="1400">
              <a:latin typeface="Consolas"/>
              <a:cs typeface="Consolas"/>
            </a:endParaRPr>
          </a:p>
          <a:p>
            <a:pPr marL="800735">
              <a:lnSpc>
                <a:spcPct val="100000"/>
              </a:lnSpc>
            </a:pP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negrito.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80073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br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5229" y="5477814"/>
            <a:ext cx="7719059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73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35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É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assim</a:t>
            </a:r>
            <a:r>
              <a:rPr sz="14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que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fazemos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uma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palavra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aparecer</a:t>
            </a:r>
            <a:r>
              <a:rPr sz="1400" spc="8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35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itálico</a:t>
            </a:r>
            <a:r>
              <a:rPr sz="14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.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80073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15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É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uma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batata</a:t>
            </a:r>
            <a:r>
              <a:rPr sz="1400" spc="4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spc="5" dirty="0">
                <a:solidFill>
                  <a:srgbClr val="549CD4"/>
                </a:solidFill>
                <a:latin typeface="Consolas"/>
                <a:cs typeface="Consolas"/>
              </a:rPr>
              <a:t>i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Solanum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teberosum</a:t>
            </a:r>
            <a:r>
              <a:rPr sz="14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.</a:t>
            </a:r>
            <a:r>
              <a:rPr sz="14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800735">
              <a:lnSpc>
                <a:spcPct val="100000"/>
              </a:lnSpc>
            </a:pP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spc="-5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15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O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Capitão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 Cook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viajou</a:t>
            </a:r>
            <a:r>
              <a:rPr sz="1400" spc="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para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Austrália</a:t>
            </a:r>
            <a:r>
              <a:rPr sz="14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no</a:t>
            </a:r>
            <a:r>
              <a:rPr sz="1400" spc="7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10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Endeavour</a:t>
            </a:r>
            <a:r>
              <a:rPr sz="1400" spc="4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.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5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07034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0235" y="1111885"/>
            <a:ext cx="392112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52825" algn="l"/>
              </a:tabLst>
            </a:pPr>
            <a:r>
              <a:rPr sz="1600" b="1" spc="-5" dirty="0">
                <a:solidFill>
                  <a:srgbClr val="6E2E9F"/>
                </a:solidFill>
                <a:latin typeface="Trebuchet MS"/>
                <a:cs typeface="Trebuchet MS"/>
              </a:rPr>
              <a:t>&lt;i&gt;	&lt;</a:t>
            </a:r>
            <a:r>
              <a:rPr sz="1600" b="1" spc="-10" dirty="0">
                <a:solidFill>
                  <a:srgbClr val="6E2E9F"/>
                </a:solidFill>
                <a:latin typeface="Trebuchet MS"/>
                <a:cs typeface="Trebuchet MS"/>
              </a:rPr>
              <a:t>b</a:t>
            </a:r>
            <a:r>
              <a:rPr sz="1600" b="1" spc="-5" dirty="0">
                <a:solidFill>
                  <a:srgbClr val="6E2E9F"/>
                </a:solidFill>
                <a:latin typeface="Trebuchet MS"/>
                <a:cs typeface="Trebuchet MS"/>
              </a:rPr>
              <a:t>&gt;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52825" algn="l"/>
              </a:tabLst>
            </a:pPr>
            <a:r>
              <a:rPr sz="1600" spc="-10" dirty="0">
                <a:latin typeface="Trebuchet MS"/>
                <a:cs typeface="Trebuchet MS"/>
              </a:rPr>
              <a:t>Ao</a:t>
            </a:r>
            <a:r>
              <a:rPr sz="1600" spc="27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incluir</a:t>
            </a:r>
            <a:r>
              <a:rPr sz="1600" spc="31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palavras</a:t>
            </a:r>
            <a:r>
              <a:rPr sz="1600" spc="26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nas</a:t>
            </a:r>
            <a:r>
              <a:rPr sz="1600" spc="29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tags</a:t>
            </a:r>
            <a:r>
              <a:rPr sz="1600" spc="23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&lt;i&gt;</a:t>
            </a:r>
            <a:r>
              <a:rPr sz="1600" spc="28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e	</a:t>
            </a:r>
            <a:r>
              <a:rPr sz="1600" spc="-15" dirty="0">
                <a:latin typeface="Trebuchet MS"/>
                <a:cs typeface="Trebuchet MS"/>
              </a:rPr>
              <a:t>Ao</a:t>
            </a:r>
            <a:endParaRPr sz="1600" dirty="0">
              <a:latin typeface="Trebuchet MS"/>
              <a:cs typeface="Trebuchet MS"/>
            </a:endParaRPr>
          </a:p>
          <a:p>
            <a:pPr marL="12700" marR="722630">
              <a:lnSpc>
                <a:spcPct val="100000"/>
              </a:lnSpc>
            </a:pPr>
            <a:r>
              <a:rPr sz="1600" spc="-5" dirty="0">
                <a:latin typeface="Trebuchet MS"/>
                <a:cs typeface="Trebuchet MS"/>
              </a:rPr>
              <a:t>&lt;/i&gt;,</a:t>
            </a:r>
            <a:r>
              <a:rPr sz="1600" spc="35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podemos</a:t>
            </a:r>
            <a:r>
              <a:rPr sz="1600" spc="40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fazer</a:t>
            </a:r>
            <a:r>
              <a:rPr sz="1600" spc="39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com</a:t>
            </a:r>
            <a:r>
              <a:rPr sz="1600" spc="36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que</a:t>
            </a:r>
            <a:r>
              <a:rPr sz="1600" spc="39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os </a:t>
            </a:r>
            <a:r>
              <a:rPr sz="1600" spc="-46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caracteres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apareçam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em </a:t>
            </a:r>
            <a:r>
              <a:rPr sz="1600" spc="-10" dirty="0">
                <a:solidFill>
                  <a:srgbClr val="FF0000"/>
                </a:solidFill>
                <a:latin typeface="Trebuchet MS"/>
                <a:cs typeface="Trebuchet MS"/>
              </a:rPr>
              <a:t>itálico</a:t>
            </a:r>
            <a:r>
              <a:rPr sz="1600" spc="-10" dirty="0">
                <a:latin typeface="Trebuchet MS"/>
                <a:cs typeface="Trebuchet MS"/>
              </a:rPr>
              <a:t>.</a:t>
            </a:r>
            <a:endParaRPr sz="1600" dirty="0">
              <a:latin typeface="Trebuchet MS"/>
              <a:cs typeface="Trebuchet MS"/>
            </a:endParaRPr>
          </a:p>
          <a:p>
            <a:pPr marL="12700" marR="695325" algn="just">
              <a:lnSpc>
                <a:spcPct val="100000"/>
              </a:lnSpc>
            </a:pPr>
            <a:r>
              <a:rPr sz="1600" spc="-40" dirty="0">
                <a:latin typeface="Trebuchet MS"/>
                <a:cs typeface="Trebuchet MS"/>
              </a:rPr>
              <a:t>Pode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representar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uma</a:t>
            </a:r>
            <a:r>
              <a:rPr sz="1600" spc="-5" dirty="0">
                <a:latin typeface="Trebuchet MS"/>
                <a:cs typeface="Trebuchet MS"/>
              </a:rPr>
              <a:t> seção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de </a:t>
            </a:r>
            <a:r>
              <a:rPr sz="1600" spc="-5" dirty="0">
                <a:latin typeface="Trebuchet MS"/>
                <a:cs typeface="Trebuchet MS"/>
              </a:rPr>
              <a:t> texto,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termos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técnicos,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palavras </a:t>
            </a:r>
            <a:r>
              <a:rPr sz="1600" spc="-5" dirty="0">
                <a:latin typeface="Trebuchet MS"/>
                <a:cs typeface="Trebuchet MS"/>
              </a:rPr>
              <a:t> estrangeiras,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pensamentos...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40021" y="1355724"/>
            <a:ext cx="20713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1375" algn="l"/>
                <a:tab pos="1757680" algn="l"/>
              </a:tabLst>
            </a:pPr>
            <a:r>
              <a:rPr sz="1600" spc="-5" dirty="0">
                <a:latin typeface="Trebuchet MS"/>
                <a:cs typeface="Trebuchet MS"/>
              </a:rPr>
              <a:t>c</a:t>
            </a:r>
            <a:r>
              <a:rPr sz="1600" spc="-10" dirty="0">
                <a:latin typeface="Trebuchet MS"/>
                <a:cs typeface="Trebuchet MS"/>
              </a:rPr>
              <a:t>o</a:t>
            </a:r>
            <a:r>
              <a:rPr sz="1600" dirty="0">
                <a:latin typeface="Trebuchet MS"/>
                <a:cs typeface="Trebuchet MS"/>
              </a:rPr>
              <a:t>l</a:t>
            </a:r>
            <a:r>
              <a:rPr sz="1600" spc="-10" dirty="0">
                <a:latin typeface="Trebuchet MS"/>
                <a:cs typeface="Trebuchet MS"/>
              </a:rPr>
              <a:t>o</a:t>
            </a:r>
            <a:r>
              <a:rPr sz="1600" spc="5" dirty="0">
                <a:latin typeface="Trebuchet MS"/>
                <a:cs typeface="Trebuchet MS"/>
              </a:rPr>
              <a:t>c</a:t>
            </a:r>
            <a:r>
              <a:rPr sz="1600" spc="-5" dirty="0">
                <a:latin typeface="Trebuchet MS"/>
                <a:cs typeface="Trebuchet MS"/>
              </a:rPr>
              <a:t>ar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p</a:t>
            </a:r>
            <a:r>
              <a:rPr sz="1600" spc="-5" dirty="0">
                <a:latin typeface="Trebuchet MS"/>
                <a:cs typeface="Trebuchet MS"/>
              </a:rPr>
              <a:t>a</a:t>
            </a:r>
            <a:r>
              <a:rPr sz="1600" spc="-10" dirty="0">
                <a:latin typeface="Trebuchet MS"/>
                <a:cs typeface="Trebuchet MS"/>
              </a:rPr>
              <a:t>l</a:t>
            </a:r>
            <a:r>
              <a:rPr sz="1600" spc="-5" dirty="0">
                <a:latin typeface="Trebuchet MS"/>
                <a:cs typeface="Trebuchet MS"/>
              </a:rPr>
              <a:t>av</a:t>
            </a:r>
            <a:r>
              <a:rPr sz="1600" spc="-15" dirty="0">
                <a:latin typeface="Trebuchet MS"/>
                <a:cs typeface="Trebuchet MS"/>
              </a:rPr>
              <a:t>r</a:t>
            </a:r>
            <a:r>
              <a:rPr sz="1600" spc="-5" dirty="0">
                <a:latin typeface="Trebuchet MS"/>
                <a:cs typeface="Trebuchet MS"/>
              </a:rPr>
              <a:t>as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5" dirty="0">
                <a:latin typeface="Trebuchet MS"/>
                <a:cs typeface="Trebuchet MS"/>
              </a:rPr>
              <a:t>nas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51402" y="1599565"/>
            <a:ext cx="24472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rebuchet MS"/>
                <a:cs typeface="Trebuchet MS"/>
              </a:rPr>
              <a:t>tags</a:t>
            </a:r>
            <a:r>
              <a:rPr sz="1600" spc="9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&lt;b&gt;</a:t>
            </a:r>
            <a:r>
              <a:rPr sz="1600" spc="11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e</a:t>
            </a:r>
            <a:r>
              <a:rPr sz="1600" spc="12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&lt;/b&gt;,</a:t>
            </a:r>
            <a:r>
              <a:rPr sz="1600" spc="9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podemos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51402" y="1843659"/>
            <a:ext cx="12249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35025" algn="l"/>
              </a:tabLst>
            </a:pPr>
            <a:r>
              <a:rPr sz="1600" spc="-10" dirty="0">
                <a:latin typeface="Trebuchet MS"/>
                <a:cs typeface="Trebuchet MS"/>
              </a:rPr>
              <a:t>f</a:t>
            </a:r>
            <a:r>
              <a:rPr sz="1600" spc="-5" dirty="0">
                <a:latin typeface="Trebuchet MS"/>
                <a:cs typeface="Trebuchet MS"/>
              </a:rPr>
              <a:t>a</a:t>
            </a:r>
            <a:r>
              <a:rPr sz="1600" spc="-10" dirty="0">
                <a:latin typeface="Trebuchet MS"/>
                <a:cs typeface="Trebuchet MS"/>
              </a:rPr>
              <a:t>z</a:t>
            </a:r>
            <a:r>
              <a:rPr sz="1600" dirty="0">
                <a:latin typeface="Trebuchet MS"/>
                <a:cs typeface="Trebuchet MS"/>
              </a:rPr>
              <a:t>e</a:t>
            </a:r>
            <a:r>
              <a:rPr sz="1600" spc="-5" dirty="0">
                <a:latin typeface="Trebuchet MS"/>
                <a:cs typeface="Trebuchet MS"/>
              </a:rPr>
              <a:t>r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5" dirty="0">
                <a:latin typeface="Trebuchet MS"/>
                <a:cs typeface="Trebuchet MS"/>
              </a:rPr>
              <a:t>c</a:t>
            </a:r>
            <a:r>
              <a:rPr sz="1600" spc="-10" dirty="0">
                <a:latin typeface="Trebuchet MS"/>
                <a:cs typeface="Trebuchet MS"/>
              </a:rPr>
              <a:t>om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06516" y="1843659"/>
            <a:ext cx="9074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04215" algn="l"/>
              </a:tabLst>
            </a:pPr>
            <a:r>
              <a:rPr sz="1600" spc="-10" dirty="0">
                <a:latin typeface="Trebuchet MS"/>
                <a:cs typeface="Trebuchet MS"/>
              </a:rPr>
              <a:t>q</a:t>
            </a:r>
            <a:r>
              <a:rPr sz="1600" spc="-5" dirty="0">
                <a:latin typeface="Trebuchet MS"/>
                <a:cs typeface="Trebuchet MS"/>
              </a:rPr>
              <a:t>ue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os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51402" y="2087194"/>
            <a:ext cx="2472055" cy="757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rebuchet MS"/>
                <a:cs typeface="Trebuchet MS"/>
              </a:rPr>
              <a:t>caracteres</a:t>
            </a:r>
            <a:r>
              <a:rPr sz="1600" spc="-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apareçam</a:t>
            </a:r>
            <a:r>
              <a:rPr sz="1600" spc="-5" dirty="0">
                <a:latin typeface="Trebuchet MS"/>
                <a:cs typeface="Trebuchet MS"/>
              </a:rPr>
              <a:t> em 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negrito</a:t>
            </a:r>
            <a:r>
              <a:rPr sz="1600" spc="-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(para destaque de </a:t>
            </a:r>
            <a:r>
              <a:rPr sz="1600" spc="-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uma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palavra).</a:t>
            </a:r>
            <a:endParaRPr sz="1600" dirty="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223457" y="1490344"/>
            <a:ext cx="6000115" cy="3456940"/>
            <a:chOff x="6192011" y="1734311"/>
            <a:chExt cx="6000115" cy="345694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2011" y="1734311"/>
              <a:ext cx="5999988" cy="34564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8607" y="1930907"/>
              <a:ext cx="5769864" cy="28773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43528"/>
            <a:ext cx="10648315" cy="3243072"/>
            <a:chOff x="0" y="3843528"/>
            <a:chExt cx="10648315" cy="3014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1752" y="3851148"/>
              <a:ext cx="10346436" cy="25648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511" y="3843528"/>
              <a:ext cx="10262616" cy="26106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27659" y="3875532"/>
              <a:ext cx="10241280" cy="2461260"/>
            </a:xfrm>
            <a:custGeom>
              <a:avLst/>
              <a:gdLst/>
              <a:ahLst/>
              <a:cxnLst/>
              <a:rect l="l" t="t" r="r" b="b"/>
              <a:pathLst>
                <a:path w="10241280" h="2461260">
                  <a:moveTo>
                    <a:pt x="10241280" y="0"/>
                  </a:moveTo>
                  <a:lnTo>
                    <a:pt x="0" y="0"/>
                  </a:lnTo>
                  <a:lnTo>
                    <a:pt x="0" y="2461260"/>
                  </a:lnTo>
                  <a:lnTo>
                    <a:pt x="10241280" y="2461260"/>
                  </a:lnTo>
                  <a:lnTo>
                    <a:pt x="10241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7314" y="617982"/>
            <a:ext cx="41903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Sobrescrito</a:t>
            </a:r>
            <a:r>
              <a:rPr spc="-80" dirty="0"/>
              <a:t> </a:t>
            </a:r>
            <a:r>
              <a:rPr dirty="0"/>
              <a:t>e</a:t>
            </a:r>
            <a:r>
              <a:rPr spc="-60" dirty="0"/>
              <a:t> </a:t>
            </a:r>
            <a:r>
              <a:rPr dirty="0"/>
              <a:t>Subscrito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7314" y="1596339"/>
            <a:ext cx="7315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6E2E9F"/>
                </a:solidFill>
                <a:latin typeface="Trebuchet MS"/>
                <a:cs typeface="Trebuchet MS"/>
              </a:rPr>
              <a:t>&lt;</a:t>
            </a:r>
            <a:r>
              <a:rPr sz="2000" b="1" spc="-5" dirty="0">
                <a:solidFill>
                  <a:srgbClr val="6E2E9F"/>
                </a:solidFill>
                <a:latin typeface="Trebuchet MS"/>
                <a:cs typeface="Trebuchet MS"/>
              </a:rPr>
              <a:t>s</a:t>
            </a:r>
            <a:r>
              <a:rPr sz="2000" b="1" dirty="0">
                <a:solidFill>
                  <a:srgbClr val="6E2E9F"/>
                </a:solidFill>
                <a:latin typeface="Trebuchet MS"/>
                <a:cs typeface="Trebuchet MS"/>
              </a:rPr>
              <a:t>u</a:t>
            </a:r>
            <a:r>
              <a:rPr sz="2000" b="1" spc="-20" dirty="0">
                <a:solidFill>
                  <a:srgbClr val="6E2E9F"/>
                </a:solidFill>
                <a:latin typeface="Trebuchet MS"/>
                <a:cs typeface="Trebuchet MS"/>
              </a:rPr>
              <a:t>p</a:t>
            </a:r>
            <a:r>
              <a:rPr sz="2000" b="1" dirty="0">
                <a:solidFill>
                  <a:srgbClr val="6E2E9F"/>
                </a:solidFill>
                <a:latin typeface="Trebuchet MS"/>
                <a:cs typeface="Trebuchet MS"/>
              </a:rPr>
              <a:t>&gt;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7314" y="1903221"/>
            <a:ext cx="31597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44805" algn="l"/>
                <a:tab pos="652145" algn="l"/>
                <a:tab pos="1493520" algn="l"/>
                <a:tab pos="2255520" algn="l"/>
                <a:tab pos="2560320" algn="l"/>
              </a:tabLst>
            </a:pPr>
            <a:r>
              <a:rPr sz="1800" dirty="0">
                <a:latin typeface="Trebuchet MS"/>
                <a:cs typeface="Trebuchet MS"/>
              </a:rPr>
              <a:t>O	</a:t>
            </a:r>
            <a:r>
              <a:rPr sz="1800" spc="-5" dirty="0">
                <a:latin typeface="Trebuchet MS"/>
                <a:cs typeface="Trebuchet MS"/>
              </a:rPr>
              <a:t>ele</a:t>
            </a:r>
            <a:r>
              <a:rPr sz="1800" spc="5" dirty="0">
                <a:latin typeface="Trebuchet MS"/>
                <a:cs typeface="Trebuchet MS"/>
              </a:rPr>
              <a:t>m</a:t>
            </a:r>
            <a:r>
              <a:rPr sz="1800" spc="-5" dirty="0">
                <a:latin typeface="Trebuchet MS"/>
                <a:cs typeface="Trebuchet MS"/>
              </a:rPr>
              <a:t>ent</a:t>
            </a:r>
            <a:r>
              <a:rPr sz="1800" dirty="0">
                <a:latin typeface="Trebuchet MS"/>
                <a:cs typeface="Trebuchet MS"/>
              </a:rPr>
              <a:t>o	&lt;</a:t>
            </a:r>
            <a:r>
              <a:rPr sz="1800" spc="-10" dirty="0">
                <a:latin typeface="Trebuchet MS"/>
                <a:cs typeface="Trebuchet MS"/>
              </a:rPr>
              <a:t>s</a:t>
            </a:r>
            <a:r>
              <a:rPr sz="1800" dirty="0">
                <a:latin typeface="Trebuchet MS"/>
                <a:cs typeface="Trebuchet MS"/>
              </a:rPr>
              <a:t>u</a:t>
            </a:r>
            <a:r>
              <a:rPr sz="1800" spc="15" dirty="0">
                <a:latin typeface="Trebuchet MS"/>
                <a:cs typeface="Trebuchet MS"/>
              </a:rPr>
              <a:t>p</a:t>
            </a:r>
            <a:r>
              <a:rPr sz="1800" dirty="0">
                <a:latin typeface="Trebuchet MS"/>
                <a:cs typeface="Trebuchet MS"/>
              </a:rPr>
              <a:t>&gt;	é	u</a:t>
            </a:r>
            <a:r>
              <a:rPr sz="1800" spc="-10" dirty="0">
                <a:latin typeface="Trebuchet MS"/>
                <a:cs typeface="Trebuchet MS"/>
              </a:rPr>
              <a:t>s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0" dirty="0">
                <a:latin typeface="Trebuchet MS"/>
                <a:cs typeface="Trebuchet MS"/>
              </a:rPr>
              <a:t>d</a:t>
            </a:r>
            <a:r>
              <a:rPr sz="1800" dirty="0">
                <a:latin typeface="Trebuchet MS"/>
                <a:cs typeface="Trebuchet MS"/>
              </a:rPr>
              <a:t>o  </a:t>
            </a:r>
            <a:r>
              <a:rPr sz="1800" spc="-5" dirty="0">
                <a:latin typeface="Trebuchet MS"/>
                <a:cs typeface="Trebuchet MS"/>
              </a:rPr>
              <a:t>para	</a:t>
            </a:r>
            <a:r>
              <a:rPr sz="1800" spc="-10" dirty="0">
                <a:latin typeface="Trebuchet MS"/>
                <a:cs typeface="Trebuchet MS"/>
              </a:rPr>
              <a:t>conter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98650" y="2177288"/>
            <a:ext cx="1671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80795" algn="l"/>
              </a:tabLst>
            </a:pPr>
            <a:r>
              <a:rPr sz="1800" spc="-5" dirty="0">
                <a:latin typeface="Trebuchet MS"/>
                <a:cs typeface="Trebuchet MS"/>
              </a:rPr>
              <a:t>c</a:t>
            </a:r>
            <a:r>
              <a:rPr sz="1800" spc="-10" dirty="0">
                <a:latin typeface="Trebuchet MS"/>
                <a:cs typeface="Trebuchet MS"/>
              </a:rPr>
              <a:t>a</a:t>
            </a:r>
            <a:r>
              <a:rPr sz="1800" spc="5" dirty="0">
                <a:latin typeface="Trebuchet MS"/>
                <a:cs typeface="Trebuchet MS"/>
              </a:rPr>
              <a:t>r</a:t>
            </a:r>
            <a:r>
              <a:rPr sz="1800" spc="-10" dirty="0">
                <a:latin typeface="Trebuchet MS"/>
                <a:cs typeface="Trebuchet MS"/>
              </a:rPr>
              <a:t>a</a:t>
            </a:r>
            <a:r>
              <a:rPr sz="1800" spc="-5" dirty="0">
                <a:latin typeface="Trebuchet MS"/>
                <a:cs typeface="Trebuchet MS"/>
              </a:rPr>
              <a:t>c</a:t>
            </a:r>
            <a:r>
              <a:rPr sz="1800" spc="-10" dirty="0">
                <a:latin typeface="Trebuchet MS"/>
                <a:cs typeface="Trebuchet MS"/>
              </a:rPr>
              <a:t>t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-5" dirty="0">
                <a:latin typeface="Trebuchet MS"/>
                <a:cs typeface="Trebuchet MS"/>
              </a:rPr>
              <a:t>r</a:t>
            </a:r>
            <a:r>
              <a:rPr sz="1800" spc="-10" dirty="0">
                <a:latin typeface="Trebuchet MS"/>
                <a:cs typeface="Trebuchet MS"/>
              </a:rPr>
              <a:t>e</a:t>
            </a:r>
            <a:r>
              <a:rPr sz="1800" dirty="0">
                <a:latin typeface="Trebuchet MS"/>
                <a:cs typeface="Trebuchet MS"/>
              </a:rPr>
              <a:t>s	q</a:t>
            </a:r>
            <a:r>
              <a:rPr sz="1800" spc="-5" dirty="0">
                <a:latin typeface="Trebuchet MS"/>
                <a:cs typeface="Trebuchet MS"/>
              </a:rPr>
              <a:t>ue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7314" y="2452242"/>
            <a:ext cx="3143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devem</a:t>
            </a:r>
            <a:r>
              <a:rPr sz="1800" spc="1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ser</a:t>
            </a:r>
            <a:r>
              <a:rPr sz="1800" spc="185" dirty="0"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sobrescritos</a:t>
            </a:r>
            <a:r>
              <a:rPr sz="1800" spc="-5" dirty="0">
                <a:latin typeface="Trebuchet MS"/>
                <a:cs typeface="Trebuchet MS"/>
              </a:rPr>
              <a:t>,</a:t>
            </a:r>
            <a:r>
              <a:rPr sz="1800" spc="17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como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76446" y="1629283"/>
            <a:ext cx="659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E2E9F"/>
                </a:solidFill>
                <a:latin typeface="Trebuchet MS"/>
                <a:cs typeface="Trebuchet MS"/>
              </a:rPr>
              <a:t>&lt;su</a:t>
            </a:r>
            <a:r>
              <a:rPr sz="1800" b="1" spc="-15" dirty="0">
                <a:solidFill>
                  <a:srgbClr val="6E2E9F"/>
                </a:solidFill>
                <a:latin typeface="Trebuchet MS"/>
                <a:cs typeface="Trebuchet MS"/>
              </a:rPr>
              <a:t>b</a:t>
            </a:r>
            <a:r>
              <a:rPr sz="1800" b="1" dirty="0">
                <a:solidFill>
                  <a:srgbClr val="6E2E9F"/>
                </a:solidFill>
                <a:latin typeface="Trebuchet MS"/>
                <a:cs typeface="Trebuchet MS"/>
              </a:rPr>
              <a:t>&gt;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76446" y="1903603"/>
            <a:ext cx="135064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elemento </a:t>
            </a:r>
            <a:r>
              <a:rPr sz="1800" spc="-53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para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conter </a:t>
            </a:r>
            <a:r>
              <a:rPr sz="1800" spc="-5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devem</a:t>
            </a:r>
            <a:r>
              <a:rPr sz="1800" spc="45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ser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93207" y="1903603"/>
            <a:ext cx="171640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 marR="5080" indent="-20955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&lt;sub&gt;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é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usado 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caracteres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que </a:t>
            </a:r>
            <a:r>
              <a:rPr sz="1800" spc="-530" dirty="0"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subscritos</a:t>
            </a:r>
            <a:r>
              <a:rPr sz="1800" spc="-10" dirty="0">
                <a:latin typeface="Trebuchet MS"/>
                <a:cs typeface="Trebuchet MS"/>
              </a:rPr>
              <a:t>.</a:t>
            </a:r>
            <a:r>
              <a:rPr sz="1800" spc="5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É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076446" y="2726816"/>
            <a:ext cx="3229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63980" algn="l"/>
                <a:tab pos="2096135" algn="l"/>
                <a:tab pos="2667635" algn="l"/>
              </a:tabLst>
            </a:pPr>
            <a:r>
              <a:rPr sz="1800" spc="-5" dirty="0">
                <a:latin typeface="Trebuchet MS"/>
                <a:cs typeface="Trebuchet MS"/>
              </a:rPr>
              <a:t>c</a:t>
            </a:r>
            <a:r>
              <a:rPr sz="1800" spc="-20" dirty="0">
                <a:latin typeface="Trebuchet MS"/>
                <a:cs typeface="Trebuchet MS"/>
              </a:rPr>
              <a:t>o</a:t>
            </a:r>
            <a:r>
              <a:rPr sz="1800" spc="5" dirty="0">
                <a:latin typeface="Trebuchet MS"/>
                <a:cs typeface="Trebuchet MS"/>
              </a:rPr>
              <a:t>m</a:t>
            </a:r>
            <a:r>
              <a:rPr sz="1800" spc="-5" dirty="0">
                <a:latin typeface="Trebuchet MS"/>
                <a:cs typeface="Trebuchet MS"/>
              </a:rPr>
              <a:t>u</a:t>
            </a:r>
            <a:r>
              <a:rPr sz="1800" dirty="0">
                <a:latin typeface="Trebuchet MS"/>
                <a:cs typeface="Trebuchet MS"/>
              </a:rPr>
              <a:t>m</a:t>
            </a:r>
            <a:r>
              <a:rPr sz="1800" spc="-5" dirty="0">
                <a:latin typeface="Trebuchet MS"/>
                <a:cs typeface="Trebuchet MS"/>
              </a:rPr>
              <a:t>e</a:t>
            </a:r>
            <a:r>
              <a:rPr sz="1800" spc="5" dirty="0">
                <a:latin typeface="Trebuchet MS"/>
                <a:cs typeface="Trebuchet MS"/>
              </a:rPr>
              <a:t>n</a:t>
            </a:r>
            <a:r>
              <a:rPr sz="1800" spc="-10" dirty="0">
                <a:latin typeface="Trebuchet MS"/>
                <a:cs typeface="Trebuchet MS"/>
              </a:rPr>
              <a:t>t</a:t>
            </a:r>
            <a:r>
              <a:rPr sz="1800" dirty="0">
                <a:latin typeface="Trebuchet MS"/>
                <a:cs typeface="Trebuchet MS"/>
              </a:rPr>
              <a:t>e	usa</a:t>
            </a:r>
            <a:r>
              <a:rPr sz="1800" spc="-5" dirty="0">
                <a:latin typeface="Trebuchet MS"/>
                <a:cs typeface="Trebuchet MS"/>
              </a:rPr>
              <a:t>d</a:t>
            </a:r>
            <a:r>
              <a:rPr sz="1800" dirty="0">
                <a:latin typeface="Trebuchet MS"/>
                <a:cs typeface="Trebuchet MS"/>
              </a:rPr>
              <a:t>o	</a:t>
            </a:r>
            <a:r>
              <a:rPr sz="1800" spc="-5" dirty="0">
                <a:latin typeface="Trebuchet MS"/>
                <a:cs typeface="Trebuchet MS"/>
              </a:rPr>
              <a:t>c</a:t>
            </a:r>
            <a:r>
              <a:rPr sz="1800" spc="-20" dirty="0">
                <a:latin typeface="Trebuchet MS"/>
                <a:cs typeface="Trebuchet MS"/>
              </a:rPr>
              <a:t>o</a:t>
            </a:r>
            <a:r>
              <a:rPr sz="1800" dirty="0">
                <a:latin typeface="Trebuchet MS"/>
                <a:cs typeface="Trebuchet MS"/>
              </a:rPr>
              <a:t>m	n</a:t>
            </a:r>
            <a:r>
              <a:rPr sz="1800" spc="-20" dirty="0">
                <a:latin typeface="Trebuchet MS"/>
                <a:cs typeface="Trebuchet MS"/>
              </a:rPr>
              <a:t>o</a:t>
            </a:r>
            <a:r>
              <a:rPr sz="1800" spc="-10" dirty="0">
                <a:latin typeface="Trebuchet MS"/>
                <a:cs typeface="Trebuchet MS"/>
              </a:rPr>
              <a:t>t</a:t>
            </a:r>
            <a:r>
              <a:rPr sz="1800" dirty="0">
                <a:latin typeface="Trebuchet MS"/>
                <a:cs typeface="Trebuchet MS"/>
              </a:rPr>
              <a:t>as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75938" y="3000883"/>
            <a:ext cx="1969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2460" algn="l"/>
                <a:tab pos="1710055" algn="l"/>
              </a:tabLst>
            </a:pPr>
            <a:r>
              <a:rPr sz="1800" spc="5" dirty="0">
                <a:latin typeface="Trebuchet MS"/>
                <a:cs typeface="Trebuchet MS"/>
              </a:rPr>
              <a:t>d</a:t>
            </a:r>
            <a:r>
              <a:rPr sz="1800" dirty="0">
                <a:latin typeface="Trebuchet MS"/>
                <a:cs typeface="Trebuchet MS"/>
              </a:rPr>
              <a:t>e	r</a:t>
            </a:r>
            <a:r>
              <a:rPr sz="1800" spc="-15" dirty="0">
                <a:latin typeface="Trebuchet MS"/>
                <a:cs typeface="Trebuchet MS"/>
              </a:rPr>
              <a:t>o</a:t>
            </a:r>
            <a:r>
              <a:rPr sz="1800" dirty="0">
                <a:latin typeface="Trebuchet MS"/>
                <a:cs typeface="Trebuchet MS"/>
              </a:rPr>
              <a:t>d</a:t>
            </a:r>
            <a:r>
              <a:rPr sz="1800" spc="-5" dirty="0">
                <a:latin typeface="Trebuchet MS"/>
                <a:cs typeface="Trebuchet MS"/>
              </a:rPr>
              <a:t>a</a:t>
            </a:r>
            <a:r>
              <a:rPr sz="1800" spc="5" dirty="0">
                <a:latin typeface="Trebuchet MS"/>
                <a:cs typeface="Trebuchet MS"/>
              </a:rPr>
              <a:t>p</a:t>
            </a:r>
            <a:r>
              <a:rPr sz="1800" dirty="0">
                <a:latin typeface="Trebuchet MS"/>
                <a:cs typeface="Trebuchet MS"/>
              </a:rPr>
              <a:t>é	</a:t>
            </a:r>
            <a:r>
              <a:rPr sz="1800" spc="-10" dirty="0">
                <a:latin typeface="Trebuchet MS"/>
                <a:cs typeface="Trebuchet MS"/>
              </a:rPr>
              <a:t>ou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88100" y="3000883"/>
            <a:ext cx="9156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f</a:t>
            </a:r>
            <a:r>
              <a:rPr sz="1800" spc="-10" dirty="0">
                <a:latin typeface="Trebuchet MS"/>
                <a:cs typeface="Trebuchet MS"/>
              </a:rPr>
              <a:t>ó</a:t>
            </a:r>
            <a:r>
              <a:rPr sz="1800" dirty="0">
                <a:latin typeface="Trebuchet MS"/>
                <a:cs typeface="Trebuchet MS"/>
              </a:rPr>
              <a:t>rmulas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9214" y="2726563"/>
            <a:ext cx="32270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36195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os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sufixos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datas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ou 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conceitos </a:t>
            </a:r>
            <a:r>
              <a:rPr sz="1800" spc="-5" dirty="0">
                <a:latin typeface="Trebuchet MS"/>
                <a:cs typeface="Trebuchet MS"/>
              </a:rPr>
              <a:t>matemáticos, como 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potência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2</a:t>
            </a:r>
            <a:r>
              <a:rPr sz="1800" spc="-7" baseline="20833" dirty="0">
                <a:latin typeface="Trebuchet MS"/>
                <a:cs typeface="Trebuchet MS"/>
              </a:rPr>
              <a:t>2</a:t>
            </a:r>
            <a:r>
              <a:rPr sz="1800" spc="-5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50538" y="3275457"/>
            <a:ext cx="2160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químicas,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como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H</a:t>
            </a:r>
            <a:r>
              <a:rPr sz="1800" spc="-7" baseline="-16203" dirty="0">
                <a:latin typeface="Trebuchet MS"/>
                <a:cs typeface="Trebuchet MS"/>
              </a:rPr>
              <a:t>2</a:t>
            </a:r>
            <a:r>
              <a:rPr sz="1800" spc="-5" dirty="0">
                <a:latin typeface="Trebuchet MS"/>
                <a:cs typeface="Trebuchet MS"/>
              </a:rPr>
              <a:t>0.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7314" y="3895725"/>
            <a:ext cx="6721475" cy="173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DOCTYPE</a:t>
            </a:r>
            <a:r>
              <a:rPr sz="1400" spc="-7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C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400" spc="-4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C"/>
                </a:solidFill>
                <a:latin typeface="Consolas"/>
                <a:cs typeface="Consolas"/>
              </a:rPr>
              <a:t>lang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8001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meta</a:t>
            </a:r>
            <a:r>
              <a:rPr sz="1400" spc="-2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C"/>
                </a:solidFill>
                <a:latin typeface="Consolas"/>
                <a:cs typeface="Consolas"/>
              </a:rPr>
              <a:t>charset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400" dirty="0">
              <a:latin typeface="Consolas"/>
              <a:cs typeface="Consolas"/>
            </a:endParaRPr>
          </a:p>
          <a:p>
            <a:pPr marL="8001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Sobrescrito</a:t>
            </a:r>
            <a:r>
              <a:rPr sz="14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e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Subscrito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19316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No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4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sup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th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sup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15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de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setembro,</a:t>
            </a:r>
            <a:r>
              <a:rPr sz="14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você</a:t>
            </a:r>
            <a:r>
              <a:rPr sz="1400" spc="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aprenderá</a:t>
            </a:r>
            <a:r>
              <a:rPr sz="1400" spc="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sobre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E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04964" y="5389626"/>
            <a:ext cx="21037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400" spc="-4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MC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spc="5" dirty="0">
                <a:solidFill>
                  <a:srgbClr val="549CD4"/>
                </a:solidFill>
                <a:latin typeface="Consolas"/>
                <a:cs typeface="Consolas"/>
              </a:rPr>
              <a:t>sup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2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5" dirty="0">
                <a:solidFill>
                  <a:srgbClr val="549CD4"/>
                </a:solidFill>
                <a:latin typeface="Consolas"/>
                <a:cs typeface="Consolas"/>
              </a:rPr>
              <a:t>sup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.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5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7314" y="5602935"/>
            <a:ext cx="999299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16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</a:t>
            </a:r>
            <a:r>
              <a:rPr sz="1400" spc="5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quantidade</a:t>
            </a:r>
            <a:r>
              <a:rPr sz="1400" spc="4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de</a:t>
            </a:r>
            <a:r>
              <a:rPr sz="1400" spc="4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CO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sub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2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sub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55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na</a:t>
            </a:r>
            <a:r>
              <a:rPr sz="14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atmosfera</a:t>
            </a:r>
            <a:r>
              <a:rPr sz="14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aumentou</a:t>
            </a:r>
            <a:r>
              <a:rPr sz="1400" spc="4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em</a:t>
            </a:r>
            <a:r>
              <a:rPr sz="14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2</a:t>
            </a:r>
            <a:r>
              <a:rPr sz="1400" spc="8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ppm</a:t>
            </a:r>
            <a:r>
              <a:rPr sz="1400" spc="5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em</a:t>
            </a:r>
            <a:r>
              <a:rPr sz="14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2009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sub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1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sub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.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424928" y="2301239"/>
            <a:ext cx="4767580" cy="2444750"/>
            <a:chOff x="7424928" y="2301239"/>
            <a:chExt cx="4767580" cy="2444750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24928" y="2301239"/>
              <a:ext cx="4767072" cy="244449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20000" y="2496311"/>
              <a:ext cx="4399788" cy="18669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7334" y="365252"/>
            <a:ext cx="37064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Espaço</a:t>
            </a:r>
            <a:r>
              <a:rPr sz="3600" spc="-125" dirty="0"/>
              <a:t> </a:t>
            </a:r>
            <a:r>
              <a:rPr sz="3600" dirty="0"/>
              <a:t>em</a:t>
            </a:r>
            <a:r>
              <a:rPr sz="3600" spc="-90" dirty="0"/>
              <a:t> </a:t>
            </a:r>
            <a:r>
              <a:rPr sz="3600" spc="-5" dirty="0"/>
              <a:t>branco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268473" y="1624076"/>
            <a:ext cx="237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0265" algn="l"/>
                <a:tab pos="1489075" algn="l"/>
                <a:tab pos="2111375" algn="l"/>
              </a:tabLst>
            </a:pPr>
            <a:r>
              <a:rPr sz="1800" spc="-5" dirty="0">
                <a:latin typeface="Trebuchet MS"/>
                <a:cs typeface="Trebuchet MS"/>
              </a:rPr>
              <a:t>c</a:t>
            </a:r>
            <a:r>
              <a:rPr sz="1800" spc="-10" dirty="0">
                <a:latin typeface="Trebuchet MS"/>
                <a:cs typeface="Trebuchet MS"/>
              </a:rPr>
              <a:t>ó</a:t>
            </a:r>
            <a:r>
              <a:rPr sz="1800" dirty="0">
                <a:latin typeface="Trebuchet MS"/>
                <a:cs typeface="Trebuchet MS"/>
              </a:rPr>
              <a:t>d</a:t>
            </a:r>
            <a:r>
              <a:rPr sz="1800" spc="-5" dirty="0">
                <a:latin typeface="Trebuchet MS"/>
                <a:cs typeface="Trebuchet MS"/>
              </a:rPr>
              <a:t>ig</a:t>
            </a:r>
            <a:r>
              <a:rPr sz="1800" dirty="0">
                <a:latin typeface="Trebuchet MS"/>
                <a:cs typeface="Trebuchet MS"/>
              </a:rPr>
              <a:t>o	</a:t>
            </a:r>
            <a:r>
              <a:rPr sz="1800" spc="5" dirty="0">
                <a:latin typeface="Trebuchet MS"/>
                <a:cs typeface="Trebuchet MS"/>
              </a:rPr>
              <a:t>m</a:t>
            </a:r>
            <a:r>
              <a:rPr sz="1800" dirty="0">
                <a:latin typeface="Trebuchet MS"/>
                <a:cs typeface="Trebuchet MS"/>
              </a:rPr>
              <a:t>ais	</a:t>
            </a:r>
            <a:r>
              <a:rPr sz="1800" spc="-10" dirty="0">
                <a:latin typeface="Trebuchet MS"/>
                <a:cs typeface="Trebuchet MS"/>
              </a:rPr>
              <a:t>f</a:t>
            </a:r>
            <a:r>
              <a:rPr sz="1800" dirty="0">
                <a:latin typeface="Trebuchet MS"/>
                <a:cs typeface="Trebuchet MS"/>
              </a:rPr>
              <a:t>á</a:t>
            </a:r>
            <a:r>
              <a:rPr sz="1800" spc="-5" dirty="0">
                <a:latin typeface="Trebuchet MS"/>
                <a:cs typeface="Trebuchet MS"/>
              </a:rPr>
              <a:t>c</a:t>
            </a:r>
            <a:r>
              <a:rPr sz="1800" dirty="0">
                <a:latin typeface="Trebuchet MS"/>
                <a:cs typeface="Trebuchet MS"/>
              </a:rPr>
              <a:t>il	</a:t>
            </a:r>
            <a:r>
              <a:rPr sz="1800" spc="5" dirty="0">
                <a:latin typeface="Trebuchet MS"/>
                <a:cs typeface="Trebuchet MS"/>
              </a:rPr>
              <a:t>de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9170" y="1624076"/>
            <a:ext cx="742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4984" algn="l"/>
              </a:tabLst>
            </a:pPr>
            <a:r>
              <a:rPr sz="1800" spc="-5" dirty="0">
                <a:latin typeface="Trebuchet MS"/>
                <a:cs typeface="Trebuchet MS"/>
              </a:rPr>
              <a:t>l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-520" dirty="0">
                <a:latin typeface="Trebuchet MS"/>
                <a:cs typeface="Trebuchet MS"/>
              </a:rPr>
              <a:t>r</a:t>
            </a:r>
            <a:r>
              <a:rPr sz="1800" dirty="0">
                <a:latin typeface="Trebuchet MS"/>
                <a:cs typeface="Trebuchet MS"/>
              </a:rPr>
              <a:t>,	</a:t>
            </a:r>
            <a:r>
              <a:rPr sz="1800" spc="-10" dirty="0">
                <a:latin typeface="Trebuchet MS"/>
                <a:cs typeface="Trebuchet MS"/>
              </a:rPr>
              <a:t>os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5751" y="1624076"/>
            <a:ext cx="15690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28015" algn="l"/>
                <a:tab pos="1039494" algn="l"/>
                <a:tab pos="1433195" algn="l"/>
              </a:tabLst>
            </a:pPr>
            <a:r>
              <a:rPr sz="1800" spc="-165" dirty="0">
                <a:latin typeface="Trebuchet MS"/>
                <a:cs typeface="Trebuchet MS"/>
              </a:rPr>
              <a:t>P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5" dirty="0">
                <a:latin typeface="Trebuchet MS"/>
                <a:cs typeface="Trebuchet MS"/>
              </a:rPr>
              <a:t>r</a:t>
            </a:r>
            <a:r>
              <a:rPr sz="1800" dirty="0">
                <a:latin typeface="Trebuchet MS"/>
                <a:cs typeface="Trebuchet MS"/>
              </a:rPr>
              <a:t>a	</a:t>
            </a:r>
            <a:r>
              <a:rPr sz="1800" spc="-5" dirty="0">
                <a:latin typeface="Trebuchet MS"/>
                <a:cs typeface="Trebuchet MS"/>
              </a:rPr>
              <a:t>t</a:t>
            </a:r>
            <a:r>
              <a:rPr sz="1800" spc="-20" dirty="0">
                <a:latin typeface="Trebuchet MS"/>
                <a:cs typeface="Trebuchet MS"/>
              </a:rPr>
              <a:t>o</a:t>
            </a:r>
            <a:r>
              <a:rPr sz="1800" spc="-5" dirty="0">
                <a:latin typeface="Trebuchet MS"/>
                <a:cs typeface="Trebuchet MS"/>
              </a:rPr>
              <a:t>r</a:t>
            </a:r>
            <a:r>
              <a:rPr sz="1800" dirty="0">
                <a:latin typeface="Trebuchet MS"/>
                <a:cs typeface="Trebuchet MS"/>
              </a:rPr>
              <a:t>n</a:t>
            </a:r>
            <a:r>
              <a:rPr sz="1800" spc="-10" dirty="0">
                <a:latin typeface="Trebuchet MS"/>
                <a:cs typeface="Trebuchet MS"/>
              </a:rPr>
              <a:t>a</a:t>
            </a:r>
            <a:r>
              <a:rPr sz="1800" dirty="0">
                <a:latin typeface="Trebuchet MS"/>
                <a:cs typeface="Trebuchet MS"/>
              </a:rPr>
              <a:t>r	o  </a:t>
            </a:r>
            <a:r>
              <a:rPr sz="1800" spc="-5" dirty="0">
                <a:latin typeface="Trebuchet MS"/>
                <a:cs typeface="Trebuchet MS"/>
              </a:rPr>
              <a:t>autores	</a:t>
            </a:r>
            <a:r>
              <a:rPr sz="1800" spc="15" dirty="0">
                <a:latin typeface="Trebuchet MS"/>
                <a:cs typeface="Trebuchet MS"/>
              </a:rPr>
              <a:t>de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0833" y="1898396"/>
            <a:ext cx="34245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3940" algn="l"/>
                <a:tab pos="1554480" algn="l"/>
                <a:tab pos="2240915" algn="l"/>
              </a:tabLst>
            </a:pPr>
            <a:r>
              <a:rPr sz="1800" dirty="0">
                <a:latin typeface="Trebuchet MS"/>
                <a:cs typeface="Trebuchet MS"/>
              </a:rPr>
              <a:t>p</a:t>
            </a:r>
            <a:r>
              <a:rPr sz="1800" spc="-5" dirty="0">
                <a:latin typeface="Trebuchet MS"/>
                <a:cs typeface="Trebuchet MS"/>
              </a:rPr>
              <a:t>ágin</a:t>
            </a:r>
            <a:r>
              <a:rPr sz="1800" dirty="0">
                <a:latin typeface="Trebuchet MS"/>
                <a:cs typeface="Trebuchet MS"/>
              </a:rPr>
              <a:t>as	</a:t>
            </a:r>
            <a:r>
              <a:rPr sz="1800" spc="5" dirty="0">
                <a:latin typeface="Trebuchet MS"/>
                <a:cs typeface="Trebuchet MS"/>
              </a:rPr>
              <a:t>d</a:t>
            </a:r>
            <a:r>
              <a:rPr sz="1800" dirty="0">
                <a:latin typeface="Trebuchet MS"/>
                <a:cs typeface="Trebuchet MS"/>
              </a:rPr>
              <a:t>a	</a:t>
            </a:r>
            <a:r>
              <a:rPr sz="1800" spc="-5" dirty="0">
                <a:latin typeface="Trebuchet MS"/>
                <a:cs typeface="Trebuchet MS"/>
              </a:rPr>
              <a:t>w</a:t>
            </a:r>
            <a:r>
              <a:rPr sz="1800" spc="5" dirty="0">
                <a:latin typeface="Trebuchet MS"/>
                <a:cs typeface="Trebuchet MS"/>
              </a:rPr>
              <a:t>e</a:t>
            </a:r>
            <a:r>
              <a:rPr sz="1800" dirty="0">
                <a:latin typeface="Trebuchet MS"/>
                <a:cs typeface="Trebuchet MS"/>
              </a:rPr>
              <a:t>b	geralmente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sz="half" idx="2"/>
          </p:nvPr>
        </p:nvSpPr>
        <p:spPr>
          <a:xfrm>
            <a:off x="555751" y="2172970"/>
            <a:ext cx="5328285" cy="39215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0520" algn="just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adicionam</a:t>
            </a:r>
            <a:r>
              <a:rPr spc="-5" dirty="0"/>
              <a:t> </a:t>
            </a:r>
            <a:r>
              <a:rPr spc="-15" dirty="0"/>
              <a:t>espaços</a:t>
            </a:r>
            <a:r>
              <a:rPr spc="-10" dirty="0"/>
              <a:t> </a:t>
            </a:r>
            <a:r>
              <a:rPr spc="-5" dirty="0"/>
              <a:t>extras</a:t>
            </a:r>
            <a:r>
              <a:rPr dirty="0"/>
              <a:t> ou</a:t>
            </a:r>
            <a:r>
              <a:rPr spc="5" dirty="0"/>
              <a:t> </a:t>
            </a:r>
            <a:r>
              <a:rPr spc="-5" dirty="0"/>
              <a:t>iniciam</a:t>
            </a:r>
            <a:r>
              <a:rPr dirty="0"/>
              <a:t> </a:t>
            </a:r>
            <a:r>
              <a:rPr spc="-10" dirty="0"/>
              <a:t>alguns </a:t>
            </a:r>
            <a:r>
              <a:rPr spc="-5" dirty="0"/>
              <a:t> elementos</a:t>
            </a:r>
            <a:r>
              <a:rPr spc="-35" dirty="0"/>
              <a:t> </a:t>
            </a:r>
            <a:r>
              <a:rPr dirty="0"/>
              <a:t>em </a:t>
            </a:r>
            <a:r>
              <a:rPr spc="-10" dirty="0"/>
              <a:t>novas</a:t>
            </a:r>
            <a:r>
              <a:rPr spc="-15" dirty="0"/>
              <a:t> </a:t>
            </a:r>
            <a:r>
              <a:rPr dirty="0"/>
              <a:t>linhas.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00" dirty="0"/>
          </a:p>
          <a:p>
            <a:pPr marL="12700" marR="344170" algn="just">
              <a:lnSpc>
                <a:spcPct val="100000"/>
              </a:lnSpc>
            </a:pPr>
            <a:r>
              <a:rPr spc="-5" dirty="0"/>
              <a:t>Quando </a:t>
            </a:r>
            <a:r>
              <a:rPr dirty="0"/>
              <a:t>o </a:t>
            </a:r>
            <a:r>
              <a:rPr b="1" spc="-5" dirty="0">
                <a:solidFill>
                  <a:srgbClr val="FF0000"/>
                </a:solidFill>
                <a:latin typeface="Trebuchet MS"/>
                <a:cs typeface="Trebuchet MS"/>
              </a:rPr>
              <a:t>navegador</a:t>
            </a:r>
            <a:r>
              <a:rPr b="1" spc="-5" dirty="0">
                <a:latin typeface="Trebuchet MS"/>
                <a:cs typeface="Trebuchet MS"/>
              </a:rPr>
              <a:t> </a:t>
            </a:r>
            <a:r>
              <a:rPr dirty="0"/>
              <a:t>se </a:t>
            </a:r>
            <a:r>
              <a:rPr spc="-5" dirty="0"/>
              <a:t>depara</a:t>
            </a:r>
            <a:r>
              <a:rPr dirty="0"/>
              <a:t> </a:t>
            </a:r>
            <a:r>
              <a:rPr spc="-10" dirty="0"/>
              <a:t>com</a:t>
            </a:r>
            <a:r>
              <a:rPr spc="-5" dirty="0"/>
              <a:t> </a:t>
            </a:r>
            <a:r>
              <a:rPr b="1" spc="-10" dirty="0">
                <a:solidFill>
                  <a:srgbClr val="FF0000"/>
                </a:solidFill>
                <a:latin typeface="Trebuchet MS"/>
                <a:cs typeface="Trebuchet MS"/>
              </a:rPr>
              <a:t>dois </a:t>
            </a:r>
            <a:r>
              <a:rPr b="1" dirty="0">
                <a:solidFill>
                  <a:srgbClr val="FF0000"/>
                </a:solidFill>
                <a:latin typeface="Trebuchet MS"/>
                <a:cs typeface="Trebuchet MS"/>
              </a:rPr>
              <a:t>ou </a:t>
            </a:r>
            <a:r>
              <a:rPr b="1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FF0000"/>
                </a:solidFill>
                <a:latin typeface="Trebuchet MS"/>
                <a:cs typeface="Trebuchet MS"/>
              </a:rPr>
              <a:t>mais</a:t>
            </a:r>
            <a:r>
              <a:rPr b="1" spc="-5" dirty="0">
                <a:latin typeface="Trebuchet MS"/>
                <a:cs typeface="Trebuchet MS"/>
              </a:rPr>
              <a:t> </a:t>
            </a:r>
            <a:r>
              <a:rPr spc="-10" dirty="0"/>
              <a:t>espaços </a:t>
            </a:r>
            <a:r>
              <a:rPr b="1" spc="-10" dirty="0">
                <a:solidFill>
                  <a:srgbClr val="FF0000"/>
                </a:solidFill>
                <a:latin typeface="Trebuchet MS"/>
                <a:cs typeface="Trebuchet MS"/>
              </a:rPr>
              <a:t>próximos </a:t>
            </a:r>
            <a:r>
              <a:rPr b="1" spc="-5" dirty="0">
                <a:solidFill>
                  <a:srgbClr val="FF0000"/>
                </a:solidFill>
                <a:latin typeface="Trebuchet MS"/>
                <a:cs typeface="Trebuchet MS"/>
              </a:rPr>
              <a:t>um do </a:t>
            </a:r>
            <a:r>
              <a:rPr b="1" spc="-10" dirty="0">
                <a:solidFill>
                  <a:srgbClr val="FF0000"/>
                </a:solidFill>
                <a:latin typeface="Trebuchet MS"/>
                <a:cs typeface="Trebuchet MS"/>
              </a:rPr>
              <a:t>outro</a:t>
            </a:r>
            <a:r>
              <a:rPr spc="-10" dirty="0"/>
              <a:t>, ele </a:t>
            </a:r>
            <a:r>
              <a:rPr b="1" dirty="0">
                <a:solidFill>
                  <a:srgbClr val="FF0000"/>
                </a:solidFill>
                <a:latin typeface="Trebuchet MS"/>
                <a:cs typeface="Trebuchet MS"/>
              </a:rPr>
              <a:t>exibe </a:t>
            </a:r>
            <a:r>
              <a:rPr b="1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FF0000"/>
                </a:solidFill>
                <a:latin typeface="Trebuchet MS"/>
                <a:cs typeface="Trebuchet MS"/>
              </a:rPr>
              <a:t>apenas</a:t>
            </a:r>
            <a:r>
              <a:rPr b="1" dirty="0">
                <a:solidFill>
                  <a:srgbClr val="FF0000"/>
                </a:solidFill>
                <a:latin typeface="Trebuchet MS"/>
                <a:cs typeface="Trebuchet MS"/>
              </a:rPr>
              <a:t> um</a:t>
            </a:r>
            <a:r>
              <a:rPr b="1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b="1" spc="-10" dirty="0">
                <a:solidFill>
                  <a:srgbClr val="FF0000"/>
                </a:solidFill>
                <a:latin typeface="Trebuchet MS"/>
                <a:cs typeface="Trebuchet MS"/>
              </a:rPr>
              <a:t>espaço</a:t>
            </a:r>
            <a:r>
              <a:rPr spc="-10" dirty="0"/>
              <a:t>.</a:t>
            </a:r>
            <a:r>
              <a:rPr spc="-5" dirty="0"/>
              <a:t> </a:t>
            </a:r>
            <a:r>
              <a:rPr spc="-10" dirty="0"/>
              <a:t>Da</a:t>
            </a:r>
            <a:r>
              <a:rPr spc="-5" dirty="0"/>
              <a:t> mesma</a:t>
            </a:r>
            <a:r>
              <a:rPr dirty="0"/>
              <a:t> </a:t>
            </a:r>
            <a:r>
              <a:rPr spc="-10" dirty="0"/>
              <a:t>forma,</a:t>
            </a:r>
            <a:r>
              <a:rPr spc="-5" dirty="0"/>
              <a:t> se</a:t>
            </a:r>
            <a:r>
              <a:rPr dirty="0"/>
              <a:t> </a:t>
            </a:r>
            <a:r>
              <a:rPr spc="15" dirty="0"/>
              <a:t>se </a:t>
            </a:r>
            <a:r>
              <a:rPr spc="-530" dirty="0"/>
              <a:t> </a:t>
            </a:r>
            <a:r>
              <a:rPr spc="-10" dirty="0"/>
              <a:t>deparar </a:t>
            </a:r>
            <a:r>
              <a:rPr spc="-5" dirty="0"/>
              <a:t>com uma </a:t>
            </a:r>
            <a:r>
              <a:rPr spc="-10" dirty="0"/>
              <a:t>quebra </a:t>
            </a:r>
            <a:r>
              <a:rPr dirty="0"/>
              <a:t>de </a:t>
            </a:r>
            <a:r>
              <a:rPr spc="-5" dirty="0"/>
              <a:t>linha, </a:t>
            </a:r>
            <a:r>
              <a:rPr spc="-15" dirty="0"/>
              <a:t>isso </a:t>
            </a:r>
            <a:r>
              <a:rPr spc="-5" dirty="0"/>
              <a:t>também </a:t>
            </a:r>
            <a:r>
              <a:rPr dirty="0"/>
              <a:t> é</a:t>
            </a:r>
            <a:r>
              <a:rPr spc="5" dirty="0"/>
              <a:t> </a:t>
            </a:r>
            <a:r>
              <a:rPr spc="-5" dirty="0"/>
              <a:t>um</a:t>
            </a:r>
            <a:r>
              <a:rPr dirty="0"/>
              <a:t> </a:t>
            </a:r>
            <a:r>
              <a:rPr spc="-5" dirty="0"/>
              <a:t>espaço</a:t>
            </a:r>
            <a:r>
              <a:rPr dirty="0"/>
              <a:t> </a:t>
            </a:r>
            <a:r>
              <a:rPr spc="-10" dirty="0"/>
              <a:t>único.</a:t>
            </a:r>
            <a:r>
              <a:rPr spc="-5" dirty="0"/>
              <a:t> </a:t>
            </a:r>
            <a:r>
              <a:rPr spc="-10" dirty="0"/>
              <a:t>Isso</a:t>
            </a:r>
            <a:r>
              <a:rPr spc="-5" dirty="0"/>
              <a:t> </a:t>
            </a:r>
            <a:r>
              <a:rPr dirty="0"/>
              <a:t>é</a:t>
            </a:r>
            <a:r>
              <a:rPr spc="5" dirty="0"/>
              <a:t> </a:t>
            </a:r>
            <a:r>
              <a:rPr spc="-5" dirty="0"/>
              <a:t>conhecido</a:t>
            </a:r>
            <a:r>
              <a:rPr dirty="0"/>
              <a:t> </a:t>
            </a:r>
            <a:r>
              <a:rPr spc="-10" dirty="0"/>
              <a:t>como </a:t>
            </a:r>
            <a:r>
              <a:rPr spc="-5" dirty="0"/>
              <a:t> </a:t>
            </a:r>
            <a:r>
              <a:rPr b="1" dirty="0">
                <a:solidFill>
                  <a:srgbClr val="FF0000"/>
                </a:solidFill>
                <a:latin typeface="Trebuchet MS"/>
                <a:cs typeface="Trebuchet MS"/>
              </a:rPr>
              <a:t>colapso</a:t>
            </a:r>
            <a:r>
              <a:rPr b="1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FF0000"/>
                </a:solidFill>
                <a:latin typeface="Trebuchet MS"/>
                <a:cs typeface="Trebuchet MS"/>
              </a:rPr>
              <a:t>do</a:t>
            </a:r>
            <a:r>
              <a:rPr b="1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FF0000"/>
                </a:solidFill>
                <a:latin typeface="Trebuchet MS"/>
                <a:cs typeface="Trebuchet MS"/>
              </a:rPr>
              <a:t>espaço</a:t>
            </a:r>
            <a:r>
              <a:rPr b="1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b="1" spc="-5" dirty="0">
                <a:solidFill>
                  <a:srgbClr val="FF0000"/>
                </a:solidFill>
                <a:latin typeface="Trebuchet MS"/>
                <a:cs typeface="Trebuchet MS"/>
              </a:rPr>
              <a:t>em </a:t>
            </a:r>
            <a:r>
              <a:rPr b="1" spc="-15" dirty="0">
                <a:solidFill>
                  <a:srgbClr val="FF0000"/>
                </a:solidFill>
                <a:latin typeface="Trebuchet MS"/>
                <a:cs typeface="Trebuchet MS"/>
              </a:rPr>
              <a:t>branco</a:t>
            </a:r>
            <a:r>
              <a:rPr spc="-15" dirty="0"/>
              <a:t>.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00" dirty="0"/>
          </a:p>
          <a:p>
            <a:pPr marL="12700" marR="347345" algn="just">
              <a:lnSpc>
                <a:spcPct val="100000"/>
              </a:lnSpc>
            </a:pPr>
            <a:r>
              <a:rPr spc="-35" dirty="0"/>
              <a:t>Você</a:t>
            </a:r>
            <a:r>
              <a:rPr spc="-30" dirty="0"/>
              <a:t> </a:t>
            </a:r>
            <a:r>
              <a:rPr spc="-5" dirty="0"/>
              <a:t>verá com</a:t>
            </a:r>
            <a:r>
              <a:rPr dirty="0"/>
              <a:t> </a:t>
            </a:r>
            <a:r>
              <a:rPr spc="-5" dirty="0"/>
              <a:t>frequência que </a:t>
            </a:r>
            <a:r>
              <a:rPr spc="-10" dirty="0"/>
              <a:t>os autores de </a:t>
            </a:r>
            <a:r>
              <a:rPr spc="-5" dirty="0"/>
              <a:t> </a:t>
            </a:r>
            <a:r>
              <a:rPr spc="-10" dirty="0"/>
              <a:t>páginas </a:t>
            </a:r>
            <a:r>
              <a:rPr dirty="0"/>
              <a:t>da </a:t>
            </a:r>
            <a:r>
              <a:rPr spc="-25" dirty="0"/>
              <a:t>Web </a:t>
            </a:r>
            <a:r>
              <a:rPr spc="-5" dirty="0"/>
              <a:t>tiram proveito </a:t>
            </a:r>
            <a:r>
              <a:rPr dirty="0"/>
              <a:t>do </a:t>
            </a:r>
            <a:r>
              <a:rPr spc="-10" dirty="0"/>
              <a:t>recolhimento </a:t>
            </a:r>
            <a:r>
              <a:rPr spc="-5" dirty="0"/>
              <a:t> </a:t>
            </a:r>
            <a:r>
              <a:rPr dirty="0"/>
              <a:t>do </a:t>
            </a:r>
            <a:r>
              <a:rPr spc="-10" dirty="0"/>
              <a:t>espaço </a:t>
            </a:r>
            <a:r>
              <a:rPr dirty="0"/>
              <a:t>em </a:t>
            </a:r>
            <a:r>
              <a:rPr spc="-5" dirty="0"/>
              <a:t>branco para recuar </a:t>
            </a:r>
            <a:r>
              <a:rPr dirty="0"/>
              <a:t>o </a:t>
            </a:r>
            <a:r>
              <a:rPr spc="-10" dirty="0"/>
              <a:t>código </a:t>
            </a:r>
            <a:r>
              <a:rPr spc="-5" dirty="0"/>
              <a:t>para </a:t>
            </a:r>
            <a:r>
              <a:rPr dirty="0"/>
              <a:t> </a:t>
            </a:r>
            <a:r>
              <a:rPr spc="-5" dirty="0"/>
              <a:t>facilitar</a:t>
            </a:r>
            <a:r>
              <a:rPr spc="-80" dirty="0"/>
              <a:t> </a:t>
            </a:r>
            <a:r>
              <a:rPr dirty="0"/>
              <a:t>o</a:t>
            </a:r>
            <a:r>
              <a:rPr spc="-25" dirty="0"/>
              <a:t> </a:t>
            </a:r>
            <a:r>
              <a:rPr spc="-5" dirty="0" err="1"/>
              <a:t>acompanhamento</a:t>
            </a:r>
            <a:r>
              <a:rPr spc="-5" dirty="0"/>
              <a:t>.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6054852" y="815340"/>
            <a:ext cx="5870448" cy="5937500"/>
            <a:chOff x="6054852" y="815340"/>
            <a:chExt cx="5870448" cy="59375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3928" y="4110226"/>
              <a:ext cx="3732276" cy="264261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9000" y="4305300"/>
              <a:ext cx="3154679" cy="20650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70092" y="822959"/>
              <a:ext cx="5855208" cy="34396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54852" y="815340"/>
              <a:ext cx="5439155" cy="325221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096000" y="848867"/>
            <a:ext cx="5750560" cy="310896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26034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204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DOCTYPE</a:t>
            </a:r>
            <a:r>
              <a:rPr sz="1400" spc="-8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9CDCFC"/>
                </a:solidFill>
                <a:latin typeface="Consolas"/>
                <a:cs typeface="Consolas"/>
              </a:rPr>
              <a:t>html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8704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400" spc="-4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C"/>
                </a:solidFill>
                <a:latin typeface="Consolas"/>
                <a:cs typeface="Consolas"/>
              </a:rPr>
              <a:t>lang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8704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8813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meta</a:t>
            </a:r>
            <a:r>
              <a:rPr sz="1400" spc="-7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9CDCFC"/>
                </a:solidFill>
                <a:latin typeface="Consolas"/>
                <a:cs typeface="Consolas"/>
              </a:rPr>
              <a:t>charset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400" spc="5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400" dirty="0">
              <a:latin typeface="Consolas"/>
              <a:cs typeface="Consolas"/>
            </a:endParaRPr>
          </a:p>
          <a:p>
            <a:pPr marL="8813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Espaço</a:t>
            </a:r>
            <a:r>
              <a:rPr sz="1400" spc="-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em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branco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8704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8704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8813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Lua está</a:t>
            </a:r>
            <a:r>
              <a:rPr sz="1400" spc="-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se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afastando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da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Terra.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5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881380">
              <a:lnSpc>
                <a:spcPct val="100000"/>
              </a:lnSpc>
              <a:tabLst>
                <a:tab pos="2161540" algn="l"/>
              </a:tabLst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</a:t>
            </a:r>
            <a:r>
              <a:rPr sz="1400" spc="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Lua	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está se</a:t>
            </a:r>
            <a:r>
              <a:rPr sz="1400" spc="-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afastando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da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Terra.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5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8813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Lua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está</a:t>
            </a:r>
            <a:r>
              <a:rPr sz="1400" spc="-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se afastando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da</a:t>
            </a:r>
            <a:endParaRPr sz="1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 dirty="0">
              <a:latin typeface="Consolas"/>
              <a:cs typeface="Consolas"/>
            </a:endParaRPr>
          </a:p>
          <a:p>
            <a:pPr marL="1274445">
              <a:lnSpc>
                <a:spcPct val="100000"/>
              </a:lnSpc>
            </a:pP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Terra.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8704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9334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7334" y="365252"/>
            <a:ext cx="37064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Espaço</a:t>
            </a:r>
            <a:r>
              <a:rPr sz="3600" spc="-125" dirty="0"/>
              <a:t> </a:t>
            </a:r>
            <a:r>
              <a:rPr sz="3600" dirty="0"/>
              <a:t>em</a:t>
            </a:r>
            <a:r>
              <a:rPr sz="3600" spc="-90" dirty="0"/>
              <a:t> </a:t>
            </a:r>
            <a:r>
              <a:rPr sz="3600" spc="-5" dirty="0"/>
              <a:t>branco</a:t>
            </a:r>
            <a:endParaRPr sz="3600"/>
          </a:p>
        </p:txBody>
      </p:sp>
      <p:sp>
        <p:nvSpPr>
          <p:cNvPr id="7" name="object 7"/>
          <p:cNvSpPr txBox="1">
            <a:spLocks noGrp="1"/>
          </p:cNvSpPr>
          <p:nvPr>
            <p:ph sz="half" idx="2"/>
          </p:nvPr>
        </p:nvSpPr>
        <p:spPr>
          <a:xfrm>
            <a:off x="304800" y="1295400"/>
            <a:ext cx="5328285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3200" dirty="0"/>
          </a:p>
          <a:p>
            <a:pPr marL="24765">
              <a:lnSpc>
                <a:spcPct val="100000"/>
              </a:lnSpc>
            </a:pPr>
            <a:r>
              <a:rPr sz="2400" dirty="0"/>
              <a:t>OBS:</a:t>
            </a:r>
            <a:r>
              <a:rPr sz="2400" spc="-40" dirty="0"/>
              <a:t> </a:t>
            </a:r>
            <a:r>
              <a:rPr sz="2400" spc="-5" dirty="0"/>
              <a:t>Existe</a:t>
            </a:r>
            <a:r>
              <a:rPr sz="2400" spc="-25" dirty="0"/>
              <a:t> </a:t>
            </a:r>
            <a:r>
              <a:rPr sz="2400" dirty="0"/>
              <a:t>a</a:t>
            </a:r>
            <a:r>
              <a:rPr sz="2400" spc="-5" dirty="0"/>
              <a:t> tag</a:t>
            </a:r>
            <a:r>
              <a:rPr sz="2400" spc="-25" dirty="0"/>
              <a:t> </a:t>
            </a:r>
            <a:r>
              <a:rPr sz="2400" spc="-5" dirty="0">
                <a:solidFill>
                  <a:srgbClr val="7030A0"/>
                </a:solidFill>
              </a:rPr>
              <a:t>&lt;pre&gt;</a:t>
            </a:r>
            <a:r>
              <a:rPr sz="2400" spc="10" dirty="0">
                <a:solidFill>
                  <a:srgbClr val="7030A0"/>
                </a:solidFill>
              </a:rPr>
              <a:t> </a:t>
            </a:r>
            <a:r>
              <a:rPr sz="2400" spc="-5" dirty="0"/>
              <a:t>para</a:t>
            </a:r>
            <a:r>
              <a:rPr sz="2400" spc="-10" dirty="0"/>
              <a:t> </a:t>
            </a:r>
            <a:r>
              <a:rPr sz="2400" spc="-10" dirty="0" err="1"/>
              <a:t>conteúdos</a:t>
            </a:r>
            <a:r>
              <a:rPr sz="2400" spc="-55" dirty="0"/>
              <a:t> </a:t>
            </a:r>
            <a:r>
              <a:rPr sz="2400" spc="-5" dirty="0"/>
              <a:t>com</a:t>
            </a:r>
            <a:r>
              <a:rPr sz="2400" spc="-55" dirty="0"/>
              <a:t> </a:t>
            </a:r>
            <a:r>
              <a:rPr sz="2400" spc="-5" dirty="0" err="1">
                <a:solidFill>
                  <a:srgbClr val="FF0000"/>
                </a:solidFill>
              </a:rPr>
              <a:t>formatação</a:t>
            </a:r>
            <a:r>
              <a:rPr sz="2400" spc="-45" dirty="0">
                <a:solidFill>
                  <a:srgbClr val="FF0000"/>
                </a:solidFill>
              </a:rPr>
              <a:t> </a:t>
            </a:r>
            <a:r>
              <a:rPr sz="2400" spc="-5" dirty="0" err="1">
                <a:solidFill>
                  <a:srgbClr val="FF0000"/>
                </a:solidFill>
              </a:rPr>
              <a:t>incomum</a:t>
            </a:r>
            <a:r>
              <a:rPr sz="2400" spc="-5" dirty="0"/>
              <a:t>.</a:t>
            </a:r>
            <a:endParaRPr sz="2400" dirty="0"/>
          </a:p>
        </p:txBody>
      </p:sp>
      <p:sp>
        <p:nvSpPr>
          <p:cNvPr id="13" name="object 13"/>
          <p:cNvSpPr txBox="1"/>
          <p:nvPr/>
        </p:nvSpPr>
        <p:spPr>
          <a:xfrm>
            <a:off x="5791200" y="990600"/>
            <a:ext cx="5902960" cy="282705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26034" rIns="0" bIns="0" rtlCol="0">
            <a:spAutoFit/>
          </a:bodyPr>
          <a:lstStyle/>
          <a:p>
            <a:pPr lvl="1"/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The pre element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pre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Text in a pre </a:t>
            </a:r>
          </a:p>
          <a:p>
            <a:pPr lvl="1"/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is displayed in a fixed-width</a:t>
            </a:r>
          </a:p>
          <a:p>
            <a:pPr lvl="1"/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both      spaces</a:t>
            </a:r>
          </a:p>
          <a:p>
            <a:pPr lvl="1"/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and</a:t>
            </a:r>
          </a:p>
          <a:p>
            <a:pPr lvl="1"/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line breaks</a:t>
            </a:r>
          </a:p>
          <a:p>
            <a:pPr lvl="1"/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pre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434B128-AEB7-25D6-0F1D-A55CACBD2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4114800"/>
            <a:ext cx="4267200" cy="229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066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3277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Quebra</a:t>
            </a:r>
            <a:r>
              <a:rPr sz="3600" spc="-95" dirty="0"/>
              <a:t> </a:t>
            </a:r>
            <a:r>
              <a:rPr sz="3600" spc="-5" dirty="0"/>
              <a:t>de</a:t>
            </a:r>
            <a:r>
              <a:rPr sz="3600" spc="-95" dirty="0"/>
              <a:t> </a:t>
            </a:r>
            <a:r>
              <a:rPr sz="3600" dirty="0"/>
              <a:t>linha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762000" y="3505200"/>
            <a:ext cx="9530080" cy="2667000"/>
            <a:chOff x="803148" y="3037332"/>
            <a:chExt cx="9530080" cy="20650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3148" y="3037332"/>
              <a:ext cx="9529572" cy="20650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8200" y="3073908"/>
              <a:ext cx="9406255" cy="1940560"/>
            </a:xfrm>
            <a:custGeom>
              <a:avLst/>
              <a:gdLst/>
              <a:ahLst/>
              <a:cxnLst/>
              <a:rect l="l" t="t" r="r" b="b"/>
              <a:pathLst>
                <a:path w="9406255" h="1940560">
                  <a:moveTo>
                    <a:pt x="9406128" y="0"/>
                  </a:moveTo>
                  <a:lnTo>
                    <a:pt x="0" y="0"/>
                  </a:lnTo>
                  <a:lnTo>
                    <a:pt x="0" y="1940052"/>
                  </a:lnTo>
                  <a:lnTo>
                    <a:pt x="9406128" y="1940052"/>
                  </a:lnTo>
                  <a:lnTo>
                    <a:pt x="94061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8962" y="3074670"/>
              <a:ext cx="9406255" cy="1940560"/>
            </a:xfrm>
            <a:custGeom>
              <a:avLst/>
              <a:gdLst/>
              <a:ahLst/>
              <a:cxnLst/>
              <a:rect l="l" t="t" r="r" b="b"/>
              <a:pathLst>
                <a:path w="9406255" h="1940560">
                  <a:moveTo>
                    <a:pt x="0" y="1940052"/>
                  </a:moveTo>
                  <a:lnTo>
                    <a:pt x="9406128" y="1940052"/>
                  </a:lnTo>
                  <a:lnTo>
                    <a:pt x="9406128" y="0"/>
                  </a:lnTo>
                  <a:lnTo>
                    <a:pt x="0" y="0"/>
                  </a:lnTo>
                  <a:lnTo>
                    <a:pt x="0" y="1940052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16939" y="1479295"/>
            <a:ext cx="8618855" cy="45172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6E2E9F"/>
                </a:solidFill>
                <a:latin typeface="Trebuchet MS"/>
                <a:cs typeface="Trebuchet MS"/>
              </a:rPr>
              <a:t>&lt;br&gt;</a:t>
            </a:r>
            <a:endParaRPr sz="2400" dirty="0">
              <a:latin typeface="Trebuchet MS"/>
              <a:cs typeface="Trebuchet MS"/>
            </a:endParaRPr>
          </a:p>
          <a:p>
            <a:pPr marL="12700" marR="501015">
              <a:lnSpc>
                <a:spcPct val="100000"/>
              </a:lnSpc>
            </a:pPr>
            <a:r>
              <a:rPr spc="-5" dirty="0">
                <a:latin typeface="Trebuchet MS"/>
                <a:cs typeface="Trebuchet MS"/>
              </a:rPr>
              <a:t>Como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você</a:t>
            </a:r>
            <a:r>
              <a:rPr spc="50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já</a:t>
            </a:r>
            <a:r>
              <a:rPr spc="5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viu,</a:t>
            </a:r>
            <a:r>
              <a:rPr spc="45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o</a:t>
            </a:r>
            <a:r>
              <a:rPr spc="25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navegador</a:t>
            </a:r>
            <a:r>
              <a:rPr spc="-30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mostrará</a:t>
            </a:r>
            <a:r>
              <a:rPr spc="10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automaticamente cada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novo</a:t>
            </a:r>
            <a:r>
              <a:rPr spc="60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parágrafo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ou</a:t>
            </a:r>
            <a:r>
              <a:rPr spc="35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título </a:t>
            </a:r>
            <a:r>
              <a:rPr spc="-470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em</a:t>
            </a:r>
            <a:r>
              <a:rPr spc="-2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uma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nova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linha.</a:t>
            </a:r>
            <a:endParaRPr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pc="-10" dirty="0">
                <a:latin typeface="Trebuchet MS"/>
                <a:cs typeface="Trebuchet MS"/>
              </a:rPr>
              <a:t>Mas</a:t>
            </a:r>
            <a:r>
              <a:rPr spc="155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se</a:t>
            </a:r>
            <a:r>
              <a:rPr spc="185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você</a:t>
            </a:r>
            <a:r>
              <a:rPr spc="195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quiser</a:t>
            </a:r>
            <a:r>
              <a:rPr spc="160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adicionar</a:t>
            </a:r>
            <a:r>
              <a:rPr spc="140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uma</a:t>
            </a:r>
            <a:r>
              <a:rPr spc="150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quebra</a:t>
            </a:r>
            <a:r>
              <a:rPr spc="170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de</a:t>
            </a:r>
            <a:r>
              <a:rPr spc="175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linha</a:t>
            </a:r>
            <a:r>
              <a:rPr spc="180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no</a:t>
            </a:r>
            <a:r>
              <a:rPr spc="175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meio</a:t>
            </a:r>
            <a:r>
              <a:rPr spc="175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de</a:t>
            </a:r>
            <a:r>
              <a:rPr spc="180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um</a:t>
            </a:r>
            <a:r>
              <a:rPr spc="150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parágrafo,</a:t>
            </a:r>
            <a:r>
              <a:rPr spc="140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pode</a:t>
            </a:r>
            <a:r>
              <a:rPr spc="180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usar</a:t>
            </a:r>
            <a:r>
              <a:rPr spc="155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a</a:t>
            </a:r>
            <a:r>
              <a:rPr lang="en-US" spc="-5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tag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de</a:t>
            </a:r>
            <a:r>
              <a:rPr spc="5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quebra</a:t>
            </a:r>
            <a:r>
              <a:rPr spc="-40"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de</a:t>
            </a:r>
            <a:r>
              <a:rPr dirty="0">
                <a:latin typeface="Trebuchet MS"/>
                <a:cs typeface="Trebuchet MS"/>
              </a:rPr>
              <a:t> </a:t>
            </a:r>
            <a:r>
              <a:rPr spc="-5" dirty="0">
                <a:latin typeface="Trebuchet MS"/>
                <a:cs typeface="Trebuchet MS"/>
              </a:rPr>
              <a:t>linha</a:t>
            </a:r>
            <a:r>
              <a:rPr spc="10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&lt;br&gt;.</a:t>
            </a:r>
            <a:endParaRPr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lang="en-US"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400" spc="-5" dirty="0">
                <a:solidFill>
                  <a:srgbClr val="549CD4"/>
                </a:solidFill>
                <a:latin typeface="Consolas"/>
                <a:cs typeface="Consolas"/>
              </a:rPr>
              <a:t>DOCTYPE</a:t>
            </a:r>
            <a:r>
              <a:rPr sz="1400" spc="-9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C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34734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400" spc="-8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C"/>
                </a:solidFill>
                <a:latin typeface="Consolas"/>
                <a:cs typeface="Consolas"/>
              </a:rPr>
              <a:t>lang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34734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meta</a:t>
            </a:r>
            <a:r>
              <a:rPr sz="1400" spc="-4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C"/>
                </a:solidFill>
                <a:latin typeface="Consolas"/>
                <a:cs typeface="Consolas"/>
              </a:rPr>
              <a:t>charset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4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spc="-5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Quebra</a:t>
            </a:r>
            <a:r>
              <a:rPr sz="1400" spc="-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de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linha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-5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34734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347345">
              <a:lnSpc>
                <a:spcPts val="1415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683260">
              <a:lnSpc>
                <a:spcPts val="1415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 Terra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br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fica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cem</a:t>
            </a:r>
            <a:r>
              <a:rPr sz="14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vezes mais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pesada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cada dia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br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devido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à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queda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de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poeira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no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espaço.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34734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34400" y="2667000"/>
            <a:ext cx="5687695" cy="2243455"/>
            <a:chOff x="6504431" y="4614671"/>
            <a:chExt cx="5687695" cy="22434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04431" y="4614671"/>
              <a:ext cx="5687568" cy="22433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01027" y="4811267"/>
              <a:ext cx="5143500" cy="18943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34194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/>
              <a:t>Regra</a:t>
            </a:r>
            <a:r>
              <a:rPr sz="3600" spc="-120" dirty="0"/>
              <a:t> </a:t>
            </a:r>
            <a:r>
              <a:rPr sz="3600" spc="-10" dirty="0"/>
              <a:t>Horizontal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67613" y="1710690"/>
            <a:ext cx="829246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100"/>
              </a:spcBef>
            </a:pPr>
            <a:r>
              <a:rPr sz="1800" b="1" dirty="0">
                <a:solidFill>
                  <a:srgbClr val="6E2E9F"/>
                </a:solidFill>
                <a:latin typeface="Trebuchet MS"/>
                <a:cs typeface="Trebuchet MS"/>
              </a:rPr>
              <a:t>&lt;hr&gt;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ts val="1920"/>
              </a:lnSpc>
              <a:spcBef>
                <a:spcPts val="60"/>
              </a:spcBef>
            </a:pPr>
            <a:r>
              <a:rPr sz="1600" spc="-40" dirty="0">
                <a:latin typeface="Trebuchet MS"/>
                <a:cs typeface="Trebuchet MS"/>
              </a:rPr>
              <a:t>Para </a:t>
            </a:r>
            <a:r>
              <a:rPr sz="1600" spc="-5" dirty="0">
                <a:latin typeface="Trebuchet MS"/>
                <a:cs typeface="Trebuchet MS"/>
              </a:rPr>
              <a:t>criar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uma</a:t>
            </a:r>
            <a:r>
              <a:rPr sz="1600" spc="-5" dirty="0">
                <a:latin typeface="Trebuchet MS"/>
                <a:cs typeface="Trebuchet MS"/>
              </a:rPr>
              <a:t> pausa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entre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os</a:t>
            </a:r>
            <a:r>
              <a:rPr sz="1600" spc="3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temas</a:t>
            </a:r>
            <a:r>
              <a:rPr sz="1600" spc="2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-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como</a:t>
            </a:r>
            <a:r>
              <a:rPr sz="1600" spc="2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uma mudança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de</a:t>
            </a:r>
            <a:r>
              <a:rPr sz="1600" spc="-10" dirty="0">
                <a:latin typeface="Trebuchet MS"/>
                <a:cs typeface="Trebuchet MS"/>
              </a:rPr>
              <a:t> tópico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em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um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livro</a:t>
            </a:r>
            <a:r>
              <a:rPr sz="1600" spc="2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ou</a:t>
            </a:r>
            <a:r>
              <a:rPr sz="1600" spc="4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uma </a:t>
            </a:r>
            <a:r>
              <a:rPr sz="1600" spc="-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nova</a:t>
            </a:r>
            <a:r>
              <a:rPr sz="1600" spc="2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cena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em</a:t>
            </a:r>
            <a:r>
              <a:rPr sz="1600" spc="2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uma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peça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-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você</a:t>
            </a:r>
            <a:r>
              <a:rPr sz="1600" spc="3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pode</a:t>
            </a:r>
            <a:r>
              <a:rPr sz="1600" spc="2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adicionar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uma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regra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horizontal</a:t>
            </a:r>
            <a:r>
              <a:rPr sz="1600" spc="4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entre</a:t>
            </a:r>
            <a:r>
              <a:rPr sz="1600" spc="2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seções</a:t>
            </a:r>
            <a:r>
              <a:rPr sz="1600" spc="3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usando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a </a:t>
            </a:r>
            <a:r>
              <a:rPr sz="1600" spc="-46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tag &lt;hr&gt;.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3212" y="2865120"/>
            <a:ext cx="9812020" cy="2391410"/>
            <a:chOff x="553212" y="2865120"/>
            <a:chExt cx="9812020" cy="23914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00571" y="2865120"/>
              <a:ext cx="4264152" cy="22539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7168" y="3060192"/>
              <a:ext cx="3685032" cy="1676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3212" y="3006852"/>
              <a:ext cx="5730240" cy="22494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52401" y="3032760"/>
            <a:ext cx="6053454" cy="2258311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191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330"/>
              </a:spcBef>
            </a:pPr>
            <a:r>
              <a:rPr sz="1200" spc="-1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200" spc="-20" dirty="0">
                <a:solidFill>
                  <a:srgbClr val="549CD4"/>
                </a:solidFill>
                <a:latin typeface="Consolas"/>
                <a:cs typeface="Consolas"/>
              </a:rPr>
              <a:t>D</a:t>
            </a:r>
            <a:r>
              <a:rPr sz="1200" spc="-10" dirty="0">
                <a:solidFill>
                  <a:srgbClr val="549CD4"/>
                </a:solidFill>
                <a:latin typeface="Consolas"/>
                <a:cs typeface="Consolas"/>
              </a:rPr>
              <a:t>O</a:t>
            </a:r>
            <a:r>
              <a:rPr sz="1200" spc="-20" dirty="0">
                <a:solidFill>
                  <a:srgbClr val="549CD4"/>
                </a:solidFill>
                <a:latin typeface="Consolas"/>
                <a:cs typeface="Consolas"/>
              </a:rPr>
              <a:t>C</a:t>
            </a:r>
            <a:r>
              <a:rPr sz="1200" spc="-10" dirty="0">
                <a:solidFill>
                  <a:srgbClr val="549CD4"/>
                </a:solidFill>
                <a:latin typeface="Consolas"/>
                <a:cs typeface="Consolas"/>
              </a:rPr>
              <a:t>TY</a:t>
            </a:r>
            <a:r>
              <a:rPr sz="1200" spc="-2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E</a:t>
            </a:r>
            <a:r>
              <a:rPr sz="1200" spc="-8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200" spc="-20" dirty="0">
                <a:solidFill>
                  <a:srgbClr val="9CDCFC"/>
                </a:solidFill>
                <a:latin typeface="Consolas"/>
                <a:cs typeface="Consolas"/>
              </a:rPr>
              <a:t>h</a:t>
            </a:r>
            <a:r>
              <a:rPr sz="1200" spc="-10" dirty="0">
                <a:solidFill>
                  <a:srgbClr val="9CDCFC"/>
                </a:solidFill>
                <a:latin typeface="Consolas"/>
                <a:cs typeface="Consolas"/>
              </a:rPr>
              <a:t>t</a:t>
            </a:r>
            <a:r>
              <a:rPr sz="1200" spc="-20" dirty="0">
                <a:solidFill>
                  <a:srgbClr val="9CDCFC"/>
                </a:solidFill>
                <a:latin typeface="Consolas"/>
                <a:cs typeface="Consolas"/>
              </a:rPr>
              <a:t>m</a:t>
            </a:r>
            <a:r>
              <a:rPr sz="1200" spc="-10" dirty="0">
                <a:solidFill>
                  <a:srgbClr val="9CDCFC"/>
                </a:solidFill>
                <a:latin typeface="Consolas"/>
                <a:cs typeface="Consolas"/>
              </a:rPr>
              <a:t>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200" spc="-1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15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200" spc="-12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200" spc="-15" dirty="0">
                <a:solidFill>
                  <a:srgbClr val="9CDCFC"/>
                </a:solidFill>
                <a:latin typeface="Consolas"/>
                <a:cs typeface="Consolas"/>
              </a:rPr>
              <a:t>lang</a:t>
            </a:r>
            <a:r>
              <a:rPr sz="1200" spc="-15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200" spc="-15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200" spc="-1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200" spc="-1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1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711835">
              <a:lnSpc>
                <a:spcPct val="100000"/>
              </a:lnSpc>
            </a:pPr>
            <a:r>
              <a:rPr sz="1200" spc="-1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10" dirty="0">
                <a:solidFill>
                  <a:srgbClr val="549CD4"/>
                </a:solidFill>
                <a:latin typeface="Consolas"/>
                <a:cs typeface="Consolas"/>
              </a:rPr>
              <a:t>meta</a:t>
            </a:r>
            <a:r>
              <a:rPr sz="1200" spc="-7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200" spc="-20" dirty="0">
                <a:solidFill>
                  <a:srgbClr val="9CDCFC"/>
                </a:solidFill>
                <a:latin typeface="Consolas"/>
                <a:cs typeface="Consolas"/>
              </a:rPr>
              <a:t>charset</a:t>
            </a:r>
            <a:r>
              <a:rPr sz="1200" spc="-2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200" spc="-2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200" spc="-2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200" dirty="0">
              <a:latin typeface="Consolas"/>
              <a:cs typeface="Consolas"/>
            </a:endParaRPr>
          </a:p>
          <a:p>
            <a:pPr marL="711835">
              <a:lnSpc>
                <a:spcPct val="100000"/>
              </a:lnSpc>
            </a:pPr>
            <a:r>
              <a:rPr sz="1200" spc="-1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15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200" spc="-1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spc="-15" dirty="0">
                <a:solidFill>
                  <a:srgbClr val="D2D2D2"/>
                </a:solidFill>
                <a:latin typeface="Consolas"/>
                <a:cs typeface="Consolas"/>
              </a:rPr>
              <a:t>Regra</a:t>
            </a:r>
            <a:r>
              <a:rPr sz="1200" spc="-8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-15" dirty="0">
                <a:solidFill>
                  <a:srgbClr val="D2D2D2"/>
                </a:solidFill>
                <a:latin typeface="Consolas"/>
                <a:cs typeface="Consolas"/>
              </a:rPr>
              <a:t>Horizontal</a:t>
            </a:r>
            <a:r>
              <a:rPr sz="1200" spc="-1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-15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200" spc="-1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2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-1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200" spc="-1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15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200" spc="-1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711835">
              <a:lnSpc>
                <a:spcPct val="100000"/>
              </a:lnSpc>
            </a:pPr>
            <a:r>
              <a:rPr sz="1200" spc="-1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1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spc="-10" dirty="0">
                <a:solidFill>
                  <a:srgbClr val="D2D2D2"/>
                </a:solidFill>
                <a:latin typeface="Consolas"/>
                <a:cs typeface="Consolas"/>
              </a:rPr>
              <a:t>Vênus</a:t>
            </a:r>
            <a:r>
              <a:rPr sz="1200" spc="-4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é</a:t>
            </a:r>
            <a:r>
              <a:rPr sz="1200" spc="-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o</a:t>
            </a:r>
            <a:r>
              <a:rPr sz="1200" spc="-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D2D2D2"/>
                </a:solidFill>
                <a:latin typeface="Consolas"/>
                <a:cs typeface="Consolas"/>
              </a:rPr>
              <a:t>único</a:t>
            </a:r>
            <a:r>
              <a:rPr sz="1200" spc="-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-15" dirty="0">
                <a:solidFill>
                  <a:srgbClr val="D2D2D2"/>
                </a:solidFill>
                <a:latin typeface="Consolas"/>
                <a:cs typeface="Consolas"/>
              </a:rPr>
              <a:t>planeta</a:t>
            </a:r>
            <a:r>
              <a:rPr sz="1200" spc="-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D2D2D2"/>
                </a:solidFill>
                <a:latin typeface="Consolas"/>
                <a:cs typeface="Consolas"/>
              </a:rPr>
              <a:t>que</a:t>
            </a:r>
            <a:r>
              <a:rPr sz="1200" spc="-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-15" dirty="0">
                <a:solidFill>
                  <a:srgbClr val="D2D2D2"/>
                </a:solidFill>
                <a:latin typeface="Consolas"/>
                <a:cs typeface="Consolas"/>
              </a:rPr>
              <a:t>gira</a:t>
            </a:r>
            <a:r>
              <a:rPr sz="1200" spc="-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2D2D2"/>
                </a:solidFill>
                <a:latin typeface="Consolas"/>
                <a:cs typeface="Consolas"/>
              </a:rPr>
              <a:t>no</a:t>
            </a:r>
            <a:r>
              <a:rPr sz="1200" spc="-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-15" dirty="0">
                <a:solidFill>
                  <a:srgbClr val="D2D2D2"/>
                </a:solidFill>
                <a:latin typeface="Consolas"/>
                <a:cs typeface="Consolas"/>
              </a:rPr>
              <a:t>sentido</a:t>
            </a:r>
            <a:r>
              <a:rPr sz="1200" spc="-20" dirty="0">
                <a:solidFill>
                  <a:srgbClr val="D2D2D2"/>
                </a:solidFill>
                <a:latin typeface="Consolas"/>
                <a:cs typeface="Consolas"/>
              </a:rPr>
              <a:t> horário.</a:t>
            </a:r>
            <a:r>
              <a:rPr sz="1200" spc="-2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-2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spc="-2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711835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10" dirty="0">
                <a:solidFill>
                  <a:srgbClr val="549CD4"/>
                </a:solidFill>
                <a:latin typeface="Consolas"/>
                <a:cs typeface="Consolas"/>
              </a:rPr>
              <a:t>hr</a:t>
            </a:r>
            <a:r>
              <a:rPr sz="1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711835">
              <a:lnSpc>
                <a:spcPct val="100000"/>
              </a:lnSpc>
            </a:pPr>
            <a:r>
              <a:rPr sz="1200" spc="-1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1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spc="-10" dirty="0">
                <a:solidFill>
                  <a:srgbClr val="D2D2D2"/>
                </a:solidFill>
                <a:latin typeface="Consolas"/>
                <a:cs typeface="Consolas"/>
              </a:rPr>
              <a:t>Júpiter</a:t>
            </a:r>
            <a:r>
              <a:rPr sz="1200" spc="-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é</a:t>
            </a:r>
            <a:r>
              <a:rPr sz="1200" spc="-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D2D2D2"/>
                </a:solidFill>
                <a:latin typeface="Consolas"/>
                <a:cs typeface="Consolas"/>
              </a:rPr>
              <a:t>maior</a:t>
            </a:r>
            <a:r>
              <a:rPr sz="1200" spc="-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D2D2D2"/>
                </a:solidFill>
                <a:latin typeface="Consolas"/>
                <a:cs typeface="Consolas"/>
              </a:rPr>
              <a:t>que</a:t>
            </a:r>
            <a:r>
              <a:rPr sz="1200" spc="-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D2D2D2"/>
                </a:solidFill>
                <a:latin typeface="Consolas"/>
                <a:cs typeface="Consolas"/>
              </a:rPr>
              <a:t>todos</a:t>
            </a:r>
            <a:r>
              <a:rPr sz="1200" spc="-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2D2D2"/>
                </a:solidFill>
                <a:latin typeface="Consolas"/>
                <a:cs typeface="Consolas"/>
              </a:rPr>
              <a:t>os</a:t>
            </a:r>
            <a:r>
              <a:rPr sz="1200" spc="-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D2D2D2"/>
                </a:solidFill>
                <a:latin typeface="Consolas"/>
                <a:cs typeface="Consolas"/>
              </a:rPr>
              <a:t>outros</a:t>
            </a:r>
            <a:r>
              <a:rPr sz="1200" spc="-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-15" dirty="0">
                <a:solidFill>
                  <a:srgbClr val="D2D2D2"/>
                </a:solidFill>
                <a:latin typeface="Consolas"/>
                <a:cs typeface="Consolas"/>
              </a:rPr>
              <a:t>planetas</a:t>
            </a:r>
            <a:r>
              <a:rPr sz="1200" spc="-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-15" dirty="0">
                <a:solidFill>
                  <a:srgbClr val="D2D2D2"/>
                </a:solidFill>
                <a:latin typeface="Consolas"/>
                <a:cs typeface="Consolas"/>
              </a:rPr>
              <a:t>combinados.</a:t>
            </a:r>
            <a:r>
              <a:rPr sz="1200" spc="-1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-15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spc="-1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2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-1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101600">
              <a:lnSpc>
                <a:spcPct val="100000"/>
              </a:lnSpc>
            </a:pPr>
            <a:r>
              <a:rPr sz="1200" spc="-1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-15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200" spc="-1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8460" y="5413247"/>
            <a:ext cx="4457700" cy="952500"/>
          </a:xfrm>
          <a:prstGeom prst="rect">
            <a:avLst/>
          </a:prstGeom>
          <a:solidFill>
            <a:srgbClr val="00AEEE"/>
          </a:solidFill>
        </p:spPr>
        <p:txBody>
          <a:bodyPr vert="horz" wrap="square" lIns="0" tIns="36830" rIns="0" bIns="0" rtlCol="0">
            <a:spAutoFit/>
          </a:bodyPr>
          <a:lstStyle/>
          <a:p>
            <a:pPr marL="91440" marR="69215" algn="just">
              <a:lnSpc>
                <a:spcPct val="100000"/>
              </a:lnSpc>
              <a:spcBef>
                <a:spcPts val="290"/>
              </a:spcBef>
            </a:pPr>
            <a:r>
              <a:rPr sz="1400" spc="-5" dirty="0">
                <a:latin typeface="Trebuchet MS"/>
                <a:cs typeface="Trebuchet MS"/>
              </a:rPr>
              <a:t>No HTML </a:t>
            </a:r>
            <a:r>
              <a:rPr sz="1400" spc="-10" dirty="0">
                <a:latin typeface="Trebuchet MS"/>
                <a:cs typeface="Trebuchet MS"/>
              </a:rPr>
              <a:t>existem alguns elementos que </a:t>
            </a:r>
            <a:r>
              <a:rPr sz="1400" spc="-5" dirty="0">
                <a:latin typeface="Trebuchet MS"/>
                <a:cs typeface="Trebuchet MS"/>
              </a:rPr>
              <a:t>não </a:t>
            </a:r>
            <a:r>
              <a:rPr sz="1400" spc="-10" dirty="0">
                <a:latin typeface="Trebuchet MS"/>
                <a:cs typeface="Trebuchet MS"/>
              </a:rPr>
              <a:t>contém 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nenhuma</a:t>
            </a:r>
            <a:r>
              <a:rPr sz="1400" spc="-5" dirty="0">
                <a:latin typeface="Trebuchet MS"/>
                <a:cs typeface="Trebuchet MS"/>
              </a:rPr>
              <a:t> palavra</a:t>
            </a:r>
            <a:r>
              <a:rPr sz="140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entre</a:t>
            </a:r>
            <a:r>
              <a:rPr sz="1400" spc="-5" dirty="0">
                <a:latin typeface="Trebuchet MS"/>
                <a:cs typeface="Trebuchet MS"/>
              </a:rPr>
              <a:t> uma</a:t>
            </a:r>
            <a:r>
              <a:rPr sz="140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tag</a:t>
            </a:r>
            <a:r>
              <a:rPr sz="1400" spc="-5" dirty="0">
                <a:latin typeface="Trebuchet MS"/>
                <a:cs typeface="Trebuchet MS"/>
              </a:rPr>
              <a:t> de</a:t>
            </a:r>
            <a:r>
              <a:rPr sz="1400" dirty="0">
                <a:latin typeface="Trebuchet MS"/>
                <a:cs typeface="Trebuchet MS"/>
              </a:rPr>
              <a:t> </a:t>
            </a:r>
            <a:r>
              <a:rPr sz="1400" spc="-15" dirty="0">
                <a:latin typeface="Trebuchet MS"/>
                <a:cs typeface="Trebuchet MS"/>
              </a:rPr>
              <a:t>abertura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 </a:t>
            </a:r>
            <a:r>
              <a:rPr sz="1400" spc="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fechamento.</a:t>
            </a:r>
            <a:r>
              <a:rPr sz="1400" spc="-5" dirty="0">
                <a:latin typeface="Trebuchet MS"/>
                <a:cs typeface="Trebuchet MS"/>
              </a:rPr>
              <a:t> Eles</a:t>
            </a:r>
            <a:r>
              <a:rPr sz="140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são</a:t>
            </a:r>
            <a:r>
              <a:rPr sz="140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conhecidos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como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b="1" spc="-15" dirty="0">
                <a:latin typeface="Trebuchet MS"/>
                <a:cs typeface="Trebuchet MS"/>
              </a:rPr>
              <a:t>elementos </a:t>
            </a:r>
            <a:r>
              <a:rPr sz="1400" b="1" spc="-409" dirty="0">
                <a:latin typeface="Trebuchet MS"/>
                <a:cs typeface="Trebuchet MS"/>
              </a:rPr>
              <a:t> </a:t>
            </a:r>
            <a:r>
              <a:rPr sz="1400" b="1" spc="-5" dirty="0">
                <a:latin typeface="Trebuchet MS"/>
                <a:cs typeface="Trebuchet MS"/>
              </a:rPr>
              <a:t>vazios</a:t>
            </a:r>
            <a:r>
              <a:rPr sz="1400" b="1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e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são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escritos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de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forma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diferente.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4156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Marcação</a:t>
            </a:r>
            <a:r>
              <a:rPr sz="3600" spc="-140" dirty="0"/>
              <a:t> </a:t>
            </a:r>
            <a:r>
              <a:rPr sz="3600" spc="-5" dirty="0"/>
              <a:t>semântica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85800" y="1524000"/>
            <a:ext cx="10140595" cy="510139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55600" marR="5080" indent="-342900" algn="just">
              <a:lnSpc>
                <a:spcPct val="101699"/>
              </a:lnSpc>
              <a:spcBef>
                <a:spcPts val="60"/>
              </a:spcBef>
            </a:pPr>
            <a:r>
              <a:rPr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pc="45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Existem</a:t>
            </a:r>
            <a:r>
              <a:rPr sz="2400" spc="5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alguns elementos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texto que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não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se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destinam</a:t>
            </a:r>
            <a:r>
              <a:rPr sz="2400" spc="5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a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afetar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a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estrutura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spc="1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suas</a:t>
            </a:r>
            <a:r>
              <a:rPr sz="2400" spc="1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páginas</a:t>
            </a:r>
            <a:r>
              <a:rPr sz="2400" spc="1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2400" spc="1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Web,</a:t>
            </a:r>
            <a:r>
              <a:rPr sz="2400" spc="1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mas</a:t>
            </a:r>
            <a:r>
              <a:rPr sz="2400" spc="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adicionam</a:t>
            </a:r>
            <a:r>
              <a:rPr sz="2400" spc="1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informações</a:t>
            </a:r>
            <a:r>
              <a:rPr sz="2400" spc="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extras</a:t>
            </a:r>
            <a:r>
              <a:rPr sz="2400" spc="1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às</a:t>
            </a:r>
            <a:r>
              <a:rPr sz="2400" spc="1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páginas</a:t>
            </a:r>
            <a:r>
              <a:rPr sz="2400" spc="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2400" spc="1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elas </a:t>
            </a:r>
            <a:r>
              <a:rPr sz="2400" spc="-5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são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conhecidas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como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rebuchet MS"/>
                <a:cs typeface="Trebuchet MS"/>
              </a:rPr>
              <a:t>marcação</a:t>
            </a:r>
            <a:r>
              <a:rPr sz="2400" b="1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-5" dirty="0" err="1">
                <a:solidFill>
                  <a:srgbClr val="FF0000"/>
                </a:solidFill>
                <a:latin typeface="Trebuchet MS"/>
                <a:cs typeface="Trebuchet MS"/>
              </a:rPr>
              <a:t>semântica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lang="en-US" sz="2400" spc="-5" dirty="0">
              <a:solidFill>
                <a:srgbClr val="404040"/>
              </a:solidFill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1699"/>
              </a:lnSpc>
              <a:spcBef>
                <a:spcPts val="60"/>
              </a:spcBef>
            </a:pPr>
            <a:endParaRPr sz="2400" dirty="0">
              <a:latin typeface="Trebuchet MS"/>
              <a:cs typeface="Trebuchet MS"/>
            </a:endParaRPr>
          </a:p>
          <a:p>
            <a:pPr marL="355600" marR="5715" indent="-342900" algn="just">
              <a:lnSpc>
                <a:spcPct val="101699"/>
              </a:lnSpc>
              <a:spcBef>
                <a:spcPts val="890"/>
              </a:spcBef>
            </a:pPr>
            <a:r>
              <a:rPr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Os navegadores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geralmente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exibem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conteúdo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desses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elementos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maneira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diferente. 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Por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exemplo,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conteúdo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do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elemento &lt;em&gt;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é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mostrado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em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itálico,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4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&lt;blockquote&gt;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4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geralmente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 err="1">
                <a:solidFill>
                  <a:srgbClr val="404040"/>
                </a:solidFill>
                <a:latin typeface="Trebuchet MS"/>
                <a:cs typeface="Trebuchet MS"/>
              </a:rPr>
              <a:t>indentado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lang="en-US" sz="2400" spc="-5" dirty="0">
              <a:solidFill>
                <a:srgbClr val="404040"/>
              </a:solidFill>
              <a:latin typeface="Trebuchet MS"/>
              <a:cs typeface="Trebuchet MS"/>
            </a:endParaRPr>
          </a:p>
          <a:p>
            <a:pPr marL="355600" marR="5715" indent="-342900" algn="just">
              <a:lnSpc>
                <a:spcPct val="101699"/>
              </a:lnSpc>
              <a:spcBef>
                <a:spcPts val="890"/>
              </a:spcBef>
            </a:pPr>
            <a:endParaRPr sz="24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935"/>
              </a:spcBef>
            </a:pPr>
            <a:r>
              <a:rPr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pc="50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Mas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rebuchet MS"/>
                <a:cs typeface="Trebuchet MS"/>
              </a:rPr>
              <a:t>não</a:t>
            </a:r>
            <a:r>
              <a:rPr sz="2400" b="1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rebuchet MS"/>
                <a:cs typeface="Trebuchet MS"/>
              </a:rPr>
              <a:t>deve usá-los</a:t>
            </a:r>
            <a:r>
              <a:rPr sz="2400" b="1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mudar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rebuchet MS"/>
                <a:cs typeface="Trebuchet MS"/>
              </a:rPr>
              <a:t>aparência</a:t>
            </a:r>
            <a:r>
              <a:rPr sz="2400" b="1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seu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 err="1">
                <a:solidFill>
                  <a:srgbClr val="404040"/>
                </a:solidFill>
                <a:latin typeface="Trebuchet MS"/>
                <a:cs typeface="Trebuchet MS"/>
              </a:rPr>
              <a:t>texto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lang="en-US" sz="2400" spc="-5" dirty="0">
              <a:solidFill>
                <a:srgbClr val="404040"/>
              </a:solidFill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935"/>
              </a:spcBef>
            </a:pPr>
            <a:endParaRPr sz="24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pc="520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Seu</a:t>
            </a:r>
            <a:r>
              <a:rPr sz="2400" spc="4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objetivo</a:t>
            </a:r>
            <a:r>
              <a:rPr sz="2400" spc="43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400" spc="4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rebuchet MS"/>
                <a:cs typeface="Trebuchet MS"/>
              </a:rPr>
              <a:t>descrever</a:t>
            </a:r>
            <a:r>
              <a:rPr sz="2400" b="1" spc="5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400" spc="459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rebuchet MS"/>
                <a:cs typeface="Trebuchet MS"/>
              </a:rPr>
              <a:t>conteúdo</a:t>
            </a:r>
            <a:r>
              <a:rPr sz="2400" b="1" spc="43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spc="459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suas</a:t>
            </a:r>
            <a:r>
              <a:rPr sz="2400" spc="459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páginas</a:t>
            </a:r>
            <a:r>
              <a:rPr sz="2400" spc="4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2400" spc="4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web</a:t>
            </a:r>
            <a:r>
              <a:rPr sz="2400" spc="4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com</a:t>
            </a:r>
            <a:r>
              <a:rPr sz="2400" spc="4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 err="1">
                <a:solidFill>
                  <a:srgbClr val="404040"/>
                </a:solidFill>
                <a:latin typeface="Trebuchet MS"/>
                <a:cs typeface="Trebuchet MS"/>
              </a:rPr>
              <a:t>mais</a:t>
            </a:r>
            <a:r>
              <a:rPr lang="en-US"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spc="-5" dirty="0" err="1">
                <a:solidFill>
                  <a:srgbClr val="FF0000"/>
                </a:solidFill>
                <a:latin typeface="Trebuchet MS"/>
                <a:cs typeface="Trebuchet MS"/>
              </a:rPr>
              <a:t>precisão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5A6003-FD23-6392-C0B3-C1956A9F4EA5}"/>
              </a:ext>
            </a:extLst>
          </p:cNvPr>
          <p:cNvSpPr/>
          <p:nvPr/>
        </p:nvSpPr>
        <p:spPr>
          <a:xfrm>
            <a:off x="914400" y="4800600"/>
            <a:ext cx="9677400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F3CC5E1-7492-8D09-80AD-67D8E55CB567}"/>
              </a:ext>
            </a:extLst>
          </p:cNvPr>
          <p:cNvCxnSpPr>
            <a:cxnSpLocks/>
          </p:cNvCxnSpPr>
          <p:nvPr/>
        </p:nvCxnSpPr>
        <p:spPr>
          <a:xfrm flipH="1">
            <a:off x="6172200" y="4419600"/>
            <a:ext cx="48006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4156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Marcação</a:t>
            </a:r>
            <a:r>
              <a:rPr sz="3600" spc="-140" dirty="0"/>
              <a:t> </a:t>
            </a:r>
            <a:r>
              <a:rPr sz="3600" spc="-5" dirty="0"/>
              <a:t>semântica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09601" y="1676400"/>
            <a:ext cx="10515600" cy="4833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450" spc="51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razão</a:t>
            </a:r>
            <a:r>
              <a:rPr sz="2400" spc="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400" spc="1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usar</a:t>
            </a:r>
            <a:r>
              <a:rPr sz="2400" spc="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esses</a:t>
            </a:r>
            <a:r>
              <a:rPr sz="2400" spc="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elementos</a:t>
            </a:r>
            <a:r>
              <a:rPr sz="2400" spc="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400" spc="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400" spc="1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outros</a:t>
            </a:r>
            <a:r>
              <a:rPr sz="2400" spc="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programas,</a:t>
            </a:r>
            <a:r>
              <a:rPr sz="2400" spc="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rebuchet MS"/>
                <a:cs typeface="Trebuchet MS"/>
              </a:rPr>
              <a:t>como</a:t>
            </a:r>
            <a:r>
              <a:rPr sz="2400" spc="11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spc="-5" dirty="0" err="1">
                <a:solidFill>
                  <a:srgbClr val="0000FF"/>
                </a:solidFill>
                <a:latin typeface="Trebuchet MS"/>
                <a:cs typeface="Trebuchet MS"/>
              </a:rPr>
              <a:t>leitores</a:t>
            </a:r>
            <a:r>
              <a:rPr sz="2400" spc="10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spc="15" dirty="0">
                <a:solidFill>
                  <a:srgbClr val="0000FF"/>
                </a:solidFill>
                <a:latin typeface="Trebuchet MS"/>
                <a:cs typeface="Trebuchet MS"/>
              </a:rPr>
              <a:t>de</a:t>
            </a:r>
            <a:r>
              <a:rPr lang="en-US" sz="2400" spc="1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spc="-5" dirty="0" err="1">
                <a:solidFill>
                  <a:srgbClr val="0000FF"/>
                </a:solidFill>
                <a:latin typeface="Trebuchet MS"/>
                <a:cs typeface="Trebuchet MS"/>
              </a:rPr>
              <a:t>tela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ou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Trebuchet MS"/>
                <a:cs typeface="Trebuchet MS"/>
              </a:rPr>
              <a:t>mecanismos</a:t>
            </a:r>
            <a:r>
              <a:rPr sz="2400" spc="-3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00FF"/>
                </a:solidFill>
                <a:latin typeface="Trebuchet MS"/>
                <a:cs typeface="Trebuchet MS"/>
              </a:rPr>
              <a:t>de</a:t>
            </a:r>
            <a:r>
              <a:rPr sz="2400" spc="-1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0000FF"/>
                </a:solidFill>
                <a:latin typeface="Trebuchet MS"/>
                <a:cs typeface="Trebuchet MS"/>
              </a:rPr>
              <a:t>pesquisa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podem</a:t>
            </a:r>
            <a:r>
              <a:rPr sz="24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usar</a:t>
            </a:r>
            <a:r>
              <a:rPr sz="24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essas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informações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extras.</a:t>
            </a:r>
            <a:endParaRPr lang="en-US" sz="2400" spc="-5" dirty="0">
              <a:solidFill>
                <a:srgbClr val="404040"/>
              </a:solidFill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1699"/>
              </a:lnSpc>
              <a:spcBef>
                <a:spcPts val="890"/>
              </a:spcBef>
            </a:pPr>
            <a:r>
              <a:rPr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Por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exemplo,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voz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 um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leitor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tela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pode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dar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ênfase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às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palavras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dentro </a:t>
            </a:r>
            <a:r>
              <a:rPr sz="2400" spc="5" dirty="0">
                <a:solidFill>
                  <a:srgbClr val="FF0000"/>
                </a:solidFill>
                <a:latin typeface="Trebuchet MS"/>
                <a:cs typeface="Trebuchet MS"/>
              </a:rPr>
              <a:t>do </a:t>
            </a:r>
            <a:r>
              <a:rPr sz="2400" spc="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elemento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C000"/>
                </a:solidFill>
                <a:latin typeface="Trebuchet MS"/>
                <a:cs typeface="Trebuchet MS"/>
              </a:rPr>
              <a:t>&lt;em&gt;,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ou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um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mecanismo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pesquisa pode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registrar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que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sua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página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apresenta</a:t>
            </a:r>
            <a:r>
              <a:rPr sz="2400" spc="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uma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citação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se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usar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o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elemento </a:t>
            </a:r>
            <a:r>
              <a:rPr sz="2400" spc="-5" dirty="0">
                <a:solidFill>
                  <a:srgbClr val="FFC000"/>
                </a:solidFill>
                <a:latin typeface="Trebuchet MS"/>
                <a:cs typeface="Trebuchet MS"/>
              </a:rPr>
              <a:t>&lt;blockquote&gt;.</a:t>
            </a:r>
            <a:endParaRPr lang="en-US" sz="2400" spc="-5" dirty="0">
              <a:solidFill>
                <a:srgbClr val="FFC000"/>
              </a:solidFill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1699"/>
              </a:lnSpc>
              <a:spcBef>
                <a:spcPts val="890"/>
              </a:spcBef>
            </a:pPr>
            <a:endParaRPr sz="2400" dirty="0">
              <a:latin typeface="Trebuchet MS"/>
              <a:cs typeface="Trebuchet MS"/>
            </a:endParaRPr>
          </a:p>
          <a:p>
            <a:pPr marL="355600" marR="6985" indent="-342900" algn="just">
              <a:lnSpc>
                <a:spcPct val="101400"/>
              </a:lnSpc>
              <a:spcBef>
                <a:spcPts val="905"/>
              </a:spcBef>
            </a:pPr>
            <a:r>
              <a:rPr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Com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linguagem CSS,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é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ideal que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conteúdo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seja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estilizado via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propriedades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CSS,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não via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tags HTML,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que retira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necessidade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utilizar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as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tags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acima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fins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visuais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 as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torna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úteis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uso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semântico.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0331" y="4422647"/>
            <a:ext cx="11631168" cy="2359152"/>
            <a:chOff x="370331" y="4422647"/>
            <a:chExt cx="11631168" cy="235915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4422647"/>
              <a:ext cx="11631168" cy="22509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06908" y="4457698"/>
              <a:ext cx="11506200" cy="2324101"/>
            </a:xfrm>
            <a:custGeom>
              <a:avLst/>
              <a:gdLst/>
              <a:ahLst/>
              <a:cxnLst/>
              <a:rect l="l" t="t" r="r" b="b"/>
              <a:pathLst>
                <a:path w="11506200" h="2125979">
                  <a:moveTo>
                    <a:pt x="11506200" y="0"/>
                  </a:moveTo>
                  <a:lnTo>
                    <a:pt x="0" y="0"/>
                  </a:lnTo>
                  <a:lnTo>
                    <a:pt x="0" y="2125980"/>
                  </a:lnTo>
                  <a:lnTo>
                    <a:pt x="11506200" y="212598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7669" y="4458461"/>
              <a:ext cx="11506200" cy="2125980"/>
            </a:xfrm>
            <a:custGeom>
              <a:avLst/>
              <a:gdLst/>
              <a:ahLst/>
              <a:cxnLst/>
              <a:rect l="l" t="t" r="r" b="b"/>
              <a:pathLst>
                <a:path w="11506200" h="2125979">
                  <a:moveTo>
                    <a:pt x="0" y="2125980"/>
                  </a:moveTo>
                  <a:lnTo>
                    <a:pt x="11506200" y="2125980"/>
                  </a:lnTo>
                  <a:lnTo>
                    <a:pt x="11506200" y="0"/>
                  </a:lnTo>
                  <a:lnTo>
                    <a:pt x="0" y="0"/>
                  </a:lnTo>
                  <a:lnTo>
                    <a:pt x="0" y="2125980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57099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Marcação</a:t>
            </a:r>
            <a:r>
              <a:rPr sz="3600" spc="-65" dirty="0"/>
              <a:t> </a:t>
            </a:r>
            <a:r>
              <a:rPr sz="3600" spc="-5" dirty="0"/>
              <a:t>semântica</a:t>
            </a:r>
            <a:r>
              <a:rPr sz="3600" spc="-60" dirty="0"/>
              <a:t> </a:t>
            </a:r>
            <a:r>
              <a:rPr sz="3600" dirty="0"/>
              <a:t>-</a:t>
            </a:r>
            <a:r>
              <a:rPr sz="3600" spc="-105" dirty="0"/>
              <a:t> </a:t>
            </a:r>
            <a:r>
              <a:rPr sz="3600" spc="-80" dirty="0"/>
              <a:t>Texto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682548" y="1409847"/>
            <a:ext cx="9071052" cy="142539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2000" b="1" spc="-5" dirty="0">
                <a:solidFill>
                  <a:srgbClr val="6E2E9F"/>
                </a:solidFill>
                <a:latin typeface="Trebuchet MS"/>
                <a:cs typeface="Trebuchet MS"/>
              </a:rPr>
              <a:t>&lt;strong&gt;</a:t>
            </a:r>
            <a:endParaRPr sz="2000" dirty="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5"/>
              </a:spcBef>
            </a:pP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O uso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do elemento 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&lt;strong&gt; indica </a:t>
            </a:r>
            <a:r>
              <a:rPr spc="-10" dirty="0">
                <a:solidFill>
                  <a:srgbClr val="404040"/>
                </a:solidFill>
                <a:latin typeface="Trebuchet MS"/>
                <a:cs typeface="Trebuchet MS"/>
              </a:rPr>
              <a:t>que 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seu </a:t>
            </a:r>
            <a:r>
              <a:rPr spc="-5" dirty="0">
                <a:solidFill>
                  <a:srgbClr val="FF0000"/>
                </a:solidFill>
                <a:latin typeface="Trebuchet MS"/>
                <a:cs typeface="Trebuchet MS"/>
              </a:rPr>
              <a:t>conteúdo tem forte importância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. </a:t>
            </a:r>
            <a:r>
              <a:rPr spc="-45" dirty="0">
                <a:solidFill>
                  <a:srgbClr val="404040"/>
                </a:solidFill>
                <a:latin typeface="Trebuchet MS"/>
                <a:cs typeface="Trebuchet MS"/>
              </a:rPr>
              <a:t>Por</a:t>
            </a:r>
            <a:r>
              <a:rPr spc="3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exemplo,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as </a:t>
            </a:r>
            <a:r>
              <a:rPr spc="-10" dirty="0">
                <a:solidFill>
                  <a:srgbClr val="404040"/>
                </a:solidFill>
                <a:latin typeface="Trebuchet MS"/>
                <a:cs typeface="Trebuchet MS"/>
              </a:rPr>
              <a:t>palavras contidas 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neste elemento </a:t>
            </a:r>
            <a:r>
              <a:rPr spc="-10" dirty="0">
                <a:solidFill>
                  <a:srgbClr val="404040"/>
                </a:solidFill>
                <a:latin typeface="Trebuchet MS"/>
                <a:cs typeface="Trebuchet MS"/>
              </a:rPr>
              <a:t>podem 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ser ditas com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forte 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ênfase. </a:t>
            </a:r>
            <a:r>
              <a:rPr spc="-45" dirty="0">
                <a:solidFill>
                  <a:srgbClr val="404040"/>
                </a:solidFill>
                <a:latin typeface="Trebuchet MS"/>
                <a:cs typeface="Trebuchet MS"/>
              </a:rPr>
              <a:t>Por 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padrão, </a:t>
            </a:r>
            <a:r>
              <a:rPr spc="-10" dirty="0">
                <a:solidFill>
                  <a:srgbClr val="404040"/>
                </a:solidFill>
                <a:latin typeface="Trebuchet MS"/>
                <a:cs typeface="Trebuchet MS"/>
              </a:rPr>
              <a:t>os 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 navegadores</a:t>
            </a:r>
            <a:r>
              <a:rPr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mostram</a:t>
            </a:r>
            <a:r>
              <a:rPr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conteúdo de</a:t>
            </a:r>
            <a:r>
              <a:rPr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spc="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pc="-5" dirty="0">
                <a:solidFill>
                  <a:srgbClr val="FF0000"/>
                </a:solidFill>
                <a:latin typeface="Trebuchet MS"/>
                <a:cs typeface="Trebuchet MS"/>
              </a:rPr>
              <a:t>&lt;strong&gt;</a:t>
            </a:r>
            <a:r>
              <a:rPr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pc="-5" dirty="0">
                <a:solidFill>
                  <a:srgbClr val="FF0000"/>
                </a:solidFill>
                <a:latin typeface="Trebuchet MS"/>
                <a:cs typeface="Trebuchet MS"/>
              </a:rPr>
              <a:t>em</a:t>
            </a:r>
            <a:r>
              <a:rPr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pc="-5" dirty="0">
                <a:solidFill>
                  <a:srgbClr val="FF0000"/>
                </a:solidFill>
                <a:latin typeface="Trebuchet MS"/>
                <a:cs typeface="Trebuchet MS"/>
              </a:rPr>
              <a:t>negrito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4428" y="4477639"/>
            <a:ext cx="954976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DOCTYPE</a:t>
            </a:r>
            <a:r>
              <a:rPr sz="1200" spc="-10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C"/>
                </a:solidFill>
                <a:latin typeface="Consolas"/>
                <a:cs typeface="Consolas"/>
              </a:rPr>
              <a:t>html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200" spc="-8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C"/>
                </a:solidFill>
                <a:latin typeface="Consolas"/>
                <a:cs typeface="Consolas"/>
              </a:rPr>
              <a:t>lang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5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meta</a:t>
            </a:r>
            <a:r>
              <a:rPr sz="1200" spc="-4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C"/>
                </a:solidFill>
                <a:latin typeface="Consolas"/>
                <a:cs typeface="Consolas"/>
              </a:rPr>
              <a:t>charset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20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Strong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-5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76708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strong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spc="10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Cuidado:</a:t>
            </a:r>
            <a:r>
              <a:rPr sz="12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strong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spc="10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200" spc="5" dirty="0">
                <a:solidFill>
                  <a:srgbClr val="D2D2D2"/>
                </a:solidFill>
                <a:latin typeface="Consolas"/>
                <a:cs typeface="Consolas"/>
              </a:rPr>
              <a:t>Os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 batedores</a:t>
            </a:r>
            <a:r>
              <a:rPr sz="12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de</a:t>
            </a:r>
            <a:r>
              <a:rPr sz="12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carteira roubam</a:t>
            </a:r>
            <a:r>
              <a:rPr sz="12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nesta área.</a:t>
            </a:r>
            <a:r>
              <a:rPr sz="12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5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767080" marR="5080">
              <a:lnSpc>
                <a:spcPct val="100000"/>
              </a:lnSpc>
            </a:pP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5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spc="-5" dirty="0">
                <a:solidFill>
                  <a:srgbClr val="D2D2D2"/>
                </a:solidFill>
                <a:latin typeface="Consolas"/>
                <a:cs typeface="Consolas"/>
              </a:rPr>
              <a:t>Este</a:t>
            </a:r>
            <a:r>
              <a:rPr sz="12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brinquedo</a:t>
            </a:r>
            <a:r>
              <a:rPr sz="1200" spc="4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tem</a:t>
            </a:r>
            <a:r>
              <a:rPr sz="12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muitos</a:t>
            </a:r>
            <a:r>
              <a:rPr sz="12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pedaços</a:t>
            </a:r>
            <a:r>
              <a:rPr sz="12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pequenos</a:t>
            </a:r>
            <a:r>
              <a:rPr sz="12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e</a:t>
            </a:r>
            <a:r>
              <a:rPr sz="1200" spc="4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strong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não</a:t>
            </a:r>
            <a:r>
              <a:rPr sz="1200" spc="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é</a:t>
            </a:r>
            <a:r>
              <a:rPr sz="1200" spc="4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adequado</a:t>
            </a:r>
            <a:r>
              <a:rPr sz="12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para</a:t>
            </a:r>
            <a:r>
              <a:rPr sz="12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crianças</a:t>
            </a:r>
            <a:r>
              <a:rPr sz="12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com</a:t>
            </a:r>
            <a:r>
              <a:rPr sz="12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menos</a:t>
            </a:r>
            <a:r>
              <a:rPr sz="12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de</a:t>
            </a:r>
            <a:r>
              <a:rPr sz="12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cinco </a:t>
            </a:r>
            <a:r>
              <a:rPr sz="1200" spc="-64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anos.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strong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-5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780788" y="2763011"/>
            <a:ext cx="7386955" cy="2778760"/>
            <a:chOff x="4780788" y="2763011"/>
            <a:chExt cx="7386955" cy="277876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0788" y="2763011"/>
              <a:ext cx="7386827" cy="27782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75860" y="2959607"/>
              <a:ext cx="6809232" cy="21991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57099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Marcação</a:t>
            </a:r>
            <a:r>
              <a:rPr sz="3600" spc="-65" dirty="0"/>
              <a:t> </a:t>
            </a:r>
            <a:r>
              <a:rPr sz="3600" spc="-5" dirty="0"/>
              <a:t>semântica</a:t>
            </a:r>
            <a:r>
              <a:rPr sz="3600" spc="-60" dirty="0"/>
              <a:t> </a:t>
            </a:r>
            <a:r>
              <a:rPr sz="3600" dirty="0"/>
              <a:t>-</a:t>
            </a:r>
            <a:r>
              <a:rPr sz="3600" spc="-105" dirty="0"/>
              <a:t> </a:t>
            </a:r>
            <a:r>
              <a:rPr sz="3600" spc="-80" dirty="0"/>
              <a:t>Texto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62000" y="1295400"/>
            <a:ext cx="9149995" cy="1796197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2000" b="1" spc="-10" dirty="0">
                <a:solidFill>
                  <a:srgbClr val="6E2E9F"/>
                </a:solidFill>
                <a:latin typeface="Trebuchet MS"/>
                <a:cs typeface="Trebuchet MS"/>
              </a:rPr>
              <a:t>&lt;em&gt;</a:t>
            </a:r>
            <a:endParaRPr sz="2000" dirty="0">
              <a:latin typeface="Trebuchet MS"/>
              <a:cs typeface="Trebuchet MS"/>
            </a:endParaRPr>
          </a:p>
          <a:p>
            <a:pPr marL="12700" marR="5080">
              <a:lnSpc>
                <a:spcPct val="151900"/>
              </a:lnSpc>
              <a:spcBef>
                <a:spcPts val="15"/>
              </a:spcBef>
            </a:pP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sz="2000" spc="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&lt;em&gt;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indica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ênfase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altera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sutilmente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significado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uma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sentença. </a:t>
            </a:r>
            <a:r>
              <a:rPr sz="2000" spc="-4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Por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padrão,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os</a:t>
            </a:r>
            <a:r>
              <a:rPr sz="2000" spc="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navegadores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mostram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conteúdo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sz="2000" spc="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&lt;em&gt;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itálico.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2272" y="3224777"/>
            <a:ext cx="6073140" cy="2990215"/>
            <a:chOff x="652272" y="3224777"/>
            <a:chExt cx="6073140" cy="29902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272" y="3224777"/>
              <a:ext cx="6073139" cy="299009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78180" y="3246119"/>
              <a:ext cx="5971540" cy="2893060"/>
            </a:xfrm>
            <a:custGeom>
              <a:avLst/>
              <a:gdLst/>
              <a:ahLst/>
              <a:cxnLst/>
              <a:rect l="l" t="t" r="r" b="b"/>
              <a:pathLst>
                <a:path w="5971540" h="2893060">
                  <a:moveTo>
                    <a:pt x="5971032" y="0"/>
                  </a:moveTo>
                  <a:lnTo>
                    <a:pt x="0" y="0"/>
                  </a:lnTo>
                  <a:lnTo>
                    <a:pt x="0" y="2892552"/>
                  </a:lnTo>
                  <a:lnTo>
                    <a:pt x="5971032" y="2892552"/>
                  </a:lnTo>
                  <a:lnTo>
                    <a:pt x="59710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8942" y="3246881"/>
              <a:ext cx="5971540" cy="2893060"/>
            </a:xfrm>
            <a:custGeom>
              <a:avLst/>
              <a:gdLst/>
              <a:ahLst/>
              <a:cxnLst/>
              <a:rect l="l" t="t" r="r" b="b"/>
              <a:pathLst>
                <a:path w="5971540" h="2893060">
                  <a:moveTo>
                    <a:pt x="0" y="2892552"/>
                  </a:moveTo>
                  <a:lnTo>
                    <a:pt x="5971032" y="2892552"/>
                  </a:lnTo>
                  <a:lnTo>
                    <a:pt x="5971032" y="0"/>
                  </a:lnTo>
                  <a:lnTo>
                    <a:pt x="0" y="0"/>
                  </a:lnTo>
                  <a:lnTo>
                    <a:pt x="0" y="2892552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68781" y="3236722"/>
            <a:ext cx="5991860" cy="291338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84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DOCTYPE</a:t>
            </a:r>
            <a:r>
              <a:rPr sz="1400" spc="-7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C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92759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400" spc="-5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C"/>
                </a:solidFill>
                <a:latin typeface="Consolas"/>
                <a:cs typeface="Consolas"/>
              </a:rPr>
              <a:t>lang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92759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88773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meta</a:t>
            </a:r>
            <a:r>
              <a:rPr sz="1400" spc="-10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9CDCFC"/>
                </a:solidFill>
                <a:latin typeface="Consolas"/>
                <a:cs typeface="Consolas"/>
              </a:rPr>
              <a:t>charset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400" spc="5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400">
              <a:latin typeface="Consolas"/>
              <a:cs typeface="Consolas"/>
            </a:endParaRPr>
          </a:p>
          <a:p>
            <a:pPr marL="88773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Emphasis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92759">
              <a:lnSpc>
                <a:spcPts val="1655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92759">
              <a:lnSpc>
                <a:spcPts val="1655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887730">
              <a:lnSpc>
                <a:spcPct val="100000"/>
              </a:lnSpc>
              <a:spcBef>
                <a:spcPts val="70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15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Eu</a:t>
            </a:r>
            <a:r>
              <a:rPr sz="1400" spc="-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em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30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acho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em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15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que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Ivy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foi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o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 primeiro.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5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887730">
              <a:lnSpc>
                <a:spcPct val="100000"/>
              </a:lnSpc>
            </a:pP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spc="-5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20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Eu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acho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que</a:t>
            </a:r>
            <a:r>
              <a:rPr sz="1400" spc="4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spc="5" dirty="0">
                <a:solidFill>
                  <a:srgbClr val="549CD4"/>
                </a:solidFill>
                <a:latin typeface="Consolas"/>
                <a:cs typeface="Consolas"/>
              </a:rPr>
              <a:t>em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10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Ivy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em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25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foi</a:t>
            </a:r>
            <a:r>
              <a:rPr sz="1400" spc="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o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primeiro.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88773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15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Eu</a:t>
            </a:r>
            <a:r>
              <a:rPr sz="1400" spc="-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acho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que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o</a:t>
            </a:r>
            <a:r>
              <a:rPr sz="1400" spc="4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Ivy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foi</a:t>
            </a:r>
            <a:r>
              <a:rPr sz="14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o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spc="5" dirty="0">
                <a:solidFill>
                  <a:srgbClr val="549CD4"/>
                </a:solidFill>
                <a:latin typeface="Consolas"/>
                <a:cs typeface="Consolas"/>
              </a:rPr>
              <a:t>em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10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primeiro</a:t>
            </a:r>
            <a:endParaRPr sz="1400">
              <a:latin typeface="Consolas"/>
              <a:cs typeface="Consolas"/>
            </a:endParaRPr>
          </a:p>
          <a:p>
            <a:pPr marL="99695">
              <a:lnSpc>
                <a:spcPct val="100000"/>
              </a:lnSpc>
            </a:pP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5" dirty="0">
                <a:solidFill>
                  <a:srgbClr val="549CD4"/>
                </a:solidFill>
                <a:latin typeface="Consolas"/>
                <a:cs typeface="Consolas"/>
              </a:rPr>
              <a:t>em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.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5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92759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99695">
              <a:lnSpc>
                <a:spcPct val="100000"/>
              </a:lnSpc>
            </a:pP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-5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595871" y="3124200"/>
            <a:ext cx="4876800" cy="3145790"/>
            <a:chOff x="6595871" y="3124200"/>
            <a:chExt cx="4876800" cy="314579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95871" y="3124200"/>
              <a:ext cx="4876800" cy="31455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2467" y="3319271"/>
              <a:ext cx="4297680" cy="25679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" y="3200400"/>
            <a:ext cx="11939016" cy="3657600"/>
            <a:chOff x="111252" y="3898391"/>
            <a:chExt cx="11939016" cy="2654808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3898391"/>
              <a:ext cx="11939016" cy="261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7828" y="3934966"/>
              <a:ext cx="11812905" cy="2618233"/>
            </a:xfrm>
            <a:custGeom>
              <a:avLst/>
              <a:gdLst/>
              <a:ahLst/>
              <a:cxnLst/>
              <a:rect l="l" t="t" r="r" b="b"/>
              <a:pathLst>
                <a:path w="11812905" h="2491740">
                  <a:moveTo>
                    <a:pt x="11812524" y="0"/>
                  </a:moveTo>
                  <a:lnTo>
                    <a:pt x="0" y="0"/>
                  </a:lnTo>
                  <a:lnTo>
                    <a:pt x="0" y="2491739"/>
                  </a:lnTo>
                  <a:lnTo>
                    <a:pt x="11812524" y="2491739"/>
                  </a:lnTo>
                  <a:lnTo>
                    <a:pt x="118125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148589" y="3935730"/>
              <a:ext cx="11812905" cy="2491740"/>
            </a:xfrm>
            <a:custGeom>
              <a:avLst/>
              <a:gdLst/>
              <a:ahLst/>
              <a:cxnLst/>
              <a:rect l="l" t="t" r="r" b="b"/>
              <a:pathLst>
                <a:path w="11812905" h="2491740">
                  <a:moveTo>
                    <a:pt x="0" y="2491740"/>
                  </a:moveTo>
                  <a:lnTo>
                    <a:pt x="11812524" y="2491740"/>
                  </a:lnTo>
                  <a:lnTo>
                    <a:pt x="11812524" y="0"/>
                  </a:lnTo>
                  <a:lnTo>
                    <a:pt x="0" y="0"/>
                  </a:lnTo>
                  <a:lnTo>
                    <a:pt x="0" y="2491740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58318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Marcação</a:t>
            </a:r>
            <a:r>
              <a:rPr sz="3600" spc="-65" dirty="0"/>
              <a:t> </a:t>
            </a:r>
            <a:r>
              <a:rPr sz="3600" dirty="0"/>
              <a:t>semântica</a:t>
            </a:r>
            <a:r>
              <a:rPr sz="3600" spc="-80" dirty="0"/>
              <a:t> </a:t>
            </a:r>
            <a:r>
              <a:rPr sz="3600" dirty="0"/>
              <a:t>-</a:t>
            </a:r>
            <a:r>
              <a:rPr sz="3600" spc="-55" dirty="0"/>
              <a:t> </a:t>
            </a:r>
            <a:r>
              <a:rPr sz="3600" dirty="0"/>
              <a:t>Quote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355463" y="1360423"/>
            <a:ext cx="400050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6E2E9F"/>
                </a:solidFill>
                <a:latin typeface="Trebuchet MS"/>
                <a:cs typeface="Trebuchet MS"/>
              </a:rPr>
              <a:t>&lt;q&gt;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rebuchet MS"/>
                <a:cs typeface="Trebuchet MS"/>
              </a:rPr>
              <a:t>O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elemento</a:t>
            </a:r>
            <a:r>
              <a:rPr sz="1600" spc="1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&lt;q&gt;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é usado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para</a:t>
            </a:r>
            <a:r>
              <a:rPr sz="1600" dirty="0"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rebuchet MS"/>
                <a:cs typeface="Trebuchet MS"/>
              </a:rPr>
              <a:t>citações</a:t>
            </a:r>
            <a:r>
              <a:rPr sz="1600" b="1" spc="20" dirty="0">
                <a:latin typeface="Trebuchet MS"/>
                <a:cs typeface="Trebuchet MS"/>
              </a:rPr>
              <a:t> </a:t>
            </a:r>
            <a:r>
              <a:rPr sz="1600" spc="-15" dirty="0">
                <a:latin typeface="Trebuchet MS"/>
                <a:cs typeface="Trebuchet MS"/>
              </a:rPr>
              <a:t>mais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FF0000"/>
                </a:solidFill>
                <a:latin typeface="Trebuchet MS"/>
                <a:cs typeface="Trebuchet MS"/>
              </a:rPr>
              <a:t>curtas</a:t>
            </a:r>
            <a:r>
              <a:rPr sz="1600" b="1" spc="-1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que</a:t>
            </a:r>
            <a:r>
              <a:rPr sz="1600" spc="1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ficam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b="1" spc="-5" dirty="0">
                <a:latin typeface="Trebuchet MS"/>
                <a:cs typeface="Trebuchet MS"/>
              </a:rPr>
              <a:t>dentro</a:t>
            </a:r>
            <a:r>
              <a:rPr sz="1600" b="1" spc="1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de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um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b="1" spc="-20" dirty="0">
                <a:latin typeface="Trebuchet MS"/>
                <a:cs typeface="Trebuchet MS"/>
              </a:rPr>
              <a:t>parágrafo</a:t>
            </a:r>
            <a:r>
              <a:rPr sz="1600" spc="-20" dirty="0">
                <a:latin typeface="Trebuchet MS"/>
                <a:cs typeface="Trebuchet MS"/>
              </a:rPr>
              <a:t>.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6872" y="3956430"/>
            <a:ext cx="12346128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3260" marR="5080">
              <a:lnSpc>
                <a:spcPct val="100000"/>
              </a:lnSpc>
            </a:pPr>
            <a:endParaRPr lang="en-US" sz="1200" dirty="0">
              <a:latin typeface="Consolas"/>
              <a:cs typeface="Consola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6D273E-7B28-5F70-56D8-CD23AE561CD7}"/>
              </a:ext>
            </a:extLst>
          </p:cNvPr>
          <p:cNvSpPr txBox="1"/>
          <p:nvPr/>
        </p:nvSpPr>
        <p:spPr>
          <a:xfrm>
            <a:off x="381000" y="1219200"/>
            <a:ext cx="4724400" cy="2282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1230"/>
              </a:spcBef>
            </a:pPr>
            <a:r>
              <a:rPr lang="pt-BR" sz="2000" b="1" spc="-5" dirty="0">
                <a:solidFill>
                  <a:srgbClr val="6E2E9F"/>
                </a:solidFill>
                <a:latin typeface="Trebuchet MS"/>
                <a:cs typeface="Trebuchet MS"/>
              </a:rPr>
              <a:t>&lt;cite&gt;</a:t>
            </a:r>
          </a:p>
          <a:p>
            <a:pPr marL="180340">
              <a:lnSpc>
                <a:spcPct val="100000"/>
              </a:lnSpc>
              <a:spcBef>
                <a:spcPts val="1005"/>
              </a:spcBef>
            </a:pP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Quando</a:t>
            </a:r>
            <a:r>
              <a:rPr lang="pt-BR" sz="1600" spc="1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lang="pt-BR" sz="1600" spc="1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está</a:t>
            </a:r>
            <a:r>
              <a:rPr lang="pt-BR" sz="1600" spc="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fazendo</a:t>
            </a:r>
            <a:r>
              <a:rPr lang="pt-BR" sz="1600" spc="1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FF0000"/>
                </a:solidFill>
                <a:latin typeface="Trebuchet MS"/>
                <a:cs typeface="Trebuchet MS"/>
              </a:rPr>
              <a:t>referência</a:t>
            </a:r>
            <a:r>
              <a:rPr lang="pt-BR" sz="1600" spc="11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lang="pt-BR" sz="1600" spc="1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FF0000"/>
                </a:solidFill>
                <a:latin typeface="Trebuchet MS"/>
                <a:cs typeface="Trebuchet MS"/>
              </a:rPr>
              <a:t>um</a:t>
            </a:r>
            <a:r>
              <a:rPr lang="pt-BR" sz="1600" spc="1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pt-BR" sz="1600" spc="-10" dirty="0">
                <a:solidFill>
                  <a:srgbClr val="FF0000"/>
                </a:solidFill>
                <a:latin typeface="Trebuchet MS"/>
                <a:cs typeface="Trebuchet MS"/>
              </a:rPr>
              <a:t>trabalho</a:t>
            </a:r>
            <a:r>
              <a:rPr lang="pt-BR" sz="1600" spc="-1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lang="pt-BR" sz="1600" spc="1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como</a:t>
            </a:r>
            <a:r>
              <a:rPr lang="pt-BR" sz="1600" spc="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lang="pt-BR" sz="1600" spc="1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FF0000"/>
                </a:solidFill>
                <a:latin typeface="Trebuchet MS"/>
                <a:cs typeface="Trebuchet MS"/>
              </a:rPr>
              <a:t>livro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lang="pt-BR" sz="1600" spc="1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FF0000"/>
                </a:solidFill>
                <a:latin typeface="Trebuchet MS"/>
                <a:cs typeface="Trebuchet MS"/>
              </a:rPr>
              <a:t>filme</a:t>
            </a:r>
            <a:r>
              <a:rPr lang="pt-BR" sz="1600" spc="1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10" dirty="0">
                <a:solidFill>
                  <a:srgbClr val="404040"/>
                </a:solidFill>
                <a:latin typeface="Trebuchet MS"/>
                <a:cs typeface="Trebuchet MS"/>
              </a:rPr>
              <a:t>ou</a:t>
            </a:r>
            <a:r>
              <a:rPr lang="pt-BR" sz="1600" spc="1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trabalho</a:t>
            </a:r>
            <a:r>
              <a:rPr lang="pt-BR" sz="1600" spc="1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1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endParaRPr lang="pt-BR" sz="1600" dirty="0">
              <a:latin typeface="Trebuchet MS"/>
              <a:cs typeface="Trebuchet MS"/>
            </a:endParaRPr>
          </a:p>
          <a:p>
            <a:pPr marL="180340">
              <a:lnSpc>
                <a:spcPct val="100000"/>
              </a:lnSpc>
            </a:pPr>
            <a:r>
              <a:rPr lang="pt-BR" sz="1600" spc="-5" dirty="0">
                <a:solidFill>
                  <a:srgbClr val="FF0000"/>
                </a:solidFill>
                <a:latin typeface="Trebuchet MS"/>
                <a:cs typeface="Trebuchet MS"/>
              </a:rPr>
              <a:t>pesquisa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lang="pt-BR" sz="1600" spc="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lang="pt-BR" sz="1600" spc="1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lang="pt-BR" sz="1600" spc="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&lt;cite&gt;</a:t>
            </a:r>
            <a:r>
              <a:rPr lang="pt-BR" sz="1600" spc="1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10" dirty="0">
                <a:solidFill>
                  <a:srgbClr val="404040"/>
                </a:solidFill>
                <a:latin typeface="Trebuchet MS"/>
                <a:cs typeface="Trebuchet MS"/>
              </a:rPr>
              <a:t>pode</a:t>
            </a:r>
            <a:r>
              <a:rPr lang="pt-BR" sz="1600" spc="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ser</a:t>
            </a:r>
            <a:r>
              <a:rPr lang="pt-BR" sz="1600" spc="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10" dirty="0">
                <a:solidFill>
                  <a:srgbClr val="404040"/>
                </a:solidFill>
                <a:latin typeface="Trebuchet MS"/>
                <a:cs typeface="Trebuchet MS"/>
              </a:rPr>
              <a:t>usado</a:t>
            </a:r>
            <a:r>
              <a:rPr lang="pt-BR" sz="1600" spc="1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10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lang="pt-BR" sz="1600" spc="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10" dirty="0">
                <a:solidFill>
                  <a:srgbClr val="404040"/>
                </a:solidFill>
                <a:latin typeface="Trebuchet MS"/>
                <a:cs typeface="Trebuchet MS"/>
              </a:rPr>
              <a:t>indicar</a:t>
            </a:r>
            <a:r>
              <a:rPr lang="pt-BR" sz="1600" spc="1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lang="pt-BR" sz="1600" spc="1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10" dirty="0">
                <a:solidFill>
                  <a:srgbClr val="404040"/>
                </a:solidFill>
                <a:latin typeface="Trebuchet MS"/>
                <a:cs typeface="Trebuchet MS"/>
              </a:rPr>
              <a:t>onde</a:t>
            </a:r>
            <a:r>
              <a:rPr lang="pt-BR" sz="1600" spc="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lang="pt-BR" sz="1600" spc="1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lang="pt-BR" sz="1600" spc="1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citação.</a:t>
            </a:r>
            <a:r>
              <a:rPr lang="pt-BR" sz="1600" spc="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10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lang="pt-BR" sz="1600" spc="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10" dirty="0">
                <a:solidFill>
                  <a:srgbClr val="404040"/>
                </a:solidFill>
                <a:latin typeface="Trebuchet MS"/>
                <a:cs typeface="Trebuchet MS"/>
              </a:rPr>
              <a:t>HTML5,</a:t>
            </a:r>
            <a:endParaRPr lang="pt-BR" sz="1600" dirty="0">
              <a:latin typeface="Trebuchet MS"/>
              <a:cs typeface="Trebuchet MS"/>
            </a:endParaRPr>
          </a:p>
          <a:p>
            <a:pPr marL="180340">
              <a:lnSpc>
                <a:spcPct val="100000"/>
              </a:lnSpc>
            </a:pP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&lt;cite&gt;</a:t>
            </a:r>
            <a:r>
              <a:rPr lang="pt-BR" sz="16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não deve</a:t>
            </a:r>
            <a:r>
              <a:rPr lang="pt-BR"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ser</a:t>
            </a:r>
            <a:r>
              <a:rPr lang="pt-BR"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10" dirty="0">
                <a:solidFill>
                  <a:srgbClr val="404040"/>
                </a:solidFill>
                <a:latin typeface="Trebuchet MS"/>
                <a:cs typeface="Trebuchet MS"/>
              </a:rPr>
              <a:t>usado</a:t>
            </a:r>
            <a:r>
              <a:rPr lang="pt-BR"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lang="pt-BR"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lang="pt-BR"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10" dirty="0">
                <a:solidFill>
                  <a:srgbClr val="404040"/>
                </a:solidFill>
                <a:latin typeface="Trebuchet MS"/>
                <a:cs typeface="Trebuchet MS"/>
              </a:rPr>
              <a:t>nome</a:t>
            </a:r>
            <a:r>
              <a:rPr lang="pt-BR" sz="16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lang="pt-BR" sz="16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10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lang="pt-BR"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600" spc="-5" dirty="0">
                <a:solidFill>
                  <a:srgbClr val="404040"/>
                </a:solidFill>
                <a:latin typeface="Trebuchet MS"/>
                <a:cs typeface="Trebuchet MS"/>
              </a:rPr>
              <a:t>pessoa.</a:t>
            </a:r>
            <a:endParaRPr lang="pt-BR" sz="1600" dirty="0">
              <a:latin typeface="Trebuchet MS"/>
              <a:cs typeface="Trebuchet MS"/>
            </a:endParaRP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20F0DE-559E-2092-92C6-BEEE3B143390}"/>
              </a:ext>
            </a:extLst>
          </p:cNvPr>
          <p:cNvSpPr txBox="1"/>
          <p:nvPr/>
        </p:nvSpPr>
        <p:spPr>
          <a:xfrm>
            <a:off x="152400" y="3810000"/>
            <a:ext cx="10591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O elemento é utilizado para declarar que naquele trecho há uma citação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cite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https://www.devmedia.com.br/html-semantico-conheca-os-elementos-semanticos-da-html5/38065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cite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6E773B9-10F4-835B-B9B8-F68414EA8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3200400"/>
            <a:ext cx="95250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583" y="617982"/>
            <a:ext cx="858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Marcação</a:t>
            </a:r>
            <a:r>
              <a:rPr spc="20" dirty="0"/>
              <a:t> </a:t>
            </a:r>
            <a:r>
              <a:rPr dirty="0"/>
              <a:t>semântica</a:t>
            </a:r>
            <a:r>
              <a:rPr spc="15" dirty="0"/>
              <a:t> </a:t>
            </a:r>
            <a:r>
              <a:rPr dirty="0"/>
              <a:t>-</a:t>
            </a:r>
            <a:r>
              <a:rPr spc="-185" dirty="0"/>
              <a:t> </a:t>
            </a:r>
            <a:r>
              <a:rPr spc="-5" dirty="0"/>
              <a:t>Abreviações</a:t>
            </a:r>
            <a:r>
              <a:rPr spc="20" dirty="0"/>
              <a:t> </a:t>
            </a:r>
            <a:r>
              <a:rPr dirty="0"/>
              <a:t>e</a:t>
            </a:r>
            <a:r>
              <a:rPr spc="-25" dirty="0"/>
              <a:t> </a:t>
            </a:r>
            <a:r>
              <a:rPr spc="-5" dirty="0"/>
              <a:t>acrônimos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005" y="1461715"/>
            <a:ext cx="8078470" cy="1059180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1800" b="1" spc="-5" dirty="0">
                <a:solidFill>
                  <a:srgbClr val="6E2E9F"/>
                </a:solidFill>
                <a:latin typeface="Trebuchet MS"/>
                <a:cs typeface="Trebuchet MS"/>
              </a:rPr>
              <a:t>&lt;abbr&gt;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Se</a:t>
            </a:r>
            <a:r>
              <a:rPr sz="16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1600" spc="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usar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abreviação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ou</a:t>
            </a:r>
            <a:r>
              <a:rPr sz="1600" spc="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um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acrônimo,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6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&lt;abbr&gt;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poderá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ser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usado.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Um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atributo</a:t>
            </a:r>
            <a:r>
              <a:rPr sz="16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título</a:t>
            </a:r>
            <a:r>
              <a:rPr sz="16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na</a:t>
            </a:r>
            <a:r>
              <a:rPr sz="16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tag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6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abertura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16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usado para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especificar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600" spc="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termo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completo.</a:t>
            </a:r>
            <a:endParaRPr sz="16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26948" y="2654807"/>
            <a:ext cx="8369934" cy="2062480"/>
            <a:chOff x="726948" y="2654807"/>
            <a:chExt cx="8369934" cy="20624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6948" y="2654807"/>
              <a:ext cx="8369808" cy="20619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2000" y="2689859"/>
              <a:ext cx="8244840" cy="1938655"/>
            </a:xfrm>
            <a:custGeom>
              <a:avLst/>
              <a:gdLst/>
              <a:ahLst/>
              <a:cxnLst/>
              <a:rect l="l" t="t" r="r" b="b"/>
              <a:pathLst>
                <a:path w="8244840" h="1938654">
                  <a:moveTo>
                    <a:pt x="8244840" y="0"/>
                  </a:moveTo>
                  <a:lnTo>
                    <a:pt x="0" y="0"/>
                  </a:lnTo>
                  <a:lnTo>
                    <a:pt x="0" y="1938527"/>
                  </a:lnTo>
                  <a:lnTo>
                    <a:pt x="8244840" y="1938527"/>
                  </a:lnTo>
                  <a:lnTo>
                    <a:pt x="82448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2762" y="2690621"/>
              <a:ext cx="8244840" cy="1938655"/>
            </a:xfrm>
            <a:custGeom>
              <a:avLst/>
              <a:gdLst/>
              <a:ahLst/>
              <a:cxnLst/>
              <a:rect l="l" t="t" r="r" b="b"/>
              <a:pathLst>
                <a:path w="8244840" h="1938654">
                  <a:moveTo>
                    <a:pt x="0" y="1938527"/>
                  </a:moveTo>
                  <a:lnTo>
                    <a:pt x="8244840" y="1938527"/>
                  </a:lnTo>
                  <a:lnTo>
                    <a:pt x="8244840" y="0"/>
                  </a:lnTo>
                  <a:lnTo>
                    <a:pt x="0" y="0"/>
                  </a:lnTo>
                  <a:lnTo>
                    <a:pt x="0" y="1938527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52601" y="2680461"/>
            <a:ext cx="8265159" cy="195897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15"/>
              </a:spcBef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DOCTYPE</a:t>
            </a:r>
            <a:r>
              <a:rPr sz="1200" spc="-10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C"/>
                </a:solidFill>
                <a:latin typeface="Consolas"/>
                <a:cs typeface="Consolas"/>
              </a:rPr>
              <a:t>html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43815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200" spc="-8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C"/>
                </a:solidFill>
                <a:latin typeface="Consolas"/>
                <a:cs typeface="Consolas"/>
              </a:rPr>
              <a:t>lang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43815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771525">
              <a:lnSpc>
                <a:spcPct val="100000"/>
              </a:lnSpc>
            </a:pP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5" dirty="0">
                <a:solidFill>
                  <a:srgbClr val="549CD4"/>
                </a:solidFill>
                <a:latin typeface="Consolas"/>
                <a:cs typeface="Consolas"/>
              </a:rPr>
              <a:t>meta</a:t>
            </a:r>
            <a:r>
              <a:rPr sz="1200" spc="-5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9CDCFC"/>
                </a:solidFill>
                <a:latin typeface="Consolas"/>
                <a:cs typeface="Consolas"/>
              </a:rPr>
              <a:t>charset</a:t>
            </a:r>
            <a:r>
              <a:rPr sz="1200" spc="-5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200" spc="-5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200">
              <a:latin typeface="Consolas"/>
              <a:cs typeface="Consolas"/>
            </a:endParaRPr>
          </a:p>
          <a:p>
            <a:pPr marL="77152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Citações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438150">
              <a:lnSpc>
                <a:spcPts val="142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438150">
              <a:lnSpc>
                <a:spcPts val="142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771525">
              <a:lnSpc>
                <a:spcPct val="100000"/>
              </a:lnSpc>
            </a:pP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A 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abbr</a:t>
            </a:r>
            <a:r>
              <a:rPr sz="1200" spc="1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C"/>
                </a:solidFill>
                <a:latin typeface="Consolas"/>
                <a:cs typeface="Consolas"/>
              </a:rPr>
              <a:t>title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"World</a:t>
            </a:r>
            <a:r>
              <a:rPr sz="1200" spc="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Health</a:t>
            </a:r>
            <a:r>
              <a:rPr sz="1200" spc="1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Organization"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WHO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abbr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spc="40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foi fundada</a:t>
            </a:r>
            <a:r>
              <a:rPr sz="12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5" dirty="0">
                <a:solidFill>
                  <a:srgbClr val="D2D2D2"/>
                </a:solidFill>
                <a:latin typeface="Consolas"/>
                <a:cs typeface="Consolas"/>
              </a:rPr>
              <a:t>em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1948.</a:t>
            </a:r>
            <a:endParaRPr sz="1200">
              <a:latin typeface="Consolas"/>
              <a:cs typeface="Consolas"/>
            </a:endParaRPr>
          </a:p>
          <a:p>
            <a:pPr marL="43815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00965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118360" y="4561331"/>
            <a:ext cx="5721350" cy="2296795"/>
            <a:chOff x="2118360" y="4561331"/>
            <a:chExt cx="5721350" cy="229679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8360" y="4561331"/>
              <a:ext cx="5721095" cy="229666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3432" y="4757928"/>
              <a:ext cx="5143500" cy="18867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63271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Marcação</a:t>
            </a:r>
            <a:r>
              <a:rPr sz="3600" spc="-70" dirty="0"/>
              <a:t> </a:t>
            </a:r>
            <a:r>
              <a:rPr sz="3600" spc="-5" dirty="0"/>
              <a:t>semântica</a:t>
            </a:r>
            <a:r>
              <a:rPr sz="3600" spc="-55" dirty="0"/>
              <a:t> </a:t>
            </a:r>
            <a:r>
              <a:rPr sz="3600" dirty="0"/>
              <a:t>-</a:t>
            </a:r>
            <a:r>
              <a:rPr sz="3600" spc="-50" dirty="0"/>
              <a:t> </a:t>
            </a:r>
            <a:r>
              <a:rPr sz="3600" spc="-5" dirty="0"/>
              <a:t>Citações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510539" y="3108959"/>
            <a:ext cx="11075797" cy="3700271"/>
            <a:chOff x="510539" y="3108959"/>
            <a:chExt cx="11075797" cy="3700271"/>
          </a:xfrm>
        </p:grpSpPr>
        <p:sp>
          <p:nvSpPr>
            <p:cNvPr id="4" name="object 4"/>
            <p:cNvSpPr/>
            <p:nvPr/>
          </p:nvSpPr>
          <p:spPr>
            <a:xfrm>
              <a:off x="510539" y="3108959"/>
              <a:ext cx="11075035" cy="2148841"/>
            </a:xfrm>
            <a:custGeom>
              <a:avLst/>
              <a:gdLst/>
              <a:ahLst/>
              <a:cxnLst/>
              <a:rect l="l" t="t" r="r" b="b"/>
              <a:pathLst>
                <a:path w="11075035" h="1938654">
                  <a:moveTo>
                    <a:pt x="11074908" y="0"/>
                  </a:moveTo>
                  <a:lnTo>
                    <a:pt x="0" y="0"/>
                  </a:lnTo>
                  <a:lnTo>
                    <a:pt x="0" y="1938527"/>
                  </a:lnTo>
                  <a:lnTo>
                    <a:pt x="11074908" y="1938527"/>
                  </a:lnTo>
                  <a:lnTo>
                    <a:pt x="11074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511301" y="3109721"/>
              <a:ext cx="11075035" cy="1938655"/>
            </a:xfrm>
            <a:custGeom>
              <a:avLst/>
              <a:gdLst/>
              <a:ahLst/>
              <a:cxnLst/>
              <a:rect l="l" t="t" r="r" b="b"/>
              <a:pathLst>
                <a:path w="11075035" h="1938654">
                  <a:moveTo>
                    <a:pt x="0" y="1938527"/>
                  </a:moveTo>
                  <a:lnTo>
                    <a:pt x="11074908" y="1938527"/>
                  </a:lnTo>
                  <a:lnTo>
                    <a:pt x="11074908" y="0"/>
                  </a:lnTo>
                  <a:lnTo>
                    <a:pt x="0" y="0"/>
                  </a:lnTo>
                  <a:lnTo>
                    <a:pt x="0" y="1938527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4531" y="4610098"/>
              <a:ext cx="8052815" cy="21991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1127" y="4805172"/>
              <a:ext cx="7475220" cy="162153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87755" y="1566235"/>
            <a:ext cx="9972675" cy="5323252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1230"/>
              </a:spcBef>
            </a:pPr>
            <a:r>
              <a:rPr sz="1800" b="1" spc="-5" dirty="0">
                <a:solidFill>
                  <a:srgbClr val="6E2E9F"/>
                </a:solidFill>
                <a:latin typeface="Trebuchet MS"/>
                <a:cs typeface="Trebuchet MS"/>
              </a:rPr>
              <a:t>&lt;cite&gt;</a:t>
            </a:r>
            <a:endParaRPr sz="1800" dirty="0">
              <a:latin typeface="Trebuchet MS"/>
              <a:cs typeface="Trebuchet MS"/>
            </a:endParaRPr>
          </a:p>
          <a:p>
            <a:pPr marL="180340">
              <a:lnSpc>
                <a:spcPct val="100000"/>
              </a:lnSpc>
              <a:spcBef>
                <a:spcPts val="1005"/>
              </a:spcBef>
            </a:pP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Quando</a:t>
            </a:r>
            <a:r>
              <a:rPr sz="1600" spc="1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1600" spc="1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está</a:t>
            </a:r>
            <a:r>
              <a:rPr sz="1600" spc="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fazendo</a:t>
            </a:r>
            <a:r>
              <a:rPr sz="1600" spc="1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referência</a:t>
            </a:r>
            <a:r>
              <a:rPr sz="1600" spc="11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1600" spc="1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um</a:t>
            </a:r>
            <a:r>
              <a:rPr sz="1600" spc="1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rebuchet MS"/>
                <a:cs typeface="Trebuchet MS"/>
              </a:rPr>
              <a:t>trabalho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600" spc="1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como</a:t>
            </a:r>
            <a:r>
              <a:rPr sz="1600" spc="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1600" spc="1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livro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600" spc="1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filme</a:t>
            </a:r>
            <a:r>
              <a:rPr sz="1600" spc="1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ou</a:t>
            </a:r>
            <a:r>
              <a:rPr sz="1600" spc="1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trabalho</a:t>
            </a:r>
            <a:r>
              <a:rPr sz="1600" spc="1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endParaRPr sz="1600" dirty="0">
              <a:latin typeface="Trebuchet MS"/>
              <a:cs typeface="Trebuchet MS"/>
            </a:endParaRPr>
          </a:p>
          <a:p>
            <a:pPr marL="180340">
              <a:lnSpc>
                <a:spcPct val="100000"/>
              </a:lnSpc>
            </a:pP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pesquisa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600" spc="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600" spc="1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sz="1600" spc="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&lt;cite&gt;</a:t>
            </a:r>
            <a:r>
              <a:rPr sz="1600" spc="1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pode</a:t>
            </a:r>
            <a:r>
              <a:rPr sz="1600" spc="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ser</a:t>
            </a:r>
            <a:r>
              <a:rPr sz="1600" spc="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usado</a:t>
            </a:r>
            <a:r>
              <a:rPr sz="1600" spc="1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1600" spc="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indicar</a:t>
            </a:r>
            <a:r>
              <a:rPr sz="1600" spc="1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600" spc="1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onde</a:t>
            </a:r>
            <a:r>
              <a:rPr sz="1600" spc="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1600" spc="1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600" spc="1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citação.</a:t>
            </a:r>
            <a:r>
              <a:rPr sz="1600" spc="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1600" spc="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HTML5,</a:t>
            </a:r>
            <a:endParaRPr sz="1600" dirty="0">
              <a:latin typeface="Trebuchet MS"/>
              <a:cs typeface="Trebuchet MS"/>
            </a:endParaRPr>
          </a:p>
          <a:p>
            <a:pPr marL="180340">
              <a:lnSpc>
                <a:spcPct val="100000"/>
              </a:lnSpc>
            </a:pP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&lt;cite&gt;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não deve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ser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usado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nome</a:t>
            </a:r>
            <a:r>
              <a:rPr sz="16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6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pessoa.</a:t>
            </a:r>
            <a:endParaRPr sz="1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9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DOCTYPE</a:t>
            </a:r>
            <a:r>
              <a:rPr sz="1200" spc="-10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C"/>
                </a:solidFill>
                <a:latin typeface="Consolas"/>
                <a:cs typeface="Consolas"/>
              </a:rPr>
              <a:t>html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200" spc="-11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C"/>
                </a:solidFill>
                <a:latin typeface="Consolas"/>
                <a:cs typeface="Consolas"/>
              </a:rPr>
              <a:t>lang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5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5" dirty="0">
                <a:solidFill>
                  <a:srgbClr val="549CD4"/>
                </a:solidFill>
                <a:latin typeface="Consolas"/>
                <a:cs typeface="Consolas"/>
              </a:rPr>
              <a:t>meta</a:t>
            </a:r>
            <a:r>
              <a:rPr sz="1200" spc="-9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C"/>
                </a:solidFill>
                <a:latin typeface="Consolas"/>
                <a:cs typeface="Consolas"/>
              </a:rPr>
              <a:t>charset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2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Citações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-5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347980">
              <a:lnSpc>
                <a:spcPts val="1415"/>
              </a:lnSpc>
            </a:pP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5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683260" marR="5080">
              <a:lnSpc>
                <a:spcPts val="1400"/>
              </a:lnSpc>
              <a:spcBef>
                <a:spcPts val="55"/>
              </a:spcBef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cite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Uma</a:t>
            </a:r>
            <a:r>
              <a:rPr sz="12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Breve</a:t>
            </a:r>
            <a:r>
              <a:rPr sz="12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História</a:t>
            </a:r>
            <a:r>
              <a:rPr sz="12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do</a:t>
            </a:r>
            <a:r>
              <a:rPr sz="12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Tempo</a:t>
            </a:r>
            <a:r>
              <a:rPr sz="12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cite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 </a:t>
            </a:r>
            <a:r>
              <a:rPr sz="1200" spc="5" dirty="0">
                <a:solidFill>
                  <a:srgbClr val="D2D2D2"/>
                </a:solidFill>
                <a:latin typeface="Consolas"/>
                <a:cs typeface="Consolas"/>
              </a:rPr>
              <a:t>de</a:t>
            </a:r>
            <a:r>
              <a:rPr sz="12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Stephen Hawking</a:t>
            </a:r>
            <a:r>
              <a:rPr sz="12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vendeu</a:t>
            </a:r>
            <a:r>
              <a:rPr sz="12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mais de</a:t>
            </a:r>
            <a:r>
              <a:rPr sz="12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dez</a:t>
            </a:r>
            <a:r>
              <a:rPr sz="12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milhões</a:t>
            </a:r>
            <a:r>
              <a:rPr sz="12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de cópias</a:t>
            </a:r>
            <a:r>
              <a:rPr sz="12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em</a:t>
            </a:r>
            <a:r>
              <a:rPr sz="12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todo</a:t>
            </a:r>
            <a:r>
              <a:rPr sz="12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o </a:t>
            </a:r>
            <a:r>
              <a:rPr sz="1200" spc="-64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mundo.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347980">
              <a:lnSpc>
                <a:spcPts val="1405"/>
              </a:lnSpc>
            </a:pP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-5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200" dirty="0">
              <a:latin typeface="Consolas"/>
              <a:cs typeface="Consolas"/>
            </a:endParaRPr>
          </a:p>
          <a:p>
            <a:pPr marL="1089025" marR="7713345">
              <a:lnSpc>
                <a:spcPct val="100000"/>
              </a:lnSpc>
            </a:pPr>
            <a:r>
              <a:rPr sz="1400" spc="-5" dirty="0" err="1">
                <a:solidFill>
                  <a:srgbClr val="FF0000"/>
                </a:solidFill>
                <a:latin typeface="Trebuchet MS"/>
                <a:cs typeface="Trebuchet MS"/>
              </a:rPr>
              <a:t>Os</a:t>
            </a:r>
            <a:r>
              <a:rPr lang="pt-BR" sz="14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10" dirty="0" err="1">
                <a:solidFill>
                  <a:srgbClr val="FF0000"/>
                </a:solidFill>
                <a:latin typeface="Trebuchet MS"/>
                <a:cs typeface="Trebuchet MS"/>
              </a:rPr>
              <a:t>navegadores</a:t>
            </a:r>
            <a:r>
              <a:rPr sz="140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3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rebuchet MS"/>
                <a:cs typeface="Trebuchet MS"/>
              </a:rPr>
              <a:t>renderização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0000"/>
                </a:solidFill>
                <a:latin typeface="Trebuchet MS"/>
                <a:cs typeface="Trebuchet MS"/>
              </a:rPr>
              <a:t>o </a:t>
            </a:r>
            <a:r>
              <a:rPr sz="1400" spc="-3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rebuchet MS"/>
                <a:cs typeface="Trebuchet MS"/>
              </a:rPr>
              <a:t>conteúdo 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de </a:t>
            </a:r>
            <a:r>
              <a:rPr sz="1400" dirty="0">
                <a:solidFill>
                  <a:srgbClr val="FF0000"/>
                </a:solidFill>
                <a:latin typeface="Trebuchet MS"/>
                <a:cs typeface="Trebuchet MS"/>
              </a:rPr>
              <a:t>um </a:t>
            </a:r>
            <a:r>
              <a:rPr sz="140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rebuchet MS"/>
                <a:cs typeface="Trebuchet MS"/>
              </a:rPr>
              <a:t>elemento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rebuchet MS"/>
                <a:cs typeface="Trebuchet MS"/>
              </a:rPr>
              <a:t>&lt;cite&gt; </a:t>
            </a:r>
            <a:r>
              <a:rPr sz="1400" spc="-3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0000"/>
                </a:solidFill>
                <a:latin typeface="Trebuchet MS"/>
                <a:cs typeface="Trebuchet MS"/>
              </a:rPr>
              <a:t>em</a:t>
            </a:r>
            <a:r>
              <a:rPr sz="1400" spc="-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itálico.</a:t>
            </a:r>
            <a:endParaRPr sz="14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3127" y="3089148"/>
            <a:ext cx="11049000" cy="3769360"/>
            <a:chOff x="643127" y="3089148"/>
            <a:chExt cx="11049000" cy="37693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3127" y="3089148"/>
              <a:ext cx="9753600" cy="20650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78179" y="3124200"/>
              <a:ext cx="9629140" cy="1940560"/>
            </a:xfrm>
            <a:custGeom>
              <a:avLst/>
              <a:gdLst/>
              <a:ahLst/>
              <a:cxnLst/>
              <a:rect l="l" t="t" r="r" b="b"/>
              <a:pathLst>
                <a:path w="9629140" h="1940560">
                  <a:moveTo>
                    <a:pt x="9628632" y="0"/>
                  </a:moveTo>
                  <a:lnTo>
                    <a:pt x="0" y="0"/>
                  </a:lnTo>
                  <a:lnTo>
                    <a:pt x="0" y="1940052"/>
                  </a:lnTo>
                  <a:lnTo>
                    <a:pt x="9628632" y="1940052"/>
                  </a:lnTo>
                  <a:lnTo>
                    <a:pt x="96286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8941" y="3124962"/>
              <a:ext cx="9629140" cy="1940560"/>
            </a:xfrm>
            <a:custGeom>
              <a:avLst/>
              <a:gdLst/>
              <a:ahLst/>
              <a:cxnLst/>
              <a:rect l="l" t="t" r="r" b="b"/>
              <a:pathLst>
                <a:path w="9629140" h="1940560">
                  <a:moveTo>
                    <a:pt x="0" y="1940052"/>
                  </a:moveTo>
                  <a:lnTo>
                    <a:pt x="9628632" y="1940052"/>
                  </a:lnTo>
                  <a:lnTo>
                    <a:pt x="9628632" y="0"/>
                  </a:lnTo>
                  <a:lnTo>
                    <a:pt x="0" y="0"/>
                  </a:lnTo>
                  <a:lnTo>
                    <a:pt x="0" y="1940052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0787" y="4645151"/>
              <a:ext cx="6911340" cy="22128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75860" y="4841748"/>
              <a:ext cx="6335268" cy="193242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67081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Marcação</a:t>
            </a:r>
            <a:r>
              <a:rPr sz="3600" spc="-70" dirty="0"/>
              <a:t> </a:t>
            </a:r>
            <a:r>
              <a:rPr sz="3600" spc="-5" dirty="0"/>
              <a:t>semântica</a:t>
            </a:r>
            <a:r>
              <a:rPr sz="3600" spc="-60" dirty="0"/>
              <a:t> </a:t>
            </a:r>
            <a:r>
              <a:rPr sz="3600" dirty="0"/>
              <a:t>-</a:t>
            </a:r>
            <a:r>
              <a:rPr sz="3600" spc="-55" dirty="0"/>
              <a:t> </a:t>
            </a:r>
            <a:r>
              <a:rPr sz="3600" spc="-5" dirty="0"/>
              <a:t>Definições</a:t>
            </a:r>
            <a:endParaRPr sz="3600"/>
          </a:p>
        </p:txBody>
      </p:sp>
      <p:sp>
        <p:nvSpPr>
          <p:cNvPr id="9" name="object 9"/>
          <p:cNvSpPr txBox="1"/>
          <p:nvPr/>
        </p:nvSpPr>
        <p:spPr>
          <a:xfrm>
            <a:off x="756005" y="1325651"/>
            <a:ext cx="9205595" cy="469582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600" b="1" spc="-5" dirty="0">
                <a:solidFill>
                  <a:srgbClr val="6E2E9F"/>
                </a:solidFill>
                <a:latin typeface="Trebuchet MS"/>
                <a:cs typeface="Trebuchet MS"/>
              </a:rPr>
              <a:t>&lt;dfn&gt;</a:t>
            </a:r>
            <a:endParaRPr sz="1600" dirty="0">
              <a:latin typeface="Trebuchet MS"/>
              <a:cs typeface="Trebuchet MS"/>
            </a:endParaRPr>
          </a:p>
          <a:p>
            <a:pPr marL="12700" marR="1699260">
              <a:lnSpc>
                <a:spcPct val="100000"/>
              </a:lnSpc>
              <a:spcBef>
                <a:spcPts val="1010"/>
              </a:spcBef>
            </a:pP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6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primeira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vez</a:t>
            </a:r>
            <a:r>
              <a:rPr sz="16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16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16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explica</a:t>
            </a:r>
            <a:r>
              <a:rPr sz="16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alguma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nova</a:t>
            </a:r>
            <a:r>
              <a:rPr sz="16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terminologia</a:t>
            </a:r>
            <a:r>
              <a:rPr sz="1600" spc="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(talvez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conceito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acadêmico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ou</a:t>
            </a:r>
            <a:r>
              <a:rPr sz="1600" spc="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algum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jargão)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16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documento,</a:t>
            </a:r>
            <a:r>
              <a:rPr sz="16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ela</a:t>
            </a:r>
            <a:r>
              <a:rPr sz="16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16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conhecida</a:t>
            </a:r>
            <a:r>
              <a:rPr sz="1600" spc="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como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a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instância </a:t>
            </a:r>
            <a:r>
              <a:rPr sz="1600" spc="-4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definidora.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sz="16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&lt;dfn&gt; é</a:t>
            </a:r>
            <a:r>
              <a:rPr sz="16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usado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indicar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6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instância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6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definição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de um</a:t>
            </a:r>
            <a:r>
              <a:rPr sz="16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novo</a:t>
            </a:r>
            <a:r>
              <a:rPr sz="1600" spc="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termo.</a:t>
            </a:r>
            <a:endParaRPr sz="1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DOCTYPE</a:t>
            </a:r>
            <a:r>
              <a:rPr sz="1200" spc="-10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C"/>
                </a:solidFill>
                <a:latin typeface="Consolas"/>
                <a:cs typeface="Consolas"/>
              </a:rPr>
              <a:t>html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200" spc="-8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C"/>
                </a:solidFill>
                <a:latin typeface="Consolas"/>
                <a:cs typeface="Consolas"/>
              </a:rPr>
              <a:t>lang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meta</a:t>
            </a:r>
            <a:r>
              <a:rPr sz="1200" spc="-5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C"/>
                </a:solidFill>
                <a:latin typeface="Consolas"/>
                <a:cs typeface="Consolas"/>
              </a:rPr>
              <a:t>charset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2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Definições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-5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347980">
              <a:lnSpc>
                <a:spcPts val="1420"/>
              </a:lnSpc>
              <a:spcBef>
                <a:spcPts val="5"/>
              </a:spcBef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683260">
              <a:lnSpc>
                <a:spcPts val="142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dfn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Um</a:t>
            </a:r>
            <a:r>
              <a:rPr sz="12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buraco</a:t>
            </a:r>
            <a:r>
              <a:rPr sz="12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negro</a:t>
            </a:r>
            <a:r>
              <a:rPr sz="12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dfn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é</a:t>
            </a:r>
            <a:r>
              <a:rPr sz="12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uma</a:t>
            </a:r>
            <a:r>
              <a:rPr sz="12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região</a:t>
            </a:r>
            <a:r>
              <a:rPr sz="12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do espaço</a:t>
            </a:r>
            <a:r>
              <a:rPr sz="12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5" dirty="0">
                <a:solidFill>
                  <a:srgbClr val="D2D2D2"/>
                </a:solidFill>
                <a:latin typeface="Consolas"/>
                <a:cs typeface="Consolas"/>
              </a:rPr>
              <a:t>da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qual</a:t>
            </a:r>
            <a:r>
              <a:rPr sz="12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nada,</a:t>
            </a:r>
            <a:r>
              <a:rPr sz="12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nem</a:t>
            </a:r>
            <a:r>
              <a:rPr sz="12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mesmo a</a:t>
            </a:r>
            <a:r>
              <a:rPr sz="12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luz,</a:t>
            </a:r>
            <a:r>
              <a:rPr sz="1200" spc="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pode </a:t>
            </a:r>
            <a:r>
              <a:rPr sz="1200" spc="-5" dirty="0">
                <a:solidFill>
                  <a:srgbClr val="D2D2D2"/>
                </a:solidFill>
                <a:latin typeface="Consolas"/>
                <a:cs typeface="Consolas"/>
              </a:rPr>
              <a:t>escapar.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-5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2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 dirty="0">
              <a:latin typeface="Consolas"/>
              <a:cs typeface="Consolas"/>
            </a:endParaRPr>
          </a:p>
          <a:p>
            <a:pPr marL="146685" marR="5580380">
              <a:lnSpc>
                <a:spcPct val="100000"/>
              </a:lnSpc>
            </a:pP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Alguns</a:t>
            </a:r>
            <a:r>
              <a:rPr sz="14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navegadores</a:t>
            </a:r>
            <a:r>
              <a:rPr sz="14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mostram</a:t>
            </a:r>
            <a:r>
              <a:rPr sz="140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1400" spc="-10" dirty="0">
                <a:solidFill>
                  <a:srgbClr val="FF0000"/>
                </a:solidFill>
                <a:latin typeface="Trebuchet MS"/>
                <a:cs typeface="Trebuchet MS"/>
              </a:rPr>
              <a:t> conteúdo</a:t>
            </a:r>
            <a:r>
              <a:rPr sz="140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do </a:t>
            </a:r>
            <a:r>
              <a:rPr sz="1400" spc="-409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elemento &lt;dfn&gt; </a:t>
            </a:r>
            <a:r>
              <a:rPr sz="1400" dirty="0">
                <a:solidFill>
                  <a:srgbClr val="FF0000"/>
                </a:solidFill>
                <a:latin typeface="Trebuchet MS"/>
                <a:cs typeface="Trebuchet MS"/>
              </a:rPr>
              <a:t>em 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itálico. </a:t>
            </a:r>
            <a:r>
              <a:rPr sz="1400" dirty="0">
                <a:solidFill>
                  <a:srgbClr val="FF0000"/>
                </a:solidFill>
                <a:latin typeface="Trebuchet MS"/>
                <a:cs typeface="Trebuchet MS"/>
              </a:rPr>
              <a:t>O 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Safari </a:t>
            </a:r>
            <a:r>
              <a:rPr sz="1400" dirty="0">
                <a:solidFill>
                  <a:srgbClr val="FF0000"/>
                </a:solidFill>
                <a:latin typeface="Trebuchet MS"/>
                <a:cs typeface="Trebuchet MS"/>
              </a:rPr>
              <a:t>e o </a:t>
            </a:r>
            <a:r>
              <a:rPr sz="140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Chrome</a:t>
            </a:r>
            <a:r>
              <a:rPr sz="140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não</a:t>
            </a:r>
            <a:r>
              <a:rPr sz="140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mudam</a:t>
            </a:r>
            <a:r>
              <a:rPr sz="140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sua</a:t>
            </a:r>
            <a:r>
              <a:rPr sz="140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rebuchet MS"/>
                <a:cs typeface="Trebuchet MS"/>
              </a:rPr>
              <a:t>aparência.</a:t>
            </a:r>
            <a:endParaRPr sz="14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4527" y="3547872"/>
            <a:ext cx="8342122" cy="2700528"/>
            <a:chOff x="414527" y="3547872"/>
            <a:chExt cx="8342122" cy="2700528"/>
          </a:xfrm>
        </p:grpSpPr>
        <p:sp>
          <p:nvSpPr>
            <p:cNvPr id="3" name="object 3"/>
            <p:cNvSpPr/>
            <p:nvPr/>
          </p:nvSpPr>
          <p:spPr>
            <a:xfrm>
              <a:off x="414527" y="3547872"/>
              <a:ext cx="8341359" cy="2700528"/>
            </a:xfrm>
            <a:custGeom>
              <a:avLst/>
              <a:gdLst/>
              <a:ahLst/>
              <a:cxnLst/>
              <a:rect l="l" t="t" r="r" b="b"/>
              <a:pathLst>
                <a:path w="8341359" h="2491740">
                  <a:moveTo>
                    <a:pt x="8340852" y="0"/>
                  </a:moveTo>
                  <a:lnTo>
                    <a:pt x="0" y="0"/>
                  </a:lnTo>
                  <a:lnTo>
                    <a:pt x="0" y="2491740"/>
                  </a:lnTo>
                  <a:lnTo>
                    <a:pt x="8340852" y="2491740"/>
                  </a:lnTo>
                  <a:lnTo>
                    <a:pt x="83408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415290" y="3548634"/>
              <a:ext cx="8341359" cy="2491740"/>
            </a:xfrm>
            <a:custGeom>
              <a:avLst/>
              <a:gdLst/>
              <a:ahLst/>
              <a:cxnLst/>
              <a:rect l="l" t="t" r="r" b="b"/>
              <a:pathLst>
                <a:path w="8341359" h="2491740">
                  <a:moveTo>
                    <a:pt x="0" y="2491740"/>
                  </a:moveTo>
                  <a:lnTo>
                    <a:pt x="8340852" y="2491740"/>
                  </a:lnTo>
                  <a:lnTo>
                    <a:pt x="8340852" y="0"/>
                  </a:lnTo>
                  <a:lnTo>
                    <a:pt x="0" y="0"/>
                  </a:lnTo>
                  <a:lnTo>
                    <a:pt x="0" y="2491740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82321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Marcação</a:t>
            </a:r>
            <a:r>
              <a:rPr sz="3600" spc="-45" dirty="0"/>
              <a:t> </a:t>
            </a:r>
            <a:r>
              <a:rPr sz="3600" spc="-5" dirty="0"/>
              <a:t>semântica</a:t>
            </a:r>
            <a:r>
              <a:rPr sz="3600" spc="-55" dirty="0"/>
              <a:t> </a:t>
            </a:r>
            <a:r>
              <a:rPr sz="3600" dirty="0"/>
              <a:t>-</a:t>
            </a:r>
            <a:r>
              <a:rPr sz="3600" spc="10" dirty="0"/>
              <a:t> </a:t>
            </a:r>
            <a:r>
              <a:rPr sz="3600" spc="-15" dirty="0"/>
              <a:t>Detalhes</a:t>
            </a:r>
            <a:r>
              <a:rPr sz="3600" dirty="0"/>
              <a:t> </a:t>
            </a:r>
            <a:r>
              <a:rPr sz="3600" spc="-5" dirty="0"/>
              <a:t>do autor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756005" y="1402861"/>
            <a:ext cx="8349615" cy="167386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800" b="1" spc="-5" dirty="0">
                <a:solidFill>
                  <a:srgbClr val="6E2E9F"/>
                </a:solidFill>
                <a:latin typeface="Trebuchet MS"/>
                <a:cs typeface="Trebuchet MS"/>
              </a:rPr>
              <a:t>&lt;address&gt;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005"/>
              </a:spcBef>
            </a:pP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sz="16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&lt;address&gt;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tem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um uso</a:t>
            </a:r>
            <a:r>
              <a:rPr sz="16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bastante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específico: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conter</a:t>
            </a:r>
            <a:r>
              <a:rPr sz="16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detalhes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de contato</a:t>
            </a:r>
            <a:r>
              <a:rPr sz="16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do </a:t>
            </a:r>
            <a:r>
              <a:rPr sz="1600" spc="-4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autor da página.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Pode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conter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16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endereço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físico,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mas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não precisa.</a:t>
            </a:r>
            <a:endParaRPr sz="16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944"/>
              </a:spcBef>
              <a:tabLst>
                <a:tab pos="756285" algn="l"/>
              </a:tabLst>
            </a:pPr>
            <a:r>
              <a:rPr sz="1250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1600" spc="-50" dirty="0">
                <a:solidFill>
                  <a:srgbClr val="404040"/>
                </a:solidFill>
                <a:latin typeface="Trebuchet MS"/>
                <a:cs typeface="Trebuchet MS"/>
              </a:rPr>
              <a:t>Por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exemplo,</a:t>
            </a:r>
            <a:r>
              <a:rPr sz="16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ele</a:t>
            </a:r>
            <a:r>
              <a:rPr sz="16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também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pode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conter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número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de telefone</a:t>
            </a:r>
            <a:r>
              <a:rPr sz="16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ou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endereço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e-</a:t>
            </a:r>
            <a:endParaRPr sz="1600">
              <a:latin typeface="Trebuchet MS"/>
              <a:cs typeface="Trebuchet MS"/>
            </a:endParaRPr>
          </a:p>
          <a:p>
            <a:pPr marL="757555">
              <a:lnSpc>
                <a:spcPct val="100000"/>
              </a:lnSpc>
              <a:spcBef>
                <a:spcPts val="55"/>
              </a:spcBef>
            </a:pP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mail.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2658" y="3566921"/>
            <a:ext cx="6955790" cy="31136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"pt-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Endereço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"www.senac.com.br"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Pagina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do 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Senac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Av. 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Engenheiro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Eusébio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Stevaux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823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Santo Amaro, São Paulo - SP, 04696-000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sz="1200" dirty="0">
              <a:latin typeface="Consolas"/>
              <a:cs typeface="Consolas"/>
            </a:endParaRPr>
          </a:p>
          <a:p>
            <a:pPr marL="398145">
              <a:lnSpc>
                <a:spcPct val="100000"/>
              </a:lnSpc>
              <a:spcBef>
                <a:spcPts val="865"/>
              </a:spcBef>
            </a:pPr>
            <a:r>
              <a:rPr sz="1400" dirty="0">
                <a:solidFill>
                  <a:srgbClr val="FF0000"/>
                </a:solidFill>
                <a:latin typeface="Trebuchet MS"/>
                <a:cs typeface="Trebuchet MS"/>
              </a:rPr>
              <a:t>Os</a:t>
            </a:r>
            <a:r>
              <a:rPr sz="140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navegadores</a:t>
            </a:r>
            <a:r>
              <a:rPr sz="140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geralmente</a:t>
            </a:r>
            <a:r>
              <a:rPr sz="1400" spc="-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rebuchet MS"/>
                <a:cs typeface="Trebuchet MS"/>
              </a:rPr>
              <a:t>exibem</a:t>
            </a:r>
            <a:r>
              <a:rPr sz="1400" dirty="0">
                <a:solidFill>
                  <a:srgbClr val="FF0000"/>
                </a:solidFill>
                <a:latin typeface="Trebuchet MS"/>
                <a:cs typeface="Trebuchet MS"/>
              </a:rPr>
              <a:t> o</a:t>
            </a:r>
            <a:r>
              <a:rPr sz="140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rebuchet MS"/>
                <a:cs typeface="Trebuchet MS"/>
              </a:rPr>
              <a:t>conteúdo</a:t>
            </a:r>
            <a:r>
              <a:rPr sz="14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do</a:t>
            </a:r>
            <a:r>
              <a:rPr sz="140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elemento</a:t>
            </a:r>
            <a:r>
              <a:rPr sz="140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&lt;address&gt;</a:t>
            </a:r>
            <a:r>
              <a:rPr sz="140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0000"/>
                </a:solidFill>
                <a:latin typeface="Trebuchet MS"/>
                <a:cs typeface="Trebuchet MS"/>
              </a:rPr>
              <a:t>em</a:t>
            </a:r>
            <a:r>
              <a:rPr sz="140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rebuchet MS"/>
                <a:cs typeface="Trebuchet MS"/>
              </a:rPr>
              <a:t>itálico.</a:t>
            </a:r>
            <a:endParaRPr sz="14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4D06C5-7EB6-923C-5B39-9E852401E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5181600"/>
            <a:ext cx="4933950" cy="50482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Marcação </a:t>
            </a:r>
            <a:r>
              <a:rPr dirty="0"/>
              <a:t>semântica - </a:t>
            </a:r>
            <a:r>
              <a:rPr spc="-5" dirty="0"/>
              <a:t>Indicadores </a:t>
            </a:r>
            <a:r>
              <a:rPr dirty="0"/>
              <a:t>de </a:t>
            </a:r>
            <a:r>
              <a:rPr spc="-5" dirty="0"/>
              <a:t>mudança </a:t>
            </a:r>
            <a:r>
              <a:rPr spc="-950" dirty="0"/>
              <a:t> </a:t>
            </a:r>
            <a:r>
              <a:rPr dirty="0"/>
              <a:t>no</a:t>
            </a:r>
            <a:r>
              <a:rPr spc="-40" dirty="0"/>
              <a:t> </a:t>
            </a:r>
            <a:r>
              <a:rPr spc="-10" dirty="0"/>
              <a:t>conteúdo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005" y="1615079"/>
            <a:ext cx="2381250" cy="130365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800" b="1" dirty="0">
                <a:solidFill>
                  <a:srgbClr val="6E2E9F"/>
                </a:solidFill>
                <a:latin typeface="Trebuchet MS"/>
                <a:cs typeface="Trebuchet MS"/>
              </a:rPr>
              <a:t>&lt;ins&gt;</a:t>
            </a:r>
            <a:endParaRPr sz="18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005"/>
              </a:spcBef>
            </a:pPr>
            <a:r>
              <a:rPr sz="1600" spc="-10" dirty="0" err="1">
                <a:solidFill>
                  <a:srgbClr val="404040"/>
                </a:solidFill>
                <a:latin typeface="Trebuchet MS"/>
                <a:cs typeface="Trebuchet MS"/>
              </a:rPr>
              <a:t>Usado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para </a:t>
            </a:r>
            <a:r>
              <a:rPr sz="1600" spc="-5" dirty="0" err="1">
                <a:solidFill>
                  <a:srgbClr val="FF0000"/>
                </a:solidFill>
                <a:latin typeface="Trebuchet MS"/>
                <a:cs typeface="Trebuchet MS"/>
              </a:rPr>
              <a:t>mostrar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 o </a:t>
            </a:r>
            <a:r>
              <a:rPr sz="16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5" dirty="0" err="1">
                <a:solidFill>
                  <a:srgbClr val="FF0000"/>
                </a:solidFill>
                <a:latin typeface="Trebuchet MS"/>
                <a:cs typeface="Trebuchet MS"/>
              </a:rPr>
              <a:t>conteúdo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16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 err="1">
                <a:solidFill>
                  <a:srgbClr val="404040"/>
                </a:solidFill>
                <a:latin typeface="Trebuchet MS"/>
                <a:cs typeface="Trebuchet MS"/>
              </a:rPr>
              <a:t>foi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b="1" spc="-15" dirty="0" err="1">
                <a:solidFill>
                  <a:srgbClr val="FF0000"/>
                </a:solidFill>
                <a:latin typeface="Trebuchet MS"/>
                <a:cs typeface="Trebuchet MS"/>
              </a:rPr>
              <a:t>inserido</a:t>
            </a:r>
            <a:r>
              <a:rPr sz="1600" b="1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b="1" spc="-4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 err="1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 err="1">
                <a:solidFill>
                  <a:srgbClr val="404040"/>
                </a:solidFill>
                <a:latin typeface="Trebuchet MS"/>
                <a:cs typeface="Trebuchet MS"/>
              </a:rPr>
              <a:t>documento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16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3127" y="3180588"/>
            <a:ext cx="7172325" cy="2432685"/>
            <a:chOff x="643127" y="3180588"/>
            <a:chExt cx="7172325" cy="24326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3127" y="3180588"/>
              <a:ext cx="7171944" cy="243230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78179" y="3215640"/>
              <a:ext cx="7048500" cy="2308860"/>
            </a:xfrm>
            <a:custGeom>
              <a:avLst/>
              <a:gdLst/>
              <a:ahLst/>
              <a:cxnLst/>
              <a:rect l="l" t="t" r="r" b="b"/>
              <a:pathLst>
                <a:path w="7048500" h="2308860">
                  <a:moveTo>
                    <a:pt x="7048500" y="0"/>
                  </a:moveTo>
                  <a:lnTo>
                    <a:pt x="0" y="0"/>
                  </a:lnTo>
                  <a:lnTo>
                    <a:pt x="0" y="2308860"/>
                  </a:lnTo>
                  <a:lnTo>
                    <a:pt x="7048500" y="2308860"/>
                  </a:lnTo>
                  <a:lnTo>
                    <a:pt x="7048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8941" y="3216402"/>
              <a:ext cx="7048500" cy="2308860"/>
            </a:xfrm>
            <a:custGeom>
              <a:avLst/>
              <a:gdLst/>
              <a:ahLst/>
              <a:cxnLst/>
              <a:rect l="l" t="t" r="r" b="b"/>
              <a:pathLst>
                <a:path w="7048500" h="2308860">
                  <a:moveTo>
                    <a:pt x="0" y="2308860"/>
                  </a:moveTo>
                  <a:lnTo>
                    <a:pt x="7048500" y="2308860"/>
                  </a:lnTo>
                  <a:lnTo>
                    <a:pt x="7048500" y="0"/>
                  </a:lnTo>
                  <a:lnTo>
                    <a:pt x="0" y="0"/>
                  </a:lnTo>
                  <a:lnTo>
                    <a:pt x="0" y="2308860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56005" y="3235197"/>
            <a:ext cx="6664959" cy="3398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DOCTYPE</a:t>
            </a:r>
            <a:r>
              <a:rPr sz="1200" spc="-10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C"/>
                </a:solidFill>
                <a:latin typeface="Consolas"/>
                <a:cs typeface="Consolas"/>
              </a:rPr>
              <a:t>html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200" spc="-8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C"/>
                </a:solidFill>
                <a:latin typeface="Consolas"/>
                <a:cs typeface="Consolas"/>
              </a:rPr>
              <a:t>lang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meta</a:t>
            </a:r>
            <a:r>
              <a:rPr sz="1200" spc="-7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C"/>
                </a:solidFill>
                <a:latin typeface="Consolas"/>
                <a:cs typeface="Consolas"/>
              </a:rPr>
              <a:t>charset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2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Inserir</a:t>
            </a:r>
            <a:r>
              <a:rPr sz="1200" spc="-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e</a:t>
            </a:r>
            <a:r>
              <a:rPr sz="1200" spc="-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deletar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5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spc="-5" dirty="0">
                <a:solidFill>
                  <a:srgbClr val="D2D2D2"/>
                </a:solidFill>
                <a:latin typeface="Consolas"/>
                <a:cs typeface="Consolas"/>
              </a:rPr>
              <a:t>Foi</a:t>
            </a:r>
            <a:r>
              <a:rPr sz="1200" spc="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a</a:t>
            </a:r>
            <a:r>
              <a:rPr sz="1200" spc="-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del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pior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del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 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5" dirty="0">
                <a:solidFill>
                  <a:srgbClr val="549CD4"/>
                </a:solidFill>
                <a:latin typeface="Consolas"/>
                <a:cs typeface="Consolas"/>
              </a:rPr>
              <a:t>ins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melhor</a:t>
            </a:r>
            <a:r>
              <a:rPr sz="1200" spc="-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-5" dirty="0">
                <a:solidFill>
                  <a:srgbClr val="549CD4"/>
                </a:solidFill>
                <a:latin typeface="Consolas"/>
                <a:cs typeface="Consolas"/>
              </a:rPr>
              <a:t>ins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idéia</a:t>
            </a:r>
            <a:r>
              <a:rPr sz="12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que</a:t>
            </a:r>
            <a:r>
              <a:rPr sz="12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2D2D2"/>
                </a:solidFill>
                <a:latin typeface="Consolas"/>
                <a:cs typeface="Consolas"/>
              </a:rPr>
              <a:t>ela já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teve.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Computador:</a:t>
            </a:r>
            <a:r>
              <a:rPr sz="1200" spc="-10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s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Era</a:t>
            </a:r>
            <a:r>
              <a:rPr sz="1200" spc="-7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$995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s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  <a:tabLst>
                <a:tab pos="3376295" algn="l"/>
              </a:tabLst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Agora</a:t>
            </a:r>
            <a:r>
              <a:rPr sz="12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5" dirty="0">
                <a:solidFill>
                  <a:srgbClr val="D2D2D2"/>
                </a:solidFill>
                <a:latin typeface="Consolas"/>
                <a:cs typeface="Consolas"/>
              </a:rPr>
              <a:t>está</a:t>
            </a:r>
            <a:r>
              <a:rPr sz="1200" spc="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2D2D2"/>
                </a:solidFill>
                <a:latin typeface="Consolas"/>
                <a:cs typeface="Consolas"/>
              </a:rPr>
              <a:t>somente</a:t>
            </a:r>
            <a:r>
              <a:rPr sz="1200" spc="6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D2D2D2"/>
                </a:solidFill>
                <a:latin typeface="Consolas"/>
                <a:cs typeface="Consolas"/>
              </a:rPr>
              <a:t>$375</a:t>
            </a:r>
            <a:r>
              <a:rPr sz="12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-1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200" spc="-10" dirty="0">
                <a:solidFill>
                  <a:srgbClr val="808080"/>
                </a:solidFill>
                <a:latin typeface="Consolas"/>
                <a:cs typeface="Consolas"/>
              </a:rPr>
              <a:t>&gt;	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2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00" dirty="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sz="1600" dirty="0">
                <a:latin typeface="Trebuchet MS"/>
                <a:cs typeface="Trebuchet MS"/>
              </a:rPr>
              <a:t>O</a:t>
            </a:r>
            <a:r>
              <a:rPr sz="1600" spc="24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conteúdo</a:t>
            </a:r>
            <a:r>
              <a:rPr sz="1600" spc="2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de</a:t>
            </a:r>
            <a:r>
              <a:rPr sz="1600" spc="2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um</a:t>
            </a:r>
            <a:r>
              <a:rPr sz="1600" spc="24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elemento</a:t>
            </a:r>
            <a:r>
              <a:rPr sz="1600" spc="21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&lt;ins&gt;</a:t>
            </a:r>
            <a:r>
              <a:rPr sz="1600" spc="18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é</a:t>
            </a:r>
            <a:r>
              <a:rPr sz="1600" spc="25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geralmente</a:t>
            </a:r>
            <a:r>
              <a:rPr sz="1600" spc="215" dirty="0">
                <a:latin typeface="Trebuchet MS"/>
                <a:cs typeface="Trebuchet MS"/>
              </a:rPr>
              <a:t> </a:t>
            </a:r>
            <a:r>
              <a:rPr sz="1600" spc="-15" dirty="0">
                <a:latin typeface="Trebuchet MS"/>
                <a:cs typeface="Trebuchet MS"/>
              </a:rPr>
              <a:t>sublinhado,</a:t>
            </a:r>
            <a:r>
              <a:rPr sz="1600" spc="190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enquanto</a:t>
            </a:r>
            <a:r>
              <a:rPr sz="1600" spc="19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</a:t>
            </a:r>
            <a:r>
              <a:rPr lang="en-US" sz="1600" dirty="0">
                <a:latin typeface="Trebuchet MS"/>
                <a:cs typeface="Trebuchet MS"/>
              </a:rPr>
              <a:t> </a:t>
            </a:r>
            <a:r>
              <a:rPr sz="1600" spc="-5" dirty="0" err="1">
                <a:latin typeface="Trebuchet MS"/>
                <a:cs typeface="Trebuchet MS"/>
              </a:rPr>
              <a:t>conteúdo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de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um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elemento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&lt;del&gt;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normalmente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tem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uma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linha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através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dele.</a:t>
            </a:r>
            <a:endParaRPr sz="1200" dirty="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379207" y="3398518"/>
            <a:ext cx="4799330" cy="3426460"/>
            <a:chOff x="7379207" y="3398518"/>
            <a:chExt cx="4799330" cy="342646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79207" y="3398518"/>
              <a:ext cx="4799076" cy="34259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4279" y="3593592"/>
              <a:ext cx="4221480" cy="2848356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539744" y="1758441"/>
            <a:ext cx="9956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873760" algn="l"/>
              </a:tabLst>
            </a:pPr>
            <a:r>
              <a:rPr sz="1800" b="1" spc="-5" dirty="0">
                <a:solidFill>
                  <a:srgbClr val="6E2E9F"/>
                </a:solidFill>
                <a:latin typeface="Trebuchet MS"/>
                <a:cs typeface="Trebuchet MS"/>
              </a:rPr>
              <a:t>&lt;del&gt; </a:t>
            </a:r>
            <a:r>
              <a:rPr sz="1800" b="1" dirty="0">
                <a:solidFill>
                  <a:srgbClr val="6E2E9F"/>
                </a:solidFill>
                <a:latin typeface="Trebuchet MS"/>
                <a:cs typeface="Trebuchet MS"/>
              </a:rPr>
              <a:t> </a:t>
            </a:r>
            <a:r>
              <a:rPr sz="1600" spc="-15" dirty="0">
                <a:latin typeface="Trebuchet MS"/>
                <a:cs typeface="Trebuchet MS"/>
              </a:rPr>
              <a:t>Mo</a:t>
            </a:r>
            <a:r>
              <a:rPr sz="1600" spc="-5" dirty="0">
                <a:latin typeface="Trebuchet MS"/>
                <a:cs typeface="Trebuchet MS"/>
              </a:rPr>
              <a:t>strar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5" dirty="0">
                <a:latin typeface="Trebuchet MS"/>
                <a:cs typeface="Trebuchet MS"/>
              </a:rPr>
              <a:t>o  </a:t>
            </a:r>
            <a:r>
              <a:rPr sz="1600" b="1" spc="-10" dirty="0">
                <a:solidFill>
                  <a:srgbClr val="FF0000"/>
                </a:solidFill>
                <a:latin typeface="Trebuchet MS"/>
                <a:cs typeface="Trebuchet MS"/>
              </a:rPr>
              <a:t>excluído</a:t>
            </a:r>
            <a:r>
              <a:rPr sz="1600" spc="-10" dirty="0">
                <a:latin typeface="Trebuchet MS"/>
                <a:cs typeface="Trebuchet MS"/>
              </a:rPr>
              <a:t>.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93411" y="2036521"/>
            <a:ext cx="50990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texto</a:t>
            </a:r>
            <a:endParaRPr sz="16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59400" y="1759965"/>
            <a:ext cx="425704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1100">
              <a:lnSpc>
                <a:spcPts val="2160"/>
              </a:lnSpc>
              <a:spcBef>
                <a:spcPts val="100"/>
              </a:spcBef>
            </a:pPr>
            <a:r>
              <a:rPr sz="1800" b="1" dirty="0">
                <a:solidFill>
                  <a:srgbClr val="6E2E9F"/>
                </a:solidFill>
                <a:latin typeface="Trebuchet MS"/>
                <a:cs typeface="Trebuchet MS"/>
              </a:rPr>
              <a:t>&lt;s&gt;</a:t>
            </a:r>
            <a:endParaRPr sz="1800" dirty="0">
              <a:latin typeface="Trebuchet MS"/>
              <a:cs typeface="Trebuchet MS"/>
            </a:endParaRPr>
          </a:p>
          <a:p>
            <a:pPr marL="1181100" marR="5080" indent="-1169035" algn="just">
              <a:lnSpc>
                <a:spcPts val="1920"/>
              </a:lnSpc>
              <a:spcBef>
                <a:spcPts val="60"/>
              </a:spcBef>
            </a:pPr>
            <a:r>
              <a:rPr sz="1600" spc="-10" dirty="0">
                <a:latin typeface="Trebuchet MS"/>
                <a:cs typeface="Trebuchet MS"/>
              </a:rPr>
              <a:t>que</a:t>
            </a:r>
            <a:r>
              <a:rPr sz="1600" spc="470" dirty="0">
                <a:latin typeface="Trebuchet MS"/>
                <a:cs typeface="Trebuchet MS"/>
              </a:rPr>
              <a:t> </a:t>
            </a:r>
            <a:r>
              <a:rPr sz="1600" spc="-5" dirty="0" err="1">
                <a:latin typeface="Trebuchet MS"/>
                <a:cs typeface="Trebuchet MS"/>
              </a:rPr>
              <a:t>foi</a:t>
            </a:r>
            <a:r>
              <a:rPr sz="1600" spc="475" dirty="0">
                <a:latin typeface="Trebuchet MS"/>
                <a:cs typeface="Trebuchet MS"/>
              </a:rPr>
              <a:t> </a:t>
            </a:r>
            <a:r>
              <a:rPr lang="en-US" sz="1600" spc="475" dirty="0">
                <a:latin typeface="Trebuchet MS"/>
                <a:cs typeface="Trebuchet MS"/>
              </a:rPr>
              <a:t>  </a:t>
            </a:r>
            <a:r>
              <a:rPr sz="1600" spc="-10" dirty="0">
                <a:latin typeface="Trebuchet MS"/>
                <a:cs typeface="Trebuchet MS"/>
              </a:rPr>
              <a:t>Indica</a:t>
            </a:r>
            <a:r>
              <a:rPr sz="1600" spc="465" dirty="0"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0000"/>
                </a:solidFill>
                <a:latin typeface="Trebuchet MS"/>
                <a:cs typeface="Trebuchet MS"/>
              </a:rPr>
              <a:t>algo</a:t>
            </a:r>
            <a:r>
              <a:rPr sz="1600" spc="4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rebuchet MS"/>
                <a:cs typeface="Trebuchet MS"/>
              </a:rPr>
              <a:t>que</a:t>
            </a:r>
            <a:r>
              <a:rPr sz="1600" spc="4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não</a:t>
            </a:r>
            <a:r>
              <a:rPr sz="1600" spc="4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é</a:t>
            </a:r>
            <a:r>
              <a:rPr sz="1600" spc="4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4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rebuchet MS"/>
                <a:cs typeface="Trebuchet MS"/>
              </a:rPr>
              <a:t>mais 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 preciso</a:t>
            </a:r>
            <a:r>
              <a:rPr sz="16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ou</a:t>
            </a:r>
            <a:r>
              <a:rPr sz="1600" dirty="0">
                <a:solidFill>
                  <a:srgbClr val="FF0000"/>
                </a:solidFill>
                <a:latin typeface="Trebuchet MS"/>
                <a:cs typeface="Trebuchet MS"/>
              </a:rPr>
              <a:t> relevante</a:t>
            </a:r>
            <a:r>
              <a:rPr sz="160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(mas</a:t>
            </a:r>
            <a:r>
              <a:rPr sz="1600" spc="459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que </a:t>
            </a:r>
            <a:r>
              <a:rPr sz="1600" spc="-5" dirty="0">
                <a:latin typeface="Trebuchet MS"/>
                <a:cs typeface="Trebuchet MS"/>
              </a:rPr>
              <a:t> não</a:t>
            </a:r>
            <a:r>
              <a:rPr sz="1600" spc="-1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deve </a:t>
            </a:r>
            <a:r>
              <a:rPr sz="1600" dirty="0">
                <a:latin typeface="Trebuchet MS"/>
                <a:cs typeface="Trebuchet MS"/>
              </a:rPr>
              <a:t>ser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excluído).</a:t>
            </a:r>
            <a:endParaRPr sz="1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55987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Marcação</a:t>
            </a:r>
            <a:r>
              <a:rPr sz="3600" spc="-65" dirty="0"/>
              <a:t> </a:t>
            </a:r>
            <a:r>
              <a:rPr sz="3600" spc="-5" dirty="0"/>
              <a:t>semântica</a:t>
            </a:r>
            <a:r>
              <a:rPr sz="3600" spc="-90" dirty="0"/>
              <a:t> </a:t>
            </a:r>
            <a:r>
              <a:rPr sz="3600" dirty="0"/>
              <a:t>-</a:t>
            </a:r>
            <a:r>
              <a:rPr sz="3600" spc="-80" dirty="0"/>
              <a:t> </a:t>
            </a:r>
            <a:r>
              <a:rPr sz="3600" spc="-30" dirty="0"/>
              <a:t>Time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762000" y="1600200"/>
            <a:ext cx="9149995" cy="210314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800" b="1" dirty="0">
                <a:solidFill>
                  <a:srgbClr val="6E2E9F"/>
                </a:solidFill>
                <a:latin typeface="Trebuchet MS"/>
                <a:cs typeface="Trebuchet MS"/>
              </a:rPr>
              <a:t>&lt;time&gt;</a:t>
            </a:r>
            <a:endParaRPr sz="18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005"/>
              </a:spcBef>
            </a:pP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Define</a:t>
            </a:r>
            <a:r>
              <a:rPr sz="2000" spc="2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10" dirty="0" err="1">
                <a:solidFill>
                  <a:srgbClr val="FF0000"/>
                </a:solidFill>
                <a:latin typeface="Trebuchet MS"/>
                <a:cs typeface="Trebuchet MS"/>
              </a:rPr>
              <a:t>uma</a:t>
            </a:r>
            <a:r>
              <a:rPr sz="2000" spc="2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data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/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hora</a:t>
            </a:r>
            <a:r>
              <a:rPr sz="2000" spc="3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legível</a:t>
            </a:r>
            <a:r>
              <a:rPr sz="2000" spc="2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para</a:t>
            </a:r>
            <a:r>
              <a:rPr sz="2000" spc="2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humanos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r>
              <a:rPr sz="2000" spc="2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Mas</a:t>
            </a:r>
            <a:r>
              <a:rPr sz="2000" spc="2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também,</a:t>
            </a:r>
            <a:r>
              <a:rPr sz="2000" spc="2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pode</a:t>
            </a:r>
            <a:r>
              <a:rPr sz="2000" spc="3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ser</a:t>
            </a:r>
            <a:r>
              <a:rPr sz="2000" spc="2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usado</a:t>
            </a:r>
            <a:r>
              <a:rPr sz="2000" spc="2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000" spc="2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codificar </a:t>
            </a:r>
            <a:r>
              <a:rPr sz="2000" spc="-4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datas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horas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maneira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legível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para </a:t>
            </a:r>
            <a:r>
              <a:rPr sz="2000" i="1" spc="-10" dirty="0">
                <a:solidFill>
                  <a:srgbClr val="FF0000"/>
                </a:solidFill>
                <a:latin typeface="Trebuchet MS"/>
                <a:cs typeface="Trebuchet MS"/>
              </a:rPr>
              <a:t>user-agentes</a:t>
            </a:r>
            <a:r>
              <a:rPr sz="2000" i="1" spc="-10" dirty="0">
                <a:solidFill>
                  <a:srgbClr val="404040"/>
                </a:solidFill>
                <a:latin typeface="Trebuchet MS"/>
                <a:cs typeface="Trebuchet MS"/>
              </a:rPr>
              <a:t>, 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assim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podem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adicionar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lembretes </a:t>
            </a:r>
            <a:r>
              <a:rPr sz="2000" spc="5" dirty="0">
                <a:solidFill>
                  <a:srgbClr val="FF0000"/>
                </a:solidFill>
                <a:latin typeface="Trebuchet MS"/>
                <a:cs typeface="Trebuchet MS"/>
              </a:rPr>
              <a:t>de </a:t>
            </a:r>
            <a:r>
              <a:rPr sz="2000" spc="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aniversários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ou eventos agendados ao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calendário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do usuário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. Além disso, os mecanismos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busca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podem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produzir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resultados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pesquisa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mais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inteligentes.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3127" y="3995928"/>
            <a:ext cx="11414760" cy="2709672"/>
            <a:chOff x="643127" y="3995928"/>
            <a:chExt cx="11414760" cy="23729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3127" y="3995928"/>
              <a:ext cx="11414760" cy="237286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78179" y="4030980"/>
              <a:ext cx="11290300" cy="2247900"/>
            </a:xfrm>
            <a:custGeom>
              <a:avLst/>
              <a:gdLst/>
              <a:ahLst/>
              <a:cxnLst/>
              <a:rect l="l" t="t" r="r" b="b"/>
              <a:pathLst>
                <a:path w="11290300" h="2247900">
                  <a:moveTo>
                    <a:pt x="11289792" y="0"/>
                  </a:moveTo>
                  <a:lnTo>
                    <a:pt x="0" y="0"/>
                  </a:lnTo>
                  <a:lnTo>
                    <a:pt x="0" y="2247900"/>
                  </a:lnTo>
                  <a:lnTo>
                    <a:pt x="11289792" y="2247900"/>
                  </a:lnTo>
                  <a:lnTo>
                    <a:pt x="112897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8941" y="4031742"/>
              <a:ext cx="11290300" cy="2247900"/>
            </a:xfrm>
            <a:custGeom>
              <a:avLst/>
              <a:gdLst/>
              <a:ahLst/>
              <a:cxnLst/>
              <a:rect l="l" t="t" r="r" b="b"/>
              <a:pathLst>
                <a:path w="11290300" h="2247900">
                  <a:moveTo>
                    <a:pt x="0" y="2247899"/>
                  </a:moveTo>
                  <a:lnTo>
                    <a:pt x="11289792" y="2247899"/>
                  </a:lnTo>
                  <a:lnTo>
                    <a:pt x="11289792" y="0"/>
                  </a:lnTo>
                  <a:lnTo>
                    <a:pt x="0" y="0"/>
                  </a:lnTo>
                  <a:lnTo>
                    <a:pt x="0" y="2247899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000625" y="5327141"/>
            <a:ext cx="407860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manhã.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5240">
              <a:lnSpc>
                <a:spcPct val="100000"/>
              </a:lnSpc>
            </a:pP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comemoração</a:t>
            </a:r>
            <a:r>
              <a:rPr sz="14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de</a:t>
            </a:r>
            <a:r>
              <a:rPr sz="1400" spc="1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time</a:t>
            </a:r>
            <a:r>
              <a:rPr sz="1400" spc="55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C"/>
                </a:solidFill>
                <a:latin typeface="Consolas"/>
                <a:cs typeface="Consolas"/>
              </a:rPr>
              <a:t>datetime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"2019-12-25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6005" y="4046601"/>
            <a:ext cx="4170045" cy="2373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DOCTYPE</a:t>
            </a:r>
            <a:r>
              <a:rPr sz="1400" spc="-7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C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7034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meta</a:t>
            </a:r>
            <a:r>
              <a:rPr sz="1400" spc="-20" dirty="0">
                <a:solidFill>
                  <a:srgbClr val="549CD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C"/>
                </a:solidFill>
                <a:latin typeface="Consolas"/>
                <a:cs typeface="Consolas"/>
              </a:rPr>
              <a:t>charset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"utf-8" 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400" dirty="0">
              <a:latin typeface="Consolas"/>
              <a:cs typeface="Consolas"/>
            </a:endParaRPr>
          </a:p>
          <a:p>
            <a:pPr marL="407034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time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Abrimos</a:t>
            </a:r>
            <a:r>
              <a:rPr sz="1400" spc="1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</a:t>
            </a:r>
            <a:r>
              <a:rPr sz="1400" spc="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loja</a:t>
            </a:r>
            <a:r>
              <a:rPr sz="1400" spc="2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às</a:t>
            </a:r>
            <a:r>
              <a:rPr sz="1400" spc="5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time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10:00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time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25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da</a:t>
            </a:r>
            <a:endParaRPr sz="1400" dirty="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Eu tenho</a:t>
            </a:r>
            <a:r>
              <a:rPr sz="1400" spc="3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2D2D2"/>
                </a:solidFill>
                <a:latin typeface="Consolas"/>
                <a:cs typeface="Consolas"/>
              </a:rPr>
              <a:t>que</a:t>
            </a:r>
            <a:r>
              <a:rPr sz="14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comprar</a:t>
            </a:r>
            <a:r>
              <a:rPr sz="1400" spc="2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um</a:t>
            </a:r>
            <a:r>
              <a:rPr sz="1400" spc="30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presente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2D2D2"/>
                </a:solidFill>
                <a:latin typeface="Consolas"/>
                <a:cs typeface="Consolas"/>
              </a:rPr>
              <a:t>para</a:t>
            </a:r>
            <a:r>
              <a:rPr sz="1400" spc="1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a </a:t>
            </a:r>
            <a:r>
              <a:rPr sz="1400" spc="-755" dirty="0">
                <a:solidFill>
                  <a:srgbClr val="D2D2D2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12:00"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Natal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time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2D2D2"/>
                </a:solidFill>
                <a:latin typeface="Consolas"/>
                <a:cs typeface="Consolas"/>
              </a:rPr>
              <a:t>.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49CD4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242047" y="3390900"/>
            <a:ext cx="4883150" cy="2254250"/>
            <a:chOff x="7242047" y="3390900"/>
            <a:chExt cx="4883150" cy="225425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42047" y="3390900"/>
              <a:ext cx="4882896" cy="225399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37119" y="3585971"/>
              <a:ext cx="4305300" cy="1676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15798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0" dirty="0"/>
              <a:t>R</a:t>
            </a:r>
            <a:r>
              <a:rPr sz="3600" spc="-5" dirty="0"/>
              <a:t>es</a:t>
            </a:r>
            <a:r>
              <a:rPr sz="3600" dirty="0"/>
              <a:t>u</a:t>
            </a:r>
            <a:r>
              <a:rPr sz="3600" spc="-25" dirty="0"/>
              <a:t>m</a:t>
            </a:r>
            <a:r>
              <a:rPr sz="3600" dirty="0"/>
              <a:t>o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004" y="2044875"/>
            <a:ext cx="9302395" cy="2050754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  <a:tabLst>
                <a:tab pos="354965" algn="l"/>
              </a:tabLst>
            </a:pPr>
            <a:r>
              <a:rPr sz="16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Elementos</a:t>
            </a:r>
            <a:r>
              <a:rPr sz="20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HTML</a:t>
            </a:r>
            <a:r>
              <a:rPr sz="2000" spc="-1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são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usados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descrever</a:t>
            </a:r>
            <a:r>
              <a:rPr sz="20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estrutura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página.</a:t>
            </a:r>
            <a:endParaRPr sz="20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</a:pPr>
            <a:r>
              <a:rPr sz="16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</a:t>
            </a:r>
            <a:r>
              <a:rPr sz="1600" spc="-155" dirty="0">
                <a:solidFill>
                  <a:srgbClr val="90C224"/>
                </a:solidFill>
                <a:latin typeface="Lucida Sans Unicode"/>
                <a:cs typeface="Lucida Sans Unicode"/>
              </a:rPr>
              <a:t> </a:t>
            </a:r>
            <a:r>
              <a:rPr sz="2000" spc="-140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0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exe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mp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título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20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parágr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f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6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Eles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também</a:t>
            </a:r>
            <a:r>
              <a:rPr sz="20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fornecem</a:t>
            </a:r>
            <a:r>
              <a:rPr sz="2000" spc="-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informações</a:t>
            </a:r>
            <a:r>
              <a:rPr sz="2000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semânticas.</a:t>
            </a:r>
            <a:endParaRPr sz="2000">
              <a:latin typeface="Trebuchet MS"/>
              <a:cs typeface="Trebuchet MS"/>
            </a:endParaRPr>
          </a:p>
          <a:p>
            <a:pPr marL="757555" marR="5080" indent="-288290">
              <a:lnSpc>
                <a:spcPct val="101499"/>
              </a:lnSpc>
              <a:spcBef>
                <a:spcPts val="960"/>
              </a:spcBef>
            </a:pPr>
            <a:r>
              <a:rPr sz="1600" spc="-5" dirty="0">
                <a:solidFill>
                  <a:srgbClr val="90C224"/>
                </a:solidFill>
                <a:latin typeface="Lucida Sans Unicode"/>
                <a:cs typeface="Lucida Sans Unicode"/>
              </a:rPr>
              <a:t>▶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Por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exemplo,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onde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 ênfase deve ser colocada, a definição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quaisquer</a:t>
            </a:r>
            <a:r>
              <a:rPr sz="20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acrônimos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usados,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quando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determinado</a:t>
            </a:r>
            <a:r>
              <a:rPr sz="2000" spc="-1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texto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uma </a:t>
            </a:r>
            <a:r>
              <a:rPr sz="2000" spc="-5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citação...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2392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Re</a:t>
            </a:r>
            <a:r>
              <a:rPr sz="3600" spc="-25" dirty="0"/>
              <a:t>f</a:t>
            </a:r>
            <a:r>
              <a:rPr sz="3600" spc="-20" dirty="0"/>
              <a:t>e</a:t>
            </a:r>
            <a:r>
              <a:rPr sz="3600" spc="-25" dirty="0"/>
              <a:t>r</a:t>
            </a:r>
            <a:r>
              <a:rPr sz="3600" spc="-20" dirty="0"/>
              <a:t>ê</a:t>
            </a:r>
            <a:r>
              <a:rPr sz="3600" spc="-25" dirty="0"/>
              <a:t>n</a:t>
            </a:r>
            <a:r>
              <a:rPr sz="3600" spc="-20" dirty="0"/>
              <a:t>cia</a:t>
            </a:r>
            <a:r>
              <a:rPr sz="3600" dirty="0"/>
              <a:t>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005" y="2045589"/>
            <a:ext cx="8174355" cy="271589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45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Lucida Sans Unicode"/>
                <a:cs typeface="Lucida Sans Unicode"/>
                <a:hlinkClick r:id="rId2"/>
              </a:rPr>
              <a:t>▶	</a:t>
            </a:r>
            <a:r>
              <a:rPr sz="18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2"/>
              </a:rPr>
              <a:t>https://www.w3.org/html/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Lucida Sans Unicode"/>
                <a:cs typeface="Lucida Sans Unicode"/>
                <a:hlinkClick r:id="rId3"/>
              </a:rPr>
              <a:t>▶	</a:t>
            </a:r>
            <a:r>
              <a:rPr sz="18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3"/>
              </a:rPr>
              <a:t>http://www.w3.org/History/1989/proposal.html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450" u="heavy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Lucida Sans Unicode"/>
                <a:cs typeface="Lucida Sans Unicode"/>
                <a:hlinkClick r:id="rId4"/>
              </a:rPr>
              <a:t>▶	</a:t>
            </a:r>
            <a:r>
              <a:rPr sz="1800" u="heavy" spc="-2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Trebuchet MS"/>
                <a:cs typeface="Trebuchet MS"/>
                <a:hlinkClick r:id="rId4"/>
              </a:rPr>
              <a:t>http://www.evolutionoftheweb.com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u="heavy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Lucida Sans Unicode"/>
                <a:cs typeface="Lucida Sans Unicode"/>
                <a:hlinkClick r:id="rId5"/>
              </a:rPr>
              <a:t>▶	</a:t>
            </a:r>
            <a:r>
              <a:rPr sz="1800" u="heavy" spc="-2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Trebuchet MS"/>
                <a:cs typeface="Trebuchet MS"/>
                <a:hlinkClick r:id="rId5"/>
              </a:rPr>
              <a:t>https://www.w3schools.com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s,</a:t>
            </a:r>
            <a:r>
              <a:rPr sz="1800" spc="-2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La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ura;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 Martelli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Richard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HT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5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CSS3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;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São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au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lo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Senac,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2018.</a:t>
            </a:r>
            <a:endParaRPr sz="1800">
              <a:latin typeface="Trebuchet MS"/>
              <a:cs typeface="Trebuchet MS"/>
            </a:endParaRPr>
          </a:p>
          <a:p>
            <a:pPr marL="355600" marR="142240" indent="-342900">
              <a:lnSpc>
                <a:spcPct val="102800"/>
              </a:lnSpc>
              <a:spcBef>
                <a:spcPts val="944"/>
              </a:spcBef>
              <a:tabLst>
                <a:tab pos="354965" algn="l"/>
              </a:tabLst>
            </a:pPr>
            <a:r>
              <a:rPr sz="1450" dirty="0">
                <a:solidFill>
                  <a:srgbClr val="90C224"/>
                </a:solidFill>
                <a:latin typeface="Lucida Sans Unicode"/>
                <a:cs typeface="Lucida Sans Unicode"/>
              </a:rPr>
              <a:t>▶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Jo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Duck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HT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1800" spc="-1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CSS: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gn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Build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404040"/>
                </a:solidFill>
                <a:latin typeface="Trebuchet MS"/>
                <a:cs typeface="Trebuchet MS"/>
              </a:rPr>
              <a:t>W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ebsi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es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;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No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J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erse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y: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W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1800" spc="-265" dirty="0">
                <a:solidFill>
                  <a:srgbClr val="404040"/>
                </a:solidFill>
                <a:latin typeface="Trebuchet MS"/>
                <a:cs typeface="Trebuchet MS"/>
              </a:rPr>
              <a:t>y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,  2011.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1402</TotalTime>
  <Words>6542</Words>
  <Application>Microsoft Office PowerPoint</Application>
  <PresentationFormat>Widescreen</PresentationFormat>
  <Paragraphs>809</Paragraphs>
  <Slides>66</Slides>
  <Notes>0</Notes>
  <HiddenSlides>3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66</vt:i4>
      </vt:variant>
    </vt:vector>
  </HeadingPairs>
  <TitlesOfParts>
    <vt:vector size="79" baseType="lpstr">
      <vt:lpstr>Arial</vt:lpstr>
      <vt:lpstr>Arial</vt:lpstr>
      <vt:lpstr>Arial MT</vt:lpstr>
      <vt:lpstr>Calibri</vt:lpstr>
      <vt:lpstr>Consolas</vt:lpstr>
      <vt:lpstr>Lucida Sans Unicode</vt:lpstr>
      <vt:lpstr>quote-cjk-patch</vt:lpstr>
      <vt:lpstr>Segoe UI</vt:lpstr>
      <vt:lpstr>Times New Roman</vt:lpstr>
      <vt:lpstr>Trebuchet MS</vt:lpstr>
      <vt:lpstr>Verdana</vt:lpstr>
      <vt:lpstr>Wingdings</vt:lpstr>
      <vt:lpstr>Office Theme</vt:lpstr>
      <vt:lpstr>Apresentação do PowerPoint</vt:lpstr>
      <vt:lpstr>Definições</vt:lpstr>
      <vt:lpstr>HTML</vt:lpstr>
      <vt:lpstr>Breve Histórico do HTML</vt:lpstr>
      <vt:lpstr>Apresentação do PowerPoint</vt:lpstr>
      <vt:lpstr>Breve Histórico do HTML</vt:lpstr>
      <vt:lpstr>Breve Histórico do HTML</vt:lpstr>
      <vt:lpstr>Breve Histórico do HTML</vt:lpstr>
      <vt:lpstr>Breve Histórico do HTML</vt:lpstr>
      <vt:lpstr>Breve Histórico do HTML</vt:lpstr>
      <vt:lpstr>Breve Histórico do HTML</vt:lpstr>
      <vt:lpstr>Breve Histórico do HTML</vt:lpstr>
      <vt:lpstr>Breve Histórico do HTML</vt:lpstr>
      <vt:lpstr>Breve Histórico do HTML</vt:lpstr>
      <vt:lpstr>Estrutura</vt:lpstr>
      <vt:lpstr>Estrutura</vt:lpstr>
      <vt:lpstr>Estrutura básica de uma tag</vt:lpstr>
      <vt:lpstr>Estrutura básica de uma tag</vt:lpstr>
      <vt:lpstr>Estrutura básica de uma tag</vt:lpstr>
      <vt:lpstr>Estrutura básica de uma tag</vt:lpstr>
      <vt:lpstr>Estrutura básica de uma tag</vt:lpstr>
      <vt:lpstr>Estrutura básica</vt:lpstr>
      <vt:lpstr>Estrutura básica</vt:lpstr>
      <vt:lpstr>Estrutura básica &lt;html&gt;</vt:lpstr>
      <vt:lpstr>User-agent </vt:lpstr>
      <vt:lpstr>Estrutura básica &lt;head&gt;</vt:lpstr>
      <vt:lpstr>Estrutura básica &lt;meta&gt;</vt:lpstr>
      <vt:lpstr>Mais sobre a tag &lt;meta&gt;</vt:lpstr>
      <vt:lpstr>Mais sobre a tag &lt;meta&gt;</vt:lpstr>
      <vt:lpstr>Mais sobre a tag &lt;meta&gt; atributo robots</vt:lpstr>
      <vt:lpstr>Mais sobre a tag &lt;meta&gt; atributo robots</vt:lpstr>
      <vt:lpstr>Mais sobre a tag &lt;meta&gt;</vt:lpstr>
      <vt:lpstr>Mais sobre a tag &lt;meta&gt; - http equiv</vt:lpstr>
      <vt:lpstr>Mais sobre a tag &lt;meta&gt;</vt:lpstr>
      <vt:lpstr>Mais sobre a tag &lt;meta&gt;</vt:lpstr>
      <vt:lpstr>Mais sobre a tag &lt;meta&gt;</vt:lpstr>
      <vt:lpstr>Estrutura básica &lt;head&gt;</vt:lpstr>
      <vt:lpstr>Estrutura básica &lt;body&gt;</vt:lpstr>
      <vt:lpstr>Exemplo</vt:lpstr>
      <vt:lpstr>Resumo</vt:lpstr>
      <vt:lpstr>Editores HTML</vt:lpstr>
      <vt:lpstr>Visual Studio Code</vt:lpstr>
      <vt:lpstr>Arquivos</vt:lpstr>
      <vt:lpstr>HTML - Texto</vt:lpstr>
      <vt:lpstr>Texto</vt:lpstr>
      <vt:lpstr>Cabeçalho</vt:lpstr>
      <vt:lpstr>Parágrafo</vt:lpstr>
      <vt:lpstr>Negrito (bold) e itálico</vt:lpstr>
      <vt:lpstr>Sobrescrito e Subscrito</vt:lpstr>
      <vt:lpstr>Espaço em branco</vt:lpstr>
      <vt:lpstr>Espaço em branco</vt:lpstr>
      <vt:lpstr>Quebra de linha</vt:lpstr>
      <vt:lpstr>Regra Horizontal</vt:lpstr>
      <vt:lpstr>Marcação semântica</vt:lpstr>
      <vt:lpstr>Marcação semântica</vt:lpstr>
      <vt:lpstr>Marcação semântica - Texto</vt:lpstr>
      <vt:lpstr>Marcação semântica - Texto</vt:lpstr>
      <vt:lpstr>Marcação semântica - Quote</vt:lpstr>
      <vt:lpstr>Marcação semântica - Abreviações e acrônimos</vt:lpstr>
      <vt:lpstr>Marcação semântica - Citações</vt:lpstr>
      <vt:lpstr>Marcação semântica - Definições</vt:lpstr>
      <vt:lpstr>Marcação semântica - Detalhes do autor</vt:lpstr>
      <vt:lpstr>Marcação semântica - Indicadores de mudança  no conteúdo</vt:lpstr>
      <vt:lpstr>Marcação semântica - Time</vt:lpstr>
      <vt:lpstr>Resumo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</dc:title>
  <dc:creator>William Maruyama</dc:creator>
  <cp:lastModifiedBy>HENRIQUE DIAS PASTOR</cp:lastModifiedBy>
  <cp:revision>80</cp:revision>
  <dcterms:created xsi:type="dcterms:W3CDTF">2024-02-23T15:28:47Z</dcterms:created>
  <dcterms:modified xsi:type="dcterms:W3CDTF">2026-08-17T17:56:32Z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2022-03-29T00:00:00Z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2024-02-23T00:00:00Z</vt:filetime>
  </property>
</Properties>
</file>
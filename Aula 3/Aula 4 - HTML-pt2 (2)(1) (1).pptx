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302" r:id="rId7"/>
    <p:sldId id="271" r:id="rId8"/>
    <p:sldId id="272" r:id="rId9"/>
    <p:sldId id="273" r:id="rId10"/>
    <p:sldId id="298" r:id="rId11"/>
    <p:sldId id="274" r:id="rId12"/>
    <p:sldId id="300" r:id="rId13"/>
    <p:sldId id="275" r:id="rId14"/>
    <p:sldId id="276" r:id="rId15"/>
    <p:sldId id="277" r:id="rId16"/>
    <p:sldId id="278" r:id="rId17"/>
    <p:sldId id="301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303" r:id="rId31"/>
    <p:sldId id="291" r:id="rId32"/>
    <p:sldId id="292" r:id="rId33"/>
    <p:sldId id="293" r:id="rId34"/>
    <p:sldId id="294" r:id="rId35"/>
    <p:sldId id="295" r:id="rId36"/>
    <p:sldId id="296" r:id="rId37"/>
    <p:sldId id="263" r:id="rId38"/>
    <p:sldId id="264" r:id="rId39"/>
    <p:sldId id="259" r:id="rId40"/>
    <p:sldId id="260" r:id="rId41"/>
    <p:sldId id="261" r:id="rId42"/>
    <p:sldId id="262" r:id="rId43"/>
    <p:sldId id="265" r:id="rId44"/>
    <p:sldId id="266" r:id="rId45"/>
    <p:sldId id="267" r:id="rId46"/>
    <p:sldId id="268" r:id="rId47"/>
    <p:sldId id="297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7" autoAdjust="0"/>
    <p:restoredTop sz="94660"/>
  </p:normalViewPr>
  <p:slideViewPr>
    <p:cSldViewPr>
      <p:cViewPr varScale="1">
        <p:scale>
          <a:sx n="83" d="100"/>
          <a:sy n="83" d="100"/>
        </p:scale>
        <p:origin x="82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3600" cy="5689600"/>
          </a:xfrm>
          <a:custGeom>
            <a:avLst/>
            <a:gdLst/>
            <a:ahLst/>
            <a:cxnLst/>
            <a:rect l="l" t="t" r="r" b="b"/>
            <a:pathLst>
              <a:path w="863600" h="5689600">
                <a:moveTo>
                  <a:pt x="863600" y="0"/>
                </a:moveTo>
                <a:lnTo>
                  <a:pt x="90226" y="0"/>
                </a:lnTo>
                <a:lnTo>
                  <a:pt x="0" y="889"/>
                </a:lnTo>
                <a:lnTo>
                  <a:pt x="0" y="5689600"/>
                </a:lnTo>
                <a:lnTo>
                  <a:pt x="863600" y="9271"/>
                </a:lnTo>
                <a:lnTo>
                  <a:pt x="86360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420" y="0"/>
            <a:ext cx="4763770" cy="6858000"/>
          </a:xfrm>
          <a:custGeom>
            <a:avLst/>
            <a:gdLst/>
            <a:ahLst/>
            <a:cxnLst/>
            <a:rect l="l" t="t" r="r" b="b"/>
            <a:pathLst>
              <a:path w="4763770" h="6858000">
                <a:moveTo>
                  <a:pt x="1945639" y="0"/>
                </a:moveTo>
                <a:lnTo>
                  <a:pt x="3164839" y="6857999"/>
                </a:lnTo>
              </a:path>
              <a:path w="4763770" h="6858000">
                <a:moveTo>
                  <a:pt x="4763515" y="3680460"/>
                </a:moveTo>
                <a:lnTo>
                  <a:pt x="0" y="6857046"/>
                </a:lnTo>
              </a:path>
            </a:pathLst>
          </a:custGeom>
          <a:ln w="10160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8" y="0"/>
                </a:moveTo>
                <a:lnTo>
                  <a:pt x="2043317" y="0"/>
                </a:lnTo>
                <a:lnTo>
                  <a:pt x="0" y="6857996"/>
                </a:lnTo>
                <a:lnTo>
                  <a:pt x="3007358" y="6857996"/>
                </a:lnTo>
                <a:lnTo>
                  <a:pt x="3007358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5082" y="0"/>
            <a:ext cx="2586990" cy="6858000"/>
          </a:xfrm>
          <a:custGeom>
            <a:avLst/>
            <a:gdLst/>
            <a:ahLst/>
            <a:cxnLst/>
            <a:rect l="l" t="t" r="r" b="b"/>
            <a:pathLst>
              <a:path w="2586990" h="6858000">
                <a:moveTo>
                  <a:pt x="2586917" y="0"/>
                </a:moveTo>
                <a:lnTo>
                  <a:pt x="0" y="0"/>
                </a:lnTo>
                <a:lnTo>
                  <a:pt x="1207951" y="6857996"/>
                </a:lnTo>
                <a:lnTo>
                  <a:pt x="2586917" y="6857996"/>
                </a:lnTo>
                <a:lnTo>
                  <a:pt x="2586917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3180" y="3047999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820" y="0"/>
                </a:moveTo>
                <a:lnTo>
                  <a:pt x="0" y="3810000"/>
                </a:lnTo>
                <a:lnTo>
                  <a:pt x="3258820" y="3810000"/>
                </a:lnTo>
                <a:lnTo>
                  <a:pt x="325882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243" y="0"/>
            <a:ext cx="2852420" cy="6858000"/>
          </a:xfrm>
          <a:custGeom>
            <a:avLst/>
            <a:gdLst/>
            <a:ahLst/>
            <a:cxnLst/>
            <a:rect l="l" t="t" r="r" b="b"/>
            <a:pathLst>
              <a:path w="2852420" h="6858000">
                <a:moveTo>
                  <a:pt x="2852217" y="0"/>
                </a:moveTo>
                <a:lnTo>
                  <a:pt x="0" y="0"/>
                </a:lnTo>
                <a:lnTo>
                  <a:pt x="2468548" y="6857996"/>
                </a:lnTo>
                <a:lnTo>
                  <a:pt x="2852217" y="6857996"/>
                </a:lnTo>
                <a:lnTo>
                  <a:pt x="2852217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9140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319" y="0"/>
                </a:moveTo>
                <a:lnTo>
                  <a:pt x="1018804" y="0"/>
                </a:lnTo>
                <a:lnTo>
                  <a:pt x="0" y="6857996"/>
                </a:lnTo>
                <a:lnTo>
                  <a:pt x="1290319" y="6857996"/>
                </a:lnTo>
                <a:lnTo>
                  <a:pt x="129031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1011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48" y="0"/>
                </a:moveTo>
                <a:lnTo>
                  <a:pt x="0" y="0"/>
                </a:lnTo>
                <a:lnTo>
                  <a:pt x="1107986" y="6857996"/>
                </a:lnTo>
                <a:lnTo>
                  <a:pt x="1248448" y="6857996"/>
                </a:lnTo>
                <a:lnTo>
                  <a:pt x="1248448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0820" y="3589019"/>
            <a:ext cx="1818639" cy="3268979"/>
          </a:xfrm>
          <a:custGeom>
            <a:avLst/>
            <a:gdLst/>
            <a:ahLst/>
            <a:cxnLst/>
            <a:rect l="l" t="t" r="r" b="b"/>
            <a:pathLst>
              <a:path w="1818640" h="3268979">
                <a:moveTo>
                  <a:pt x="1818639" y="0"/>
                </a:moveTo>
                <a:lnTo>
                  <a:pt x="0" y="3268979"/>
                </a:lnTo>
                <a:lnTo>
                  <a:pt x="1818639" y="3268979"/>
                </a:lnTo>
                <a:lnTo>
                  <a:pt x="1818639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24420" y="0"/>
            <a:ext cx="4763770" cy="6858000"/>
          </a:xfrm>
          <a:custGeom>
            <a:avLst/>
            <a:gdLst/>
            <a:ahLst/>
            <a:cxnLst/>
            <a:rect l="l" t="t" r="r" b="b"/>
            <a:pathLst>
              <a:path w="4763770" h="6858000">
                <a:moveTo>
                  <a:pt x="1945639" y="0"/>
                </a:moveTo>
                <a:lnTo>
                  <a:pt x="3164839" y="6857999"/>
                </a:lnTo>
              </a:path>
              <a:path w="4763770" h="6858000">
                <a:moveTo>
                  <a:pt x="4763515" y="3680460"/>
                </a:moveTo>
                <a:lnTo>
                  <a:pt x="0" y="6857046"/>
                </a:lnTo>
              </a:path>
            </a:pathLst>
          </a:custGeom>
          <a:ln w="10160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8" y="0"/>
                </a:moveTo>
                <a:lnTo>
                  <a:pt x="2043317" y="0"/>
                </a:lnTo>
                <a:lnTo>
                  <a:pt x="0" y="6857996"/>
                </a:lnTo>
                <a:lnTo>
                  <a:pt x="3007358" y="6857996"/>
                </a:lnTo>
                <a:lnTo>
                  <a:pt x="3007358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05082" y="0"/>
            <a:ext cx="2586990" cy="6858000"/>
          </a:xfrm>
          <a:custGeom>
            <a:avLst/>
            <a:gdLst/>
            <a:ahLst/>
            <a:cxnLst/>
            <a:rect l="l" t="t" r="r" b="b"/>
            <a:pathLst>
              <a:path w="2586990" h="6858000">
                <a:moveTo>
                  <a:pt x="2586917" y="0"/>
                </a:moveTo>
                <a:lnTo>
                  <a:pt x="0" y="0"/>
                </a:lnTo>
                <a:lnTo>
                  <a:pt x="1207951" y="6857996"/>
                </a:lnTo>
                <a:lnTo>
                  <a:pt x="2586917" y="6857996"/>
                </a:lnTo>
                <a:lnTo>
                  <a:pt x="2586917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3180" y="3047999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820" y="0"/>
                </a:moveTo>
                <a:lnTo>
                  <a:pt x="0" y="3810000"/>
                </a:lnTo>
                <a:lnTo>
                  <a:pt x="3258820" y="3810000"/>
                </a:lnTo>
                <a:lnTo>
                  <a:pt x="325882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337243" y="0"/>
            <a:ext cx="2852420" cy="6858000"/>
          </a:xfrm>
          <a:custGeom>
            <a:avLst/>
            <a:gdLst/>
            <a:ahLst/>
            <a:cxnLst/>
            <a:rect l="l" t="t" r="r" b="b"/>
            <a:pathLst>
              <a:path w="2852420" h="6858000">
                <a:moveTo>
                  <a:pt x="2852217" y="0"/>
                </a:moveTo>
                <a:lnTo>
                  <a:pt x="0" y="0"/>
                </a:lnTo>
                <a:lnTo>
                  <a:pt x="2468548" y="6857996"/>
                </a:lnTo>
                <a:lnTo>
                  <a:pt x="2852217" y="6857996"/>
                </a:lnTo>
                <a:lnTo>
                  <a:pt x="2852217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899140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319" y="0"/>
                </a:moveTo>
                <a:lnTo>
                  <a:pt x="1018804" y="0"/>
                </a:lnTo>
                <a:lnTo>
                  <a:pt x="0" y="6857996"/>
                </a:lnTo>
                <a:lnTo>
                  <a:pt x="1290319" y="6857996"/>
                </a:lnTo>
                <a:lnTo>
                  <a:pt x="129031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1011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48" y="0"/>
                </a:moveTo>
                <a:lnTo>
                  <a:pt x="0" y="0"/>
                </a:lnTo>
                <a:lnTo>
                  <a:pt x="1107986" y="6857996"/>
                </a:lnTo>
                <a:lnTo>
                  <a:pt x="1248448" y="6857996"/>
                </a:lnTo>
                <a:lnTo>
                  <a:pt x="1248448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0820" y="3589019"/>
            <a:ext cx="1818639" cy="3268979"/>
          </a:xfrm>
          <a:custGeom>
            <a:avLst/>
            <a:gdLst/>
            <a:ahLst/>
            <a:cxnLst/>
            <a:rect l="l" t="t" r="r" b="b"/>
            <a:pathLst>
              <a:path w="1818640" h="3268979">
                <a:moveTo>
                  <a:pt x="1818639" y="0"/>
                </a:moveTo>
                <a:lnTo>
                  <a:pt x="0" y="3268979"/>
                </a:lnTo>
                <a:lnTo>
                  <a:pt x="1818639" y="3268979"/>
                </a:lnTo>
                <a:lnTo>
                  <a:pt x="1818639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4013199"/>
            <a:ext cx="449580" cy="2844800"/>
          </a:xfrm>
          <a:custGeom>
            <a:avLst/>
            <a:gdLst/>
            <a:ahLst/>
            <a:cxnLst/>
            <a:rect l="l" t="t" r="r" b="b"/>
            <a:pathLst>
              <a:path w="449580" h="2844800">
                <a:moveTo>
                  <a:pt x="0" y="0"/>
                </a:moveTo>
                <a:lnTo>
                  <a:pt x="0" y="2844800"/>
                </a:lnTo>
                <a:lnTo>
                  <a:pt x="449580" y="28448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20" y="193039"/>
            <a:ext cx="11798554" cy="3909313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679" y="203199"/>
            <a:ext cx="11732514" cy="3899154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259079" y="228599"/>
            <a:ext cx="11673840" cy="3784600"/>
          </a:xfrm>
          <a:custGeom>
            <a:avLst/>
            <a:gdLst/>
            <a:ahLst/>
            <a:cxnLst/>
            <a:rect l="l" t="t" r="r" b="b"/>
            <a:pathLst>
              <a:path w="11673840" h="3784600">
                <a:moveTo>
                  <a:pt x="11673840" y="0"/>
                </a:moveTo>
                <a:lnTo>
                  <a:pt x="0" y="0"/>
                </a:lnTo>
                <a:lnTo>
                  <a:pt x="0" y="3784600"/>
                </a:lnTo>
                <a:lnTo>
                  <a:pt x="11673840" y="3784600"/>
                </a:lnTo>
                <a:lnTo>
                  <a:pt x="11673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59079" y="228599"/>
            <a:ext cx="11673840" cy="3784600"/>
          </a:xfrm>
          <a:custGeom>
            <a:avLst/>
            <a:gdLst/>
            <a:ahLst/>
            <a:cxnLst/>
            <a:rect l="l" t="t" r="r" b="b"/>
            <a:pathLst>
              <a:path w="11673840" h="3784600">
                <a:moveTo>
                  <a:pt x="0" y="3784600"/>
                </a:moveTo>
                <a:lnTo>
                  <a:pt x="11673840" y="3784600"/>
                </a:lnTo>
                <a:lnTo>
                  <a:pt x="11673840" y="0"/>
                </a:lnTo>
                <a:lnTo>
                  <a:pt x="0" y="0"/>
                </a:lnTo>
                <a:lnTo>
                  <a:pt x="0" y="378460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24420" y="0"/>
            <a:ext cx="4763770" cy="6858000"/>
          </a:xfrm>
          <a:custGeom>
            <a:avLst/>
            <a:gdLst/>
            <a:ahLst/>
            <a:cxnLst/>
            <a:rect l="l" t="t" r="r" b="b"/>
            <a:pathLst>
              <a:path w="4763770" h="6858000">
                <a:moveTo>
                  <a:pt x="1945639" y="0"/>
                </a:moveTo>
                <a:lnTo>
                  <a:pt x="3164839" y="6857999"/>
                </a:lnTo>
              </a:path>
              <a:path w="4763770" h="6858000">
                <a:moveTo>
                  <a:pt x="4763515" y="3680460"/>
                </a:moveTo>
                <a:lnTo>
                  <a:pt x="0" y="6857046"/>
                </a:lnTo>
              </a:path>
            </a:pathLst>
          </a:custGeom>
          <a:ln w="10160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7358" y="0"/>
                </a:moveTo>
                <a:lnTo>
                  <a:pt x="2043317" y="0"/>
                </a:lnTo>
                <a:lnTo>
                  <a:pt x="0" y="6857996"/>
                </a:lnTo>
                <a:lnTo>
                  <a:pt x="3007358" y="6857996"/>
                </a:lnTo>
                <a:lnTo>
                  <a:pt x="3007358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05082" y="0"/>
            <a:ext cx="2586990" cy="6858000"/>
          </a:xfrm>
          <a:custGeom>
            <a:avLst/>
            <a:gdLst/>
            <a:ahLst/>
            <a:cxnLst/>
            <a:rect l="l" t="t" r="r" b="b"/>
            <a:pathLst>
              <a:path w="2586990" h="6858000">
                <a:moveTo>
                  <a:pt x="2586917" y="0"/>
                </a:moveTo>
                <a:lnTo>
                  <a:pt x="0" y="0"/>
                </a:lnTo>
                <a:lnTo>
                  <a:pt x="1207951" y="6857996"/>
                </a:lnTo>
                <a:lnTo>
                  <a:pt x="2586917" y="6857996"/>
                </a:lnTo>
                <a:lnTo>
                  <a:pt x="2586917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3180" y="3047999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>
                <a:moveTo>
                  <a:pt x="3258820" y="0"/>
                </a:moveTo>
                <a:lnTo>
                  <a:pt x="0" y="3810000"/>
                </a:lnTo>
                <a:lnTo>
                  <a:pt x="3258820" y="3810000"/>
                </a:lnTo>
                <a:lnTo>
                  <a:pt x="325882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337243" y="0"/>
            <a:ext cx="2852420" cy="6858000"/>
          </a:xfrm>
          <a:custGeom>
            <a:avLst/>
            <a:gdLst/>
            <a:ahLst/>
            <a:cxnLst/>
            <a:rect l="l" t="t" r="r" b="b"/>
            <a:pathLst>
              <a:path w="2852420" h="6858000">
                <a:moveTo>
                  <a:pt x="2852217" y="0"/>
                </a:moveTo>
                <a:lnTo>
                  <a:pt x="0" y="0"/>
                </a:lnTo>
                <a:lnTo>
                  <a:pt x="2468548" y="6857996"/>
                </a:lnTo>
                <a:lnTo>
                  <a:pt x="2852217" y="6857996"/>
                </a:lnTo>
                <a:lnTo>
                  <a:pt x="2852217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899140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319" y="0"/>
                </a:moveTo>
                <a:lnTo>
                  <a:pt x="1018804" y="0"/>
                </a:lnTo>
                <a:lnTo>
                  <a:pt x="0" y="6857996"/>
                </a:lnTo>
                <a:lnTo>
                  <a:pt x="1290319" y="6857996"/>
                </a:lnTo>
                <a:lnTo>
                  <a:pt x="129031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1011" y="0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448" y="0"/>
                </a:moveTo>
                <a:lnTo>
                  <a:pt x="0" y="0"/>
                </a:lnTo>
                <a:lnTo>
                  <a:pt x="1107986" y="6857996"/>
                </a:lnTo>
                <a:lnTo>
                  <a:pt x="1248448" y="6857996"/>
                </a:lnTo>
                <a:lnTo>
                  <a:pt x="1248448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0820" y="3589019"/>
            <a:ext cx="1818639" cy="3268979"/>
          </a:xfrm>
          <a:custGeom>
            <a:avLst/>
            <a:gdLst/>
            <a:ahLst/>
            <a:cxnLst/>
            <a:rect l="l" t="t" r="r" b="b"/>
            <a:pathLst>
              <a:path w="1818640" h="3268979">
                <a:moveTo>
                  <a:pt x="1818639" y="0"/>
                </a:moveTo>
                <a:lnTo>
                  <a:pt x="0" y="3268979"/>
                </a:lnTo>
                <a:lnTo>
                  <a:pt x="1818639" y="3268979"/>
                </a:lnTo>
                <a:lnTo>
                  <a:pt x="1818639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4013200"/>
            <a:ext cx="449580" cy="2844800"/>
          </a:xfrm>
          <a:custGeom>
            <a:avLst/>
            <a:gdLst/>
            <a:ahLst/>
            <a:cxnLst/>
            <a:rect l="l" t="t" r="r" b="b"/>
            <a:pathLst>
              <a:path w="449580" h="2844800">
                <a:moveTo>
                  <a:pt x="0" y="0"/>
                </a:moveTo>
                <a:lnTo>
                  <a:pt x="0" y="2844800"/>
                </a:lnTo>
                <a:lnTo>
                  <a:pt x="449580" y="2844800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4025" y="3150171"/>
            <a:ext cx="6203949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5F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89933" y="3183001"/>
            <a:ext cx="6604634" cy="2811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maps.google.co.uk/maps?q=moma%2Bnew%2Byork&amp;amp%3Boutput=embed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://www.imdb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jon@example.org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www.imd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emmet.io/cheat-sheet/" TargetMode="External"/><Relationship Id="rId2" Type="http://schemas.openxmlformats.org/officeDocument/2006/relationships/hyperlink" Target="https://emmet.io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History/1989/proposal.html" TargetMode="External"/><Relationship Id="rId2" Type="http://schemas.openxmlformats.org/officeDocument/2006/relationships/hyperlink" Target="https://www.w3.org/htm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.visualstudio.com/docs/languages/html" TargetMode="External"/><Relationship Id="rId5" Type="http://schemas.openxmlformats.org/officeDocument/2006/relationships/hyperlink" Target="https://developer.mozilla.org/en-US/docs/Web/HTML/Element" TargetMode="External"/><Relationship Id="rId4" Type="http://schemas.openxmlformats.org/officeDocument/2006/relationships/hyperlink" Target="https://www.w3schools.com/tag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3318" y="2836653"/>
            <a:ext cx="3307082" cy="1931747"/>
          </a:xfrm>
          <a:prstGeom prst="rect">
            <a:avLst/>
          </a:prstGeom>
        </p:spPr>
        <p:txBody>
          <a:bodyPr vert="horz" wrap="square" lIns="0" tIns="326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70"/>
              </a:spcBef>
            </a:pPr>
            <a:r>
              <a:rPr spc="-5" dirty="0"/>
              <a:t>HT</a:t>
            </a:r>
            <a:r>
              <a:rPr spc="5" dirty="0"/>
              <a:t>M</a:t>
            </a:r>
            <a:r>
              <a:rPr dirty="0"/>
              <a:t>L</a:t>
            </a:r>
          </a:p>
          <a:p>
            <a:pPr marL="334645" marR="28575" indent="607060">
              <a:lnSpc>
                <a:spcPts val="3160"/>
              </a:lnSpc>
            </a:pPr>
            <a:r>
              <a:rPr sz="1800" spc="-20" dirty="0">
                <a:solidFill>
                  <a:srgbClr val="7E7E7E"/>
                </a:solidFill>
              </a:rPr>
              <a:t>Parte</a:t>
            </a:r>
            <a:r>
              <a:rPr sz="1800" spc="-100" dirty="0">
                <a:solidFill>
                  <a:srgbClr val="7E7E7E"/>
                </a:solidFill>
              </a:rPr>
              <a:t> </a:t>
            </a:r>
            <a:r>
              <a:rPr sz="1800" dirty="0">
                <a:solidFill>
                  <a:srgbClr val="7E7E7E"/>
                </a:solidFill>
              </a:rPr>
              <a:t>2 </a:t>
            </a:r>
            <a:br>
              <a:rPr lang="en-US" sz="1800" dirty="0">
                <a:solidFill>
                  <a:srgbClr val="7E7E7E"/>
                </a:solidFill>
              </a:rPr>
            </a:br>
            <a:r>
              <a:rPr sz="1800" spc="-530" dirty="0">
                <a:solidFill>
                  <a:srgbClr val="7E7E7E"/>
                </a:solidFill>
              </a:rPr>
              <a:t> </a:t>
            </a:r>
            <a:r>
              <a:rPr sz="1800" spc="-20" dirty="0">
                <a:solidFill>
                  <a:srgbClr val="7E7E7E"/>
                </a:solidFill>
              </a:rPr>
              <a:t>Prof.</a:t>
            </a:r>
            <a:r>
              <a:rPr sz="1800" spc="-75" dirty="0">
                <a:solidFill>
                  <a:srgbClr val="7E7E7E"/>
                </a:solidFill>
              </a:rPr>
              <a:t> </a:t>
            </a:r>
            <a:r>
              <a:rPr lang="en-US" sz="1800" spc="-5" dirty="0">
                <a:solidFill>
                  <a:srgbClr val="7E7E7E"/>
                </a:solidFill>
              </a:rPr>
              <a:t>Henrique Dias Pastor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1515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</a:t>
            </a:r>
            <a:r>
              <a:rPr sz="3600" spc="-15" dirty="0"/>
              <a:t>g</a:t>
            </a:r>
            <a:r>
              <a:rPr sz="3600" spc="-5" dirty="0"/>
              <a:t>en</a:t>
            </a:r>
            <a:r>
              <a:rPr sz="3600" spc="-20" dirty="0"/>
              <a:t>d</a:t>
            </a:r>
            <a:r>
              <a:rPr sz="3600" dirty="0"/>
              <a:t>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727155"/>
            <a:ext cx="6564630" cy="454291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Adicionar</a:t>
            </a:r>
            <a:r>
              <a:rPr sz="13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comentários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ao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seu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código.</a:t>
            </a:r>
            <a:endParaRPr sz="1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54965" algn="l"/>
              </a:tabLst>
            </a:pPr>
            <a:r>
              <a:rPr lang="pt-BR"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lang="pt-BR"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incorporar</a:t>
            </a:r>
            <a:r>
              <a:rPr lang="pt-BR"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lang="pt-BR"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lang="pt-BR"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10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lang="pt-BR" sz="130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lang="pt-BR"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lang="pt-BR"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usando</a:t>
            </a:r>
            <a:r>
              <a:rPr lang="pt-BR" sz="13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iframes.</a:t>
            </a:r>
            <a:endParaRPr lang="pt-BR" sz="1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354965" algn="l"/>
              </a:tabLst>
            </a:pPr>
            <a:r>
              <a:rPr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endParaRPr sz="13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40"/>
              </a:spcBef>
              <a:tabLst>
                <a:tab pos="756285" algn="l"/>
              </a:tabLst>
            </a:pPr>
            <a:r>
              <a:rPr sz="850" spc="-6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11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ordenadas</a:t>
            </a:r>
            <a:endParaRPr sz="11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40"/>
              </a:spcBef>
              <a:tabLst>
                <a:tab pos="756285" algn="l"/>
              </a:tabLst>
            </a:pPr>
            <a:r>
              <a:rPr sz="850" spc="-6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11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não</a:t>
            </a:r>
            <a:r>
              <a:rPr sz="11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ordenadas</a:t>
            </a:r>
            <a:endParaRPr sz="11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40"/>
              </a:spcBef>
              <a:tabLst>
                <a:tab pos="756285" algn="l"/>
              </a:tabLst>
            </a:pPr>
            <a:r>
              <a:rPr sz="850" spc="-6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11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1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definição</a:t>
            </a:r>
            <a:endParaRPr sz="11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40"/>
              </a:spcBef>
              <a:tabLst>
                <a:tab pos="756285" algn="l"/>
              </a:tabLst>
            </a:pPr>
            <a:r>
              <a:rPr sz="850" spc="-6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Dica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 Visul</a:t>
            </a:r>
            <a:r>
              <a:rPr sz="11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Trebuchet MS"/>
                <a:cs typeface="Trebuchet MS"/>
              </a:rPr>
              <a:t>Studio</a:t>
            </a:r>
            <a:r>
              <a:rPr sz="11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354965" algn="l"/>
              </a:tabLst>
            </a:pPr>
            <a:r>
              <a:rPr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endParaRPr lang="en-US" sz="1300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54965" algn="l"/>
              </a:tabLst>
            </a:pPr>
            <a:r>
              <a:rPr lang="pt-BR"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	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Atributos</a:t>
            </a:r>
            <a:r>
              <a:rPr lang="pt-BR" sz="13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10" dirty="0">
                <a:solidFill>
                  <a:srgbClr val="404040"/>
                </a:solidFill>
                <a:latin typeface="Trebuchet MS"/>
                <a:cs typeface="Trebuchet MS"/>
              </a:rPr>
              <a:t>class </a:t>
            </a:r>
            <a:r>
              <a:rPr lang="pt-BR" sz="13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lang="pt-BR"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dirty="0">
                <a:solidFill>
                  <a:srgbClr val="404040"/>
                </a:solidFill>
                <a:latin typeface="Trebuchet MS"/>
                <a:cs typeface="Trebuchet MS"/>
              </a:rPr>
              <a:t>id</a:t>
            </a:r>
            <a:endParaRPr lang="pt-BR" sz="1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354965" algn="l"/>
              </a:tabLst>
            </a:pPr>
            <a:r>
              <a:rPr lang="pt-BR"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Elementos </a:t>
            </a:r>
            <a:r>
              <a:rPr lang="pt-BR" sz="130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 são</a:t>
            </a:r>
            <a:r>
              <a:rPr lang="pt-BR"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usados para</a:t>
            </a:r>
            <a:r>
              <a:rPr lang="pt-BR" sz="13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agrupar</a:t>
            </a:r>
            <a:r>
              <a:rPr lang="pt-BR" sz="13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partes</a:t>
            </a:r>
            <a:r>
              <a:rPr lang="pt-BR" sz="13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lang="pt-BR" sz="1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1300" spc="-5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13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  <a:tabLst>
                <a:tab pos="756285" algn="l"/>
              </a:tabLst>
            </a:pPr>
            <a:r>
              <a:rPr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3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13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3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outro;</a:t>
            </a:r>
            <a:endParaRPr sz="13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  <a:tabLst>
                <a:tab pos="756285" algn="l"/>
              </a:tabLst>
            </a:pPr>
            <a:r>
              <a:rPr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3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outra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mesmo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site;</a:t>
            </a:r>
            <a:endParaRPr sz="13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  <a:tabLst>
                <a:tab pos="756285" algn="l"/>
              </a:tabLst>
            </a:pPr>
            <a:r>
              <a:rPr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 uma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parte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3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web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3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outra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parte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mesma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página;</a:t>
            </a:r>
            <a:endParaRPr sz="13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  <a:tabLst>
                <a:tab pos="756285" algn="l"/>
              </a:tabLst>
            </a:pPr>
            <a:r>
              <a:rPr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abertos em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3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nova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janela</a:t>
            </a:r>
            <a:r>
              <a:rPr sz="13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navegador;</a:t>
            </a:r>
            <a:endParaRPr sz="13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  <a:tabLst>
                <a:tab pos="756285" algn="l"/>
              </a:tabLst>
            </a:pPr>
            <a:r>
              <a:rPr sz="1050" spc="-11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iniciam</a:t>
            </a:r>
            <a:r>
              <a:rPr sz="13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seu</a:t>
            </a:r>
            <a:r>
              <a:rPr sz="13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programa</a:t>
            </a:r>
            <a:r>
              <a:rPr sz="13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3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e-mail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3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404040"/>
                </a:solidFill>
                <a:latin typeface="Trebuchet MS"/>
                <a:cs typeface="Trebuchet MS"/>
              </a:rPr>
              <a:t>novo</a:t>
            </a:r>
            <a:r>
              <a:rPr sz="13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e-mail</a:t>
            </a:r>
            <a:r>
              <a:rPr sz="13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3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404040"/>
                </a:solidFill>
                <a:latin typeface="Trebuchet MS"/>
                <a:cs typeface="Trebuchet MS"/>
              </a:rPr>
              <a:t>alguém.</a:t>
            </a:r>
            <a:endParaRPr sz="1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354965" algn="l"/>
              </a:tabLst>
            </a:pPr>
            <a:r>
              <a:rPr sz="1100" spc="-9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Dicas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Visual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Studio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44735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Comentários</a:t>
            </a:r>
            <a:r>
              <a:rPr sz="3600" spc="-40" dirty="0"/>
              <a:t> </a:t>
            </a:r>
            <a:r>
              <a:rPr sz="3600" spc="-5" dirty="0"/>
              <a:t>no</a:t>
            </a:r>
            <a:r>
              <a:rPr sz="3600" spc="-25" dirty="0"/>
              <a:t> </a:t>
            </a:r>
            <a:r>
              <a:rPr sz="3600" spc="-5" dirty="0"/>
              <a:t>HTML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732817"/>
            <a:ext cx="5396230" cy="3016885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3200" b="1" dirty="0">
                <a:solidFill>
                  <a:srgbClr val="00AF50"/>
                </a:solidFill>
                <a:latin typeface="Consolas"/>
                <a:cs typeface="Consolas"/>
              </a:rPr>
              <a:t>&lt;!–-</a:t>
            </a:r>
            <a:r>
              <a:rPr sz="3200" b="1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00AF50"/>
                </a:solidFill>
                <a:latin typeface="Consolas"/>
                <a:cs typeface="Consolas"/>
              </a:rPr>
              <a:t>Comentário</a:t>
            </a:r>
            <a:r>
              <a:rPr sz="32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00AF50"/>
                </a:solidFill>
                <a:latin typeface="Consolas"/>
                <a:cs typeface="Consolas"/>
              </a:rPr>
              <a:t>aqui</a:t>
            </a:r>
            <a:r>
              <a:rPr sz="32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3200" b="1" spc="5" dirty="0">
                <a:solidFill>
                  <a:srgbClr val="00AF50"/>
                </a:solidFill>
                <a:latin typeface="Consolas"/>
                <a:cs typeface="Consolas"/>
              </a:rPr>
              <a:t>--&gt;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dirty="0">
                <a:solidFill>
                  <a:srgbClr val="00AF50"/>
                </a:solidFill>
                <a:latin typeface="Consolas"/>
                <a:cs typeface="Consolas"/>
              </a:rPr>
              <a:t>&lt;!–-</a:t>
            </a:r>
            <a:endParaRPr sz="32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1005"/>
              </a:spcBef>
            </a:pPr>
            <a:r>
              <a:rPr sz="3200" dirty="0">
                <a:solidFill>
                  <a:srgbClr val="00AF50"/>
                </a:solidFill>
                <a:latin typeface="Consolas"/>
                <a:cs typeface="Consolas"/>
              </a:rPr>
              <a:t>Comentário</a:t>
            </a:r>
            <a:r>
              <a:rPr sz="32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00AF50"/>
                </a:solidFill>
                <a:latin typeface="Consolas"/>
                <a:cs typeface="Consolas"/>
              </a:rPr>
              <a:t>aqui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3200" b="1" spc="-5" dirty="0">
                <a:solidFill>
                  <a:srgbClr val="00AF50"/>
                </a:solidFill>
                <a:latin typeface="Consolas"/>
                <a:cs typeface="Consolas"/>
              </a:rPr>
              <a:t>--&gt;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284" y="4868798"/>
            <a:ext cx="8260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Se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quiser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adicionar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comentário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ao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seu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código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que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não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ficará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visível</a:t>
            </a:r>
            <a:r>
              <a:rPr sz="16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navegador </a:t>
            </a:r>
            <a:r>
              <a:rPr sz="1600" spc="-4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do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usuário,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poderá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adicionar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texto entre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esses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caracteres.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14440" y="1595119"/>
            <a:ext cx="5887720" cy="2697480"/>
            <a:chOff x="6314440" y="1595119"/>
            <a:chExt cx="5887720" cy="2697480"/>
          </a:xfrm>
        </p:grpSpPr>
        <p:sp>
          <p:nvSpPr>
            <p:cNvPr id="6" name="object 6"/>
            <p:cNvSpPr/>
            <p:nvPr/>
          </p:nvSpPr>
          <p:spPr>
            <a:xfrm>
              <a:off x="6324600" y="1605279"/>
              <a:ext cx="5867400" cy="2677160"/>
            </a:xfrm>
            <a:custGeom>
              <a:avLst/>
              <a:gdLst/>
              <a:ahLst/>
              <a:cxnLst/>
              <a:rect l="l" t="t" r="r" b="b"/>
              <a:pathLst>
                <a:path w="5867400" h="2677160">
                  <a:moveTo>
                    <a:pt x="5867400" y="0"/>
                  </a:moveTo>
                  <a:lnTo>
                    <a:pt x="0" y="0"/>
                  </a:lnTo>
                  <a:lnTo>
                    <a:pt x="0" y="2677160"/>
                  </a:lnTo>
                  <a:lnTo>
                    <a:pt x="5867400" y="2677160"/>
                  </a:lnTo>
                  <a:lnTo>
                    <a:pt x="5867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24600" y="1605279"/>
              <a:ext cx="5867400" cy="2677160"/>
            </a:xfrm>
            <a:custGeom>
              <a:avLst/>
              <a:gdLst/>
              <a:ahLst/>
              <a:cxnLst/>
              <a:rect l="l" t="t" r="r" b="b"/>
              <a:pathLst>
                <a:path w="5867400" h="2677160">
                  <a:moveTo>
                    <a:pt x="0" y="2677160"/>
                  </a:moveTo>
                  <a:lnTo>
                    <a:pt x="5867400" y="2677160"/>
                  </a:lnTo>
                  <a:lnTo>
                    <a:pt x="5867400" y="0"/>
                  </a:lnTo>
                  <a:lnTo>
                    <a:pt x="0" y="0"/>
                  </a:lnTo>
                  <a:lnTo>
                    <a:pt x="0" y="267716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04609" y="1629409"/>
            <a:ext cx="563880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4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 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>
              <a:latin typeface="Consolas"/>
              <a:cs typeface="Consolas"/>
            </a:endParaRPr>
          </a:p>
          <a:p>
            <a:pPr marL="7994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Minha</a:t>
            </a:r>
            <a:r>
              <a:rPr sz="14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primeira</a:t>
            </a:r>
            <a:r>
              <a:rPr sz="14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página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799465">
              <a:lnSpc>
                <a:spcPct val="100000"/>
              </a:lnSpc>
            </a:pPr>
            <a:r>
              <a:rPr sz="1400" dirty="0">
                <a:solidFill>
                  <a:srgbClr val="6A9954"/>
                </a:solidFill>
                <a:latin typeface="Consolas"/>
                <a:cs typeface="Consolas"/>
              </a:rPr>
              <a:t>&lt;!--</a:t>
            </a:r>
            <a:r>
              <a:rPr sz="14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6A9954"/>
                </a:solidFill>
                <a:latin typeface="Consolas"/>
                <a:cs typeface="Consolas"/>
              </a:rPr>
              <a:t>Esta</a:t>
            </a:r>
            <a:r>
              <a:rPr sz="1400" spc="-2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6A9954"/>
                </a:solidFill>
                <a:latin typeface="Consolas"/>
                <a:cs typeface="Consolas"/>
              </a:rPr>
              <a:t>é</a:t>
            </a:r>
            <a:r>
              <a:rPr sz="14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6A9954"/>
                </a:solidFill>
                <a:latin typeface="Consolas"/>
                <a:cs typeface="Consolas"/>
              </a:rPr>
              <a:t>uma</a:t>
            </a:r>
            <a:r>
              <a:rPr sz="1400" dirty="0">
                <a:solidFill>
                  <a:srgbClr val="6A9954"/>
                </a:solidFill>
                <a:latin typeface="Consolas"/>
                <a:cs typeface="Consolas"/>
              </a:rPr>
              <a:t> página HTML</a:t>
            </a:r>
            <a:endParaRPr sz="1400">
              <a:latin typeface="Consolas"/>
              <a:cs typeface="Consolas"/>
            </a:endParaRPr>
          </a:p>
          <a:p>
            <a:pPr marL="119316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6A9954"/>
                </a:solidFill>
                <a:latin typeface="Consolas"/>
                <a:cs typeface="Consolas"/>
              </a:rPr>
              <a:t>escrita </a:t>
            </a:r>
            <a:r>
              <a:rPr sz="1400" spc="5" dirty="0">
                <a:solidFill>
                  <a:srgbClr val="6A9954"/>
                </a:solidFill>
                <a:latin typeface="Consolas"/>
                <a:cs typeface="Consolas"/>
              </a:rPr>
              <a:t>no</a:t>
            </a:r>
            <a:r>
              <a:rPr sz="1400" spc="-1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6A9954"/>
                </a:solidFill>
                <a:latin typeface="Consolas"/>
                <a:cs typeface="Consolas"/>
              </a:rPr>
              <a:t>Visual</a:t>
            </a:r>
            <a:r>
              <a:rPr sz="1400" spc="-2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6A9954"/>
                </a:solidFill>
                <a:latin typeface="Consolas"/>
                <a:cs typeface="Consolas"/>
              </a:rPr>
              <a:t>Code</a:t>
            </a:r>
            <a:r>
              <a:rPr sz="1400" spc="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6A9954"/>
                </a:solidFill>
                <a:latin typeface="Consolas"/>
                <a:cs typeface="Consolas"/>
              </a:rPr>
              <a:t>--&gt;</a:t>
            </a:r>
            <a:endParaRPr sz="1400">
              <a:latin typeface="Consolas"/>
              <a:cs typeface="Consolas"/>
            </a:endParaRPr>
          </a:p>
          <a:p>
            <a:pPr marL="7994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Bem-vindo</a:t>
            </a:r>
            <a:r>
              <a:rPr sz="14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à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minha</a:t>
            </a:r>
            <a:r>
              <a:rPr sz="14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primeira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página</a:t>
            </a:r>
            <a:r>
              <a:rPr sz="14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da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D3D3D3"/>
                </a:solidFill>
                <a:latin typeface="Consolas"/>
                <a:cs typeface="Consolas"/>
              </a:rPr>
              <a:t>Web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1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17170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IFRAMES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728342"/>
            <a:ext cx="10597516" cy="4844916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400" b="1" spc="-15" dirty="0">
                <a:solidFill>
                  <a:srgbClr val="6F2F9F"/>
                </a:solidFill>
                <a:latin typeface="Trebuchet MS"/>
                <a:cs typeface="Trebuchet MS"/>
              </a:rPr>
              <a:t>&lt;iframe&gt;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iframe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400" spc="1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uma</a:t>
            </a:r>
            <a:r>
              <a:rPr sz="2400" spc="1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pequena</a:t>
            </a:r>
            <a:r>
              <a:rPr sz="2400" spc="1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janela</a:t>
            </a:r>
            <a:r>
              <a:rPr sz="2400" spc="1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na</a:t>
            </a:r>
            <a:r>
              <a:rPr sz="2400" spc="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sua</a:t>
            </a:r>
            <a:r>
              <a:rPr sz="2400" spc="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página</a:t>
            </a:r>
            <a:r>
              <a:rPr sz="2400" spc="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nessa</a:t>
            </a:r>
            <a:r>
              <a:rPr sz="2400" spc="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Trebuchet MS"/>
                <a:cs typeface="Trebuchet MS"/>
              </a:rPr>
              <a:t>janela</a:t>
            </a:r>
            <a:r>
              <a:rPr sz="2400" spc="1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 err="1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ver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outra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endParaRPr lang="en-US" sz="2400" spc="1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1270000" lvl="2" indent="-342900">
              <a:spcBef>
                <a:spcPts val="994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termo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iframe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uma</a:t>
            </a:r>
            <a:r>
              <a:rPr sz="24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abreviação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 inline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frame.</a:t>
            </a:r>
            <a:endParaRPr lang="en-US" sz="24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endParaRPr sz="24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5"/>
              </a:spcBef>
            </a:pPr>
            <a:r>
              <a:rPr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lang="en-US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uso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comum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iframes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(que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ter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visto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vários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sites)</a:t>
            </a:r>
            <a:r>
              <a:rPr sz="2400" spc="5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incorporar</a:t>
            </a:r>
            <a:r>
              <a:rPr sz="2400" spc="2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2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mapa</a:t>
            </a:r>
            <a:r>
              <a:rPr sz="2400" spc="2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400" spc="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Google</a:t>
            </a:r>
            <a:r>
              <a:rPr sz="2400" spc="2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spc="2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400" spc="2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endParaRPr lang="en-US" sz="2400" spc="19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5"/>
              </a:spcBef>
            </a:pPr>
            <a:endParaRPr lang="pt-BR" sz="2400" spc="19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5"/>
              </a:spcBef>
            </a:pPr>
            <a:r>
              <a:rPr lang="en-US" sz="240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20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conteúdo</a:t>
            </a:r>
            <a:r>
              <a:rPr sz="2400" spc="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sz="2400" spc="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Trebuchet MS"/>
                <a:cs typeface="Trebuchet MS"/>
              </a:rPr>
              <a:t>iframe</a:t>
            </a:r>
            <a:r>
              <a:rPr sz="2400" spc="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FF0000"/>
                </a:solidFill>
                <a:latin typeface="Trebuchet MS"/>
                <a:cs typeface="Trebuchet MS"/>
              </a:rPr>
              <a:t>pode</a:t>
            </a:r>
            <a:r>
              <a:rPr sz="2400" spc="-5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ser qualquer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página html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(localizada no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mesmo servidor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ou em qualquer outro </a:t>
            </a:r>
            <a:r>
              <a:rPr sz="24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lugar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404040"/>
                </a:solidFill>
                <a:latin typeface="Trebuchet MS"/>
                <a:cs typeface="Trebuchet MS"/>
              </a:rPr>
              <a:t>na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web</a:t>
            </a:r>
            <a:r>
              <a:rPr lang="en-US" sz="2400" spc="-5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lang="en-US" sz="2400" spc="-5" dirty="0" err="1">
                <a:solidFill>
                  <a:srgbClr val="FF0000"/>
                </a:solidFill>
                <a:latin typeface="Trebuchet MS"/>
                <a:cs typeface="Trebuchet MS"/>
              </a:rPr>
              <a:t>desde</a:t>
            </a:r>
            <a:r>
              <a:rPr lang="en-US" sz="2400" spc="-5" dirty="0">
                <a:solidFill>
                  <a:srgbClr val="FF0000"/>
                </a:solidFill>
                <a:latin typeface="Trebuchet MS"/>
                <a:cs typeface="Trebuchet MS"/>
              </a:rPr>
              <a:t> que o </a:t>
            </a:r>
            <a:r>
              <a:rPr lang="en-US" sz="2400" spc="-5" dirty="0" err="1">
                <a:solidFill>
                  <a:srgbClr val="FF0000"/>
                </a:solidFill>
                <a:latin typeface="Trebuchet MS"/>
                <a:cs typeface="Trebuchet MS"/>
              </a:rPr>
              <a:t>proprietário</a:t>
            </a:r>
            <a:r>
              <a:rPr lang="en-US"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5" dirty="0" err="1">
                <a:solidFill>
                  <a:srgbClr val="FF0000"/>
                </a:solidFill>
                <a:latin typeface="Trebuchet MS"/>
                <a:cs typeface="Trebuchet MS"/>
              </a:rPr>
              <a:t>deixe</a:t>
            </a:r>
            <a:r>
              <a:rPr lang="en-US" sz="2400" spc="-5" dirty="0">
                <a:solidFill>
                  <a:srgbClr val="FF0000"/>
                </a:solidFill>
                <a:latin typeface="Trebuchet MS"/>
                <a:cs typeface="Trebuchet MS"/>
              </a:rPr>
              <a:t> o </a:t>
            </a:r>
            <a:r>
              <a:rPr lang="en-US" sz="2400" spc="-5" dirty="0" err="1">
                <a:solidFill>
                  <a:srgbClr val="FF0000"/>
                </a:solidFill>
                <a:latin typeface="Trebuchet MS"/>
                <a:cs typeface="Trebuchet MS"/>
              </a:rPr>
              <a:t>acesso</a:t>
            </a:r>
            <a:r>
              <a:rPr lang="en-US" sz="2400" spc="-5" dirty="0">
                <a:solidFill>
                  <a:srgbClr val="FF0000"/>
                </a:solidFill>
                <a:latin typeface="Trebuchet MS"/>
                <a:cs typeface="Trebuchet MS"/>
              </a:rPr>
              <a:t> a </a:t>
            </a:r>
            <a:r>
              <a:rPr lang="en-US" sz="2400" spc="-5" dirty="0" err="1">
                <a:solidFill>
                  <a:srgbClr val="FF0000"/>
                </a:solidFill>
                <a:latin typeface="Trebuchet MS"/>
                <a:cs typeface="Trebuchet MS"/>
              </a:rPr>
              <a:t>esse</a:t>
            </a:r>
            <a:r>
              <a:rPr lang="en-US"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5" dirty="0" err="1">
                <a:solidFill>
                  <a:srgbClr val="FF0000"/>
                </a:solidFill>
                <a:latin typeface="Trebuchet MS"/>
                <a:cs typeface="Trebuchet MS"/>
              </a:rPr>
              <a:t>recurso</a:t>
            </a:r>
            <a:r>
              <a:rPr lang="en-US"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lang="en-US" sz="2400" spc="-5" dirty="0" err="1">
                <a:solidFill>
                  <a:srgbClr val="FF0000"/>
                </a:solidFill>
                <a:latin typeface="Trebuchet MS"/>
                <a:cs typeface="Trebuchet MS"/>
              </a:rPr>
              <a:t>liberado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).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116678"/>
            <a:ext cx="11419840" cy="6644260"/>
            <a:chOff x="386079" y="873848"/>
            <a:chExt cx="11419840" cy="5740312"/>
          </a:xfrm>
        </p:grpSpPr>
        <p:sp>
          <p:nvSpPr>
            <p:cNvPr id="3" name="object 3"/>
            <p:cNvSpPr/>
            <p:nvPr/>
          </p:nvSpPr>
          <p:spPr>
            <a:xfrm>
              <a:off x="386079" y="4027641"/>
              <a:ext cx="11419840" cy="2586519"/>
            </a:xfrm>
            <a:custGeom>
              <a:avLst/>
              <a:gdLst/>
              <a:ahLst/>
              <a:cxnLst/>
              <a:rect l="l" t="t" r="r" b="b"/>
              <a:pathLst>
                <a:path w="11419840" h="2461259">
                  <a:moveTo>
                    <a:pt x="11419840" y="0"/>
                  </a:moveTo>
                  <a:lnTo>
                    <a:pt x="0" y="0"/>
                  </a:lnTo>
                  <a:lnTo>
                    <a:pt x="0" y="2461260"/>
                  </a:lnTo>
                  <a:lnTo>
                    <a:pt x="11419840" y="2461260"/>
                  </a:lnTo>
                  <a:lnTo>
                    <a:pt x="114198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386079" y="4152900"/>
              <a:ext cx="11419840" cy="2461260"/>
            </a:xfrm>
            <a:custGeom>
              <a:avLst/>
              <a:gdLst/>
              <a:ahLst/>
              <a:cxnLst/>
              <a:rect l="l" t="t" r="r" b="b"/>
              <a:pathLst>
                <a:path w="11419840" h="2461259">
                  <a:moveTo>
                    <a:pt x="0" y="2461260"/>
                  </a:moveTo>
                  <a:lnTo>
                    <a:pt x="11419840" y="2461260"/>
                  </a:lnTo>
                  <a:lnTo>
                    <a:pt x="11419840" y="0"/>
                  </a:lnTo>
                  <a:lnTo>
                    <a:pt x="0" y="0"/>
                  </a:lnTo>
                  <a:lnTo>
                    <a:pt x="0" y="246126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4279" y="873848"/>
              <a:ext cx="6567805" cy="430784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17170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IFRAMES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457200" y="990600"/>
            <a:ext cx="10859770" cy="5781711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105"/>
              </a:spcBef>
            </a:pP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Atributos:</a:t>
            </a:r>
            <a:endParaRPr sz="1800" dirty="0">
              <a:latin typeface="Trebuchet MS"/>
              <a:cs typeface="Trebuchet MS"/>
            </a:endParaRPr>
          </a:p>
          <a:p>
            <a:pPr marL="303530" marR="6689090">
              <a:lnSpc>
                <a:spcPct val="100000"/>
              </a:lnSpc>
              <a:spcBef>
                <a:spcPts val="1000"/>
              </a:spcBef>
            </a:pPr>
            <a:r>
              <a:rPr sz="1800" b="1" dirty="0">
                <a:solidFill>
                  <a:srgbClr val="00AF50"/>
                </a:solidFill>
                <a:latin typeface="Trebuchet MS"/>
                <a:cs typeface="Trebuchet MS"/>
              </a:rPr>
              <a:t>src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src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especifica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URL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da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mostrar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quadro.</a:t>
            </a:r>
            <a:endParaRPr sz="1800" dirty="0">
              <a:latin typeface="Trebuchet MS"/>
              <a:cs typeface="Trebuchet MS"/>
            </a:endParaRPr>
          </a:p>
          <a:p>
            <a:pPr marL="303530" marR="6750684">
              <a:lnSpc>
                <a:spcPct val="100000"/>
              </a:lnSpc>
              <a:spcBef>
                <a:spcPts val="1005"/>
              </a:spcBef>
            </a:pPr>
            <a:r>
              <a:rPr sz="1800" b="1" spc="-5" dirty="0">
                <a:solidFill>
                  <a:srgbClr val="00AF50"/>
                </a:solidFill>
                <a:latin typeface="Trebuchet MS"/>
                <a:cs typeface="Trebuchet MS"/>
              </a:rPr>
              <a:t>height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atributo height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especifica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1800" spc="-5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altura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iframe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pixels.</a:t>
            </a:r>
            <a:endParaRPr sz="1800" dirty="0">
              <a:latin typeface="Trebuchet MS"/>
              <a:cs typeface="Trebuchet MS"/>
            </a:endParaRPr>
          </a:p>
          <a:p>
            <a:pPr marL="303530">
              <a:lnSpc>
                <a:spcPct val="100000"/>
              </a:lnSpc>
              <a:spcBef>
                <a:spcPts val="1000"/>
              </a:spcBef>
            </a:pPr>
            <a:r>
              <a:rPr sz="1800" b="1" spc="-5" dirty="0">
                <a:solidFill>
                  <a:srgbClr val="00AF50"/>
                </a:solidFill>
                <a:latin typeface="Trebuchet MS"/>
                <a:cs typeface="Trebuchet MS"/>
              </a:rPr>
              <a:t>width</a:t>
            </a:r>
            <a:r>
              <a:rPr sz="1800" b="1" spc="-1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atributo width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especifica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</a:p>
          <a:p>
            <a:pPr marL="303530">
              <a:lnSpc>
                <a:spcPct val="100000"/>
              </a:lnSpc>
            </a:pP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largura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iframe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pixels.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600" spc="-5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6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600" spc="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600" spc="1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6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iFrames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iframe</a:t>
            </a:r>
            <a:r>
              <a:rPr sz="1600" spc="8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width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"450"</a:t>
            </a:r>
            <a:r>
              <a:rPr sz="1600" spc="6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height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"350"</a:t>
            </a:r>
            <a:r>
              <a:rPr sz="1600" spc="7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src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  <a:hlinkClick r:id="rId3"/>
              </a:rPr>
              <a:t>http://maps.google.co.uk/maps?q=moma+new+york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  <a:hlinkClick r:id="rId3"/>
              </a:rPr>
              <a:t>&amp;amp;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  <a:hlinkClick r:id="rId3"/>
              </a:rPr>
              <a:t>output=embed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iframe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4842" y="354969"/>
            <a:ext cx="743235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IFRAMES</a:t>
            </a:r>
            <a:r>
              <a:rPr lang="pt-BR" sz="3600" spc="-10" dirty="0"/>
              <a:t> do MAPs google, como adicionar. </a:t>
            </a:r>
            <a:endParaRPr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603751-3C68-B193-FCA6-55E5A94D8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2942"/>
            <a:ext cx="5715000" cy="471025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CAFD78-D745-C9BE-4F7B-CBA7564005B3}"/>
              </a:ext>
            </a:extLst>
          </p:cNvPr>
          <p:cNvCxnSpPr/>
          <p:nvPr/>
        </p:nvCxnSpPr>
        <p:spPr>
          <a:xfrm flipH="1">
            <a:off x="3048000" y="1066800"/>
            <a:ext cx="2133600" cy="403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C7AF1D-4E04-88DA-B057-847A238E7F49}"/>
              </a:ext>
            </a:extLst>
          </p:cNvPr>
          <p:cNvCxnSpPr>
            <a:cxnSpLocks/>
          </p:cNvCxnSpPr>
          <p:nvPr/>
        </p:nvCxnSpPr>
        <p:spPr>
          <a:xfrm flipH="1">
            <a:off x="3048000" y="1219200"/>
            <a:ext cx="2286000" cy="403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04541C0-01DA-89B7-1694-1DEA6FA54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425" y="1442605"/>
            <a:ext cx="5353375" cy="542925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86729C-CAC9-E9AA-465C-B78CEF72B5F1}"/>
              </a:ext>
            </a:extLst>
          </p:cNvPr>
          <p:cNvCxnSpPr>
            <a:cxnSpLocks/>
          </p:cNvCxnSpPr>
          <p:nvPr/>
        </p:nvCxnSpPr>
        <p:spPr>
          <a:xfrm>
            <a:off x="9372600" y="1320941"/>
            <a:ext cx="1905000" cy="1041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A5E649-0534-10A3-4437-82519C22426D}"/>
              </a:ext>
            </a:extLst>
          </p:cNvPr>
          <p:cNvSpPr txBox="1"/>
          <p:nvPr/>
        </p:nvSpPr>
        <p:spPr>
          <a:xfrm>
            <a:off x="7924800" y="397611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Clicar em copiar HTML e colar no seu código.</a:t>
            </a:r>
          </a:p>
          <a:p>
            <a:r>
              <a:rPr lang="pt-BR" dirty="0"/>
              <a:t>Já vem todo o código do </a:t>
            </a:r>
            <a:r>
              <a:rPr lang="pt-BR" dirty="0" err="1"/>
              <a:t>iframe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615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41818" y="3150171"/>
            <a:ext cx="17538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Listas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7381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Tipos</a:t>
            </a:r>
            <a:r>
              <a:rPr sz="3600" spc="-40" dirty="0"/>
              <a:t> </a:t>
            </a:r>
            <a:r>
              <a:rPr sz="3600" spc="-5" dirty="0"/>
              <a:t>de</a:t>
            </a:r>
            <a:r>
              <a:rPr sz="3600" spc="-50" dirty="0"/>
              <a:t> </a:t>
            </a:r>
            <a:r>
              <a:rPr sz="3600" spc="-5" dirty="0"/>
              <a:t>lista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830291"/>
            <a:ext cx="10445116" cy="440056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3200" spc="-50" dirty="0">
                <a:solidFill>
                  <a:srgbClr val="404040"/>
                </a:solidFill>
                <a:latin typeface="Trebuchet MS"/>
                <a:cs typeface="Trebuchet MS"/>
              </a:rPr>
              <a:t>Temos</a:t>
            </a:r>
            <a:r>
              <a:rPr sz="3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r>
              <a:rPr sz="3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tipos</a:t>
            </a:r>
            <a:r>
              <a:rPr sz="32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diferentes</a:t>
            </a:r>
            <a:r>
              <a:rPr sz="32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32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200" spc="-5" dirty="0" err="1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3200" spc="-5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endParaRPr lang="pt-BR" sz="3200" spc="-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9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2400" spc="44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ordenadas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nas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quais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cada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item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da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lista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é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Trebuchet MS"/>
                <a:cs typeface="Trebuchet MS"/>
              </a:rPr>
              <a:t>numerado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lang="pt-BR" sz="24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endParaRPr lang="pt-BR" sz="2400" spc="-155" dirty="0">
              <a:solidFill>
                <a:srgbClr val="5FCAEE"/>
              </a:solidFill>
              <a:latin typeface="Trebuchet MS"/>
              <a:cs typeface="Lucida Sans Unicode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2400" spc="44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6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não</a:t>
            </a:r>
            <a:r>
              <a:rPr sz="2400" spc="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ordenadas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6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2400" spc="6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6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400" spc="6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começam</a:t>
            </a:r>
            <a:r>
              <a:rPr sz="2400" spc="6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com</a:t>
            </a:r>
            <a:r>
              <a:rPr sz="2400" spc="5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um</a:t>
            </a:r>
            <a:r>
              <a:rPr sz="2400" spc="6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marcador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355600" algn="just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(diferente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dos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caracteres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indicam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ordem).</a:t>
            </a:r>
            <a:endParaRPr sz="2400" dirty="0">
              <a:latin typeface="Trebuchet MS"/>
              <a:cs typeface="Trebuchet MS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000"/>
              </a:spcBef>
            </a:pPr>
            <a:endParaRPr lang="pt-BR" sz="2400" spc="-155" dirty="0">
              <a:solidFill>
                <a:srgbClr val="5FCAEE"/>
              </a:solidFill>
              <a:latin typeface="Lucida Sans Unicode"/>
              <a:cs typeface="Lucida Sans Unicode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000"/>
              </a:spcBef>
            </a:pPr>
            <a:r>
              <a:rPr sz="24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240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definição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Uma lista de definições 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não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é uma lista de itens. Esta é uma lista de 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termos e explicações dos termos.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90800"/>
            <a:ext cx="10439400" cy="4419600"/>
            <a:chOff x="0" y="3583938"/>
            <a:chExt cx="9363075" cy="3274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520" y="3583938"/>
              <a:ext cx="9139174" cy="31701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679" y="3591557"/>
              <a:ext cx="7777733" cy="31676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079" y="3619499"/>
              <a:ext cx="9014460" cy="3045460"/>
            </a:xfrm>
            <a:custGeom>
              <a:avLst/>
              <a:gdLst/>
              <a:ahLst/>
              <a:cxnLst/>
              <a:rect l="l" t="t" r="r" b="b"/>
              <a:pathLst>
                <a:path w="9014460" h="3045459">
                  <a:moveTo>
                    <a:pt x="9014460" y="0"/>
                  </a:moveTo>
                  <a:lnTo>
                    <a:pt x="0" y="0"/>
                  </a:lnTo>
                  <a:lnTo>
                    <a:pt x="0" y="3045460"/>
                  </a:lnTo>
                  <a:lnTo>
                    <a:pt x="9014460" y="3045460"/>
                  </a:lnTo>
                  <a:lnTo>
                    <a:pt x="90144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9079" y="3619499"/>
              <a:ext cx="9014460" cy="3045460"/>
            </a:xfrm>
            <a:custGeom>
              <a:avLst/>
              <a:gdLst/>
              <a:ahLst/>
              <a:cxnLst/>
              <a:rect l="l" t="t" r="r" b="b"/>
              <a:pathLst>
                <a:path w="9014460" h="3045459">
                  <a:moveTo>
                    <a:pt x="0" y="3045460"/>
                  </a:moveTo>
                  <a:lnTo>
                    <a:pt x="9014460" y="3045460"/>
                  </a:lnTo>
                  <a:lnTo>
                    <a:pt x="9014460" y="0"/>
                  </a:lnTo>
                  <a:lnTo>
                    <a:pt x="0" y="0"/>
                  </a:lnTo>
                  <a:lnTo>
                    <a:pt x="0" y="304546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3400" y="152400"/>
            <a:ext cx="34143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Listas</a:t>
            </a:r>
            <a:r>
              <a:rPr sz="3600" spc="-35" dirty="0"/>
              <a:t> </a:t>
            </a:r>
            <a:r>
              <a:rPr sz="3600" spc="-5" dirty="0"/>
              <a:t>ordenadas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609600" y="1219200"/>
            <a:ext cx="507873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Trebuchet MS"/>
                <a:cs typeface="Trebuchet MS"/>
              </a:rPr>
              <a:t>&lt;ol&gt;</a:t>
            </a:r>
            <a:endParaRPr sz="18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lista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ordenada</a:t>
            </a:r>
            <a:r>
              <a:rPr sz="1800" spc="9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é</a:t>
            </a:r>
            <a:r>
              <a:rPr sz="1800" spc="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criada</a:t>
            </a:r>
            <a:r>
              <a:rPr sz="1800" spc="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com</a:t>
            </a:r>
            <a:r>
              <a:rPr sz="1800" spc="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800" spc="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elemento</a:t>
            </a:r>
            <a:r>
              <a:rPr sz="1800" spc="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&lt;ol&gt;. 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 </a:t>
            </a:r>
            <a:r>
              <a:rPr sz="1800" spc="-5" dirty="0">
                <a:latin typeface="Trebuchet MS"/>
                <a:cs typeface="Trebuchet MS"/>
              </a:rPr>
              <a:t>atributo </a:t>
            </a:r>
            <a:r>
              <a:rPr sz="1800" i="1" spc="-5" dirty="0">
                <a:latin typeface="Trebuchet MS"/>
                <a:cs typeface="Trebuchet MS"/>
              </a:rPr>
              <a:t>type </a:t>
            </a:r>
            <a:r>
              <a:rPr sz="1800" spc="-10" dirty="0">
                <a:latin typeface="Trebuchet MS"/>
                <a:cs typeface="Trebuchet MS"/>
              </a:rPr>
              <a:t>usado </a:t>
            </a:r>
            <a:r>
              <a:rPr sz="1800" spc="-5" dirty="0">
                <a:latin typeface="Trebuchet MS"/>
                <a:cs typeface="Trebuchet MS"/>
              </a:rPr>
              <a:t>com </a:t>
            </a:r>
            <a:r>
              <a:rPr sz="1800" dirty="0">
                <a:latin typeface="Trebuchet MS"/>
                <a:cs typeface="Trebuchet MS"/>
              </a:rPr>
              <a:t>o </a:t>
            </a:r>
            <a:r>
              <a:rPr sz="1800" spc="-5" dirty="0">
                <a:latin typeface="Trebuchet MS"/>
                <a:cs typeface="Trebuchet MS"/>
              </a:rPr>
              <a:t>elemento </a:t>
            </a:r>
            <a:r>
              <a:rPr sz="1800" dirty="0">
                <a:latin typeface="Trebuchet MS"/>
                <a:cs typeface="Trebuchet MS"/>
              </a:rPr>
              <a:t>&lt;ol&gt; 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especifica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tipo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numeração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(números,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letras,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algarismos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romanos)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000" y="2759391"/>
            <a:ext cx="9829800" cy="3885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40"/>
              </a:lnSpc>
              <a:spcBef>
                <a:spcPts val="100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6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6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Lista</a:t>
            </a:r>
            <a:r>
              <a:rPr sz="1600" spc="-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ordenadas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ol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Corte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as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batatas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em quarto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Cozinhe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em</a:t>
            </a:r>
            <a:r>
              <a:rPr sz="16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água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salgada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por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 15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16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20 minutos</a:t>
            </a:r>
            <a:r>
              <a:rPr sz="16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até que ela</a:t>
            </a:r>
            <a:r>
              <a:rPr sz="16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ficar macia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Aqueça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leite,</a:t>
            </a:r>
            <a:r>
              <a:rPr sz="16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manteiga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</a:t>
            </a:r>
            <a:r>
              <a:rPr sz="16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noz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moscada 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Escorra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as</a:t>
            </a:r>
            <a:r>
              <a:rPr sz="16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batatas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amasse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Misture</a:t>
            </a:r>
            <a:r>
              <a:rPr sz="16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o</a:t>
            </a:r>
            <a:r>
              <a:rPr sz="16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leite</a:t>
            </a:r>
            <a:r>
              <a:rPr sz="16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ol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2403" y="2514600"/>
            <a:ext cx="6189980" cy="2597150"/>
            <a:chOff x="6002020" y="2923539"/>
            <a:chExt cx="6189980" cy="25971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2020" y="2923539"/>
              <a:ext cx="6189979" cy="25971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7600" y="3119119"/>
              <a:ext cx="5735320" cy="20192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248400" y="1143000"/>
            <a:ext cx="30988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Trebuchet MS"/>
                <a:cs typeface="Trebuchet MS"/>
              </a:rPr>
              <a:t>&lt;li&gt;</a:t>
            </a:r>
            <a:endParaRPr sz="1800" dirty="0">
              <a:latin typeface="Trebuchet MS"/>
              <a:cs typeface="Trebuchet MS"/>
            </a:endParaRPr>
          </a:p>
          <a:p>
            <a:pPr marL="12700" marR="46990">
              <a:lnSpc>
                <a:spcPct val="100000"/>
              </a:lnSpc>
            </a:pPr>
            <a:r>
              <a:rPr sz="1800" spc="-5" dirty="0">
                <a:latin typeface="Trebuchet MS"/>
                <a:cs typeface="Trebuchet MS"/>
              </a:rPr>
              <a:t>Cada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item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na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lista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colocado </a:t>
            </a:r>
            <a:r>
              <a:rPr sz="1800" spc="-52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entre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uma tag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abertura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&lt;li&gt;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uma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tag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</a:t>
            </a:r>
            <a:r>
              <a:rPr sz="1800" spc="-10" dirty="0">
                <a:latin typeface="Trebuchet MS"/>
                <a:cs typeface="Trebuchet MS"/>
              </a:rPr>
              <a:t> fechamento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rebuchet MS"/>
                <a:cs typeface="Trebuchet MS"/>
              </a:rPr>
              <a:t>&lt;/li&gt;.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34023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Listas</a:t>
            </a:r>
            <a:r>
              <a:rPr sz="3600" spc="-85" dirty="0"/>
              <a:t> </a:t>
            </a:r>
            <a:r>
              <a:rPr sz="3600" spc="-5" dirty="0"/>
              <a:t>ordenadas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715114"/>
              </p:ext>
            </p:extLst>
          </p:nvPr>
        </p:nvGraphicFramePr>
        <p:xfrm>
          <a:off x="1060450" y="1898650"/>
          <a:ext cx="9074150" cy="3663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8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0658">
                <a:tc>
                  <a:txBody>
                    <a:bodyPr/>
                    <a:lstStyle/>
                    <a:p>
                      <a:pPr marL="440690" algn="ctr">
                        <a:lnSpc>
                          <a:spcPts val="186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Numerador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2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Numeração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658">
                <a:tc>
                  <a:txBody>
                    <a:bodyPr/>
                    <a:lstStyle/>
                    <a:p>
                      <a:pPr marL="68580" algn="ctr">
                        <a:lnSpc>
                          <a:spcPts val="186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86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Números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arábicos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86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1,2,3,...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658">
                <a:tc>
                  <a:txBody>
                    <a:bodyPr/>
                    <a:lstStyle/>
                    <a:p>
                      <a:pPr marL="68580" algn="ctr">
                        <a:lnSpc>
                          <a:spcPts val="186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86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Letras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minúsculas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86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a,b,c,...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658">
                <a:tc>
                  <a:txBody>
                    <a:bodyPr/>
                    <a:lstStyle/>
                    <a:p>
                      <a:pPr marL="68580" algn="ctr">
                        <a:lnSpc>
                          <a:spcPts val="186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86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Letras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maiúsculas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86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A,B,C,...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658">
                <a:tc>
                  <a:txBody>
                    <a:bodyPr/>
                    <a:lstStyle/>
                    <a:p>
                      <a:pPr marL="68580" algn="ctr">
                        <a:lnSpc>
                          <a:spcPts val="1864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864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Números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romanos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em minúsculas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864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i,ii,iii,...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658">
                <a:tc>
                  <a:txBody>
                    <a:bodyPr/>
                    <a:lstStyle/>
                    <a:p>
                      <a:pPr marL="68580" algn="ctr">
                        <a:lnSpc>
                          <a:spcPts val="1864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864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Números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romanos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em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maiúsculas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864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I,II,III,...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22044" y="1468882"/>
            <a:ext cx="578835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Atributo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(type):</a:t>
            </a:r>
            <a:r>
              <a:rPr sz="2000" dirty="0">
                <a:latin typeface="Verdana"/>
                <a:cs typeface="Verdana"/>
              </a:rPr>
              <a:t> Ex: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&lt;ol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Verdana"/>
                <a:cs typeface="Verdana"/>
              </a:rPr>
              <a:t>type="a"</a:t>
            </a:r>
            <a:r>
              <a:rPr sz="2000" spc="-5" dirty="0">
                <a:latin typeface="Verdana"/>
                <a:cs typeface="Verdana"/>
              </a:rPr>
              <a:t>&gt;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95600"/>
            <a:ext cx="6569075" cy="3787140"/>
            <a:chOff x="0" y="3070860"/>
            <a:chExt cx="6569075" cy="3787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979" y="3070860"/>
              <a:ext cx="6220714" cy="3170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40" y="3078480"/>
              <a:ext cx="4409694" cy="316763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42900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Listas</a:t>
            </a:r>
            <a:r>
              <a:rPr sz="3600" spc="-15" dirty="0"/>
              <a:t> </a:t>
            </a:r>
            <a:r>
              <a:rPr sz="3600" spc="-5" dirty="0"/>
              <a:t>não</a:t>
            </a:r>
            <a:r>
              <a:rPr sz="3600" spc="-25" dirty="0"/>
              <a:t> </a:t>
            </a:r>
            <a:r>
              <a:rPr sz="3600" dirty="0"/>
              <a:t>ordenadas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381000" y="2912740"/>
            <a:ext cx="6116320" cy="392158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826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6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751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751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77279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6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600" dirty="0">
              <a:latin typeface="Consolas"/>
              <a:cs typeface="Consolas"/>
            </a:endParaRPr>
          </a:p>
          <a:p>
            <a:pPr marL="77279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Lista</a:t>
            </a:r>
            <a:r>
              <a:rPr sz="16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não</a:t>
            </a:r>
            <a:r>
              <a:rPr sz="16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ordenada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7515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7515">
              <a:lnSpc>
                <a:spcPts val="144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77279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11061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spc="-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1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kg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batatas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110615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spc="-1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100ml</a:t>
            </a:r>
            <a:r>
              <a:rPr sz="16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6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leite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11061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spc="-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50g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manteiga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com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sal</a:t>
            </a:r>
            <a:r>
              <a:rPr sz="16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11061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spc="-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Noz-moscada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ralada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na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hora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11061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spc="-10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Sal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pimenta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gosto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77279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7515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02235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819900" y="2910801"/>
            <a:ext cx="4682490" cy="3061970"/>
            <a:chOff x="6819900" y="2910801"/>
            <a:chExt cx="4682490" cy="306197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9900" y="2910801"/>
              <a:ext cx="4682490" cy="30619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5479" y="3106420"/>
              <a:ext cx="4104639" cy="248411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63232" y="1449323"/>
            <a:ext cx="54610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Trebuchet MS"/>
                <a:cs typeface="Trebuchet MS"/>
              </a:rPr>
              <a:t>&lt;ul&gt;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lista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não </a:t>
            </a:r>
            <a:r>
              <a:rPr sz="1800" dirty="0">
                <a:latin typeface="Trebuchet MS"/>
                <a:cs typeface="Trebuchet MS"/>
              </a:rPr>
              <a:t>ordenada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criada.</a:t>
            </a:r>
            <a:endParaRPr sz="18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O </a:t>
            </a:r>
            <a:r>
              <a:rPr sz="1800" spc="-5" dirty="0">
                <a:latin typeface="Trebuchet MS"/>
                <a:cs typeface="Trebuchet MS"/>
              </a:rPr>
              <a:t>atributo de </a:t>
            </a:r>
            <a:r>
              <a:rPr sz="1800" i="1" spc="-5" dirty="0">
                <a:solidFill>
                  <a:srgbClr val="FF0000"/>
                </a:solidFill>
                <a:latin typeface="Trebuchet MS"/>
                <a:cs typeface="Trebuchet MS"/>
              </a:rPr>
              <a:t>type</a:t>
            </a:r>
            <a:r>
              <a:rPr sz="1800" i="1" spc="-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usado </a:t>
            </a:r>
            <a:r>
              <a:rPr sz="1800" spc="-5" dirty="0">
                <a:latin typeface="Trebuchet MS"/>
                <a:cs typeface="Trebuchet MS"/>
              </a:rPr>
              <a:t>com </a:t>
            </a:r>
            <a:r>
              <a:rPr sz="1800" dirty="0">
                <a:latin typeface="Trebuchet MS"/>
                <a:cs typeface="Trebuchet MS"/>
              </a:rPr>
              <a:t>o </a:t>
            </a:r>
            <a:r>
              <a:rPr sz="1800" spc="-5" dirty="0">
                <a:latin typeface="Trebuchet MS"/>
                <a:cs typeface="Trebuchet MS"/>
              </a:rPr>
              <a:t>elemento &lt;ul&gt; para 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especificar </a:t>
            </a:r>
            <a:r>
              <a:rPr sz="1800" dirty="0">
                <a:latin typeface="Trebuchet MS"/>
                <a:cs typeface="Trebuchet MS"/>
              </a:rPr>
              <a:t>o tipo </a:t>
            </a:r>
            <a:r>
              <a:rPr sz="1800" spc="-5" dirty="0">
                <a:latin typeface="Trebuchet MS"/>
                <a:cs typeface="Trebuchet MS"/>
              </a:rPr>
              <a:t>de </a:t>
            </a:r>
            <a:r>
              <a:rPr sz="1800" spc="-10" dirty="0">
                <a:latin typeface="Trebuchet MS"/>
                <a:cs typeface="Trebuchet MS"/>
              </a:rPr>
              <a:t>ponto </a:t>
            </a:r>
            <a:r>
              <a:rPr sz="1800" spc="-5" dirty="0">
                <a:latin typeface="Trebuchet MS"/>
                <a:cs typeface="Trebuchet MS"/>
              </a:rPr>
              <a:t>de marcador </a:t>
            </a:r>
            <a:r>
              <a:rPr sz="1800" spc="-10" dirty="0">
                <a:latin typeface="Trebuchet MS"/>
                <a:cs typeface="Trebuchet MS"/>
              </a:rPr>
              <a:t>(círculos, 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quadrados,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diamantes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10" dirty="0">
                <a:latin typeface="Trebuchet MS"/>
                <a:cs typeface="Trebuchet MS"/>
              </a:rPr>
              <a:t> assim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por diante)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70903" y="1431290"/>
            <a:ext cx="30187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Trebuchet MS"/>
                <a:cs typeface="Trebuchet MS"/>
              </a:rPr>
              <a:t>&lt;li&gt;</a:t>
            </a: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5" dirty="0">
                <a:latin typeface="Trebuchet MS"/>
                <a:cs typeface="Trebuchet MS"/>
              </a:rPr>
              <a:t>Cada</a:t>
            </a:r>
            <a:r>
              <a:rPr sz="1800" dirty="0">
                <a:latin typeface="Trebuchet MS"/>
                <a:cs typeface="Trebuchet MS"/>
              </a:rPr>
              <a:t> item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na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lista</a:t>
            </a:r>
            <a:r>
              <a:rPr sz="1800" spc="5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 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colocado entre uma </a:t>
            </a:r>
            <a:r>
              <a:rPr sz="1800" dirty="0">
                <a:latin typeface="Trebuchet MS"/>
                <a:cs typeface="Trebuchet MS"/>
              </a:rPr>
              <a:t>tag </a:t>
            </a:r>
            <a:r>
              <a:rPr sz="1800" spc="-5" dirty="0">
                <a:latin typeface="Trebuchet MS"/>
                <a:cs typeface="Trebuchet MS"/>
              </a:rPr>
              <a:t>de 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abertura </a:t>
            </a:r>
            <a:r>
              <a:rPr sz="1800" dirty="0">
                <a:latin typeface="Trebuchet MS"/>
                <a:cs typeface="Trebuchet MS"/>
              </a:rPr>
              <a:t>&lt;li&gt; e </a:t>
            </a:r>
            <a:r>
              <a:rPr sz="1800" spc="-5" dirty="0">
                <a:latin typeface="Trebuchet MS"/>
                <a:cs typeface="Trebuchet MS"/>
              </a:rPr>
              <a:t>uma tag de 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fechamento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&lt;/li&gt;.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4276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Listas</a:t>
            </a:r>
            <a:r>
              <a:rPr sz="3600" spc="-35" dirty="0"/>
              <a:t> </a:t>
            </a:r>
            <a:r>
              <a:rPr sz="3600" spc="-5" dirty="0"/>
              <a:t>não</a:t>
            </a:r>
            <a:r>
              <a:rPr sz="3600" spc="-60" dirty="0"/>
              <a:t> </a:t>
            </a:r>
            <a:r>
              <a:rPr sz="3600" spc="-5" dirty="0"/>
              <a:t>ordenadas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36650" y="2279650"/>
          <a:ext cx="7924165" cy="2514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348">
                <a:tc>
                  <a:txBody>
                    <a:bodyPr/>
                    <a:lstStyle/>
                    <a:p>
                      <a:pPr marL="395605">
                        <a:lnSpc>
                          <a:spcPts val="28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Marcador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Significado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682"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disc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marcador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é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um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ponto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(padrão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utilizado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pelo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navegador,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não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precisa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ser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declarado)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220"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square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marcador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é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um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quadrado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68580">
                        <a:lnSpc>
                          <a:spcPts val="2805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circle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805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marcador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é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um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circle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43075" y="1697482"/>
            <a:ext cx="6910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Atributo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(type): </a:t>
            </a:r>
            <a:r>
              <a:rPr sz="2000" dirty="0">
                <a:latin typeface="Verdana"/>
                <a:cs typeface="Verdana"/>
              </a:rPr>
              <a:t>Ex: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&lt;ul</a:t>
            </a:r>
            <a:r>
              <a:rPr sz="2000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Verdana"/>
                <a:cs typeface="Verdana"/>
              </a:rPr>
              <a:t>type=“disc"&gt;</a:t>
            </a:r>
            <a:endParaRPr sz="2000" dirty="0">
              <a:solidFill>
                <a:srgbClr val="FF0000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36664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Lista</a:t>
            </a:r>
            <a:r>
              <a:rPr sz="3600" dirty="0"/>
              <a:t> </a:t>
            </a:r>
            <a:r>
              <a:rPr sz="3600" spc="-5" dirty="0"/>
              <a:t>de</a:t>
            </a:r>
            <a:r>
              <a:rPr sz="3600" spc="-35" dirty="0"/>
              <a:t> </a:t>
            </a:r>
            <a:r>
              <a:rPr sz="3600" spc="-10" dirty="0"/>
              <a:t>definição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4030" y="2088134"/>
            <a:ext cx="8518525" cy="2980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Trebuchet MS"/>
                <a:cs typeface="Trebuchet MS"/>
              </a:rPr>
              <a:t>&lt;dl&gt;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lista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 definições</a:t>
            </a:r>
            <a:r>
              <a:rPr sz="1800" dirty="0">
                <a:latin typeface="Trebuchet MS"/>
                <a:cs typeface="Trebuchet MS"/>
              </a:rPr>
              <a:t> é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criada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com</a:t>
            </a:r>
            <a:r>
              <a:rPr sz="18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elemento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&lt;dl&gt;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5" dirty="0">
                <a:latin typeface="Trebuchet MS"/>
                <a:cs typeface="Trebuchet MS"/>
              </a:rPr>
              <a:t> geralmente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consiste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em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uma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rebuchet MS"/>
                <a:cs typeface="Trebuchet MS"/>
              </a:rPr>
              <a:t>série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termos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suas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definições.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Trebuchet MS"/>
                <a:cs typeface="Trebuchet MS"/>
              </a:rPr>
              <a:t>Dentro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elemento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&lt;dl&gt; você normalmente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verá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pares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 elementos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10" dirty="0">
                <a:latin typeface="Trebuchet MS"/>
                <a:cs typeface="Trebuchet MS"/>
              </a:rPr>
              <a:t>&lt;dt&gt;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&lt;dd&gt;.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006FC0"/>
                </a:solidFill>
                <a:latin typeface="Trebuchet MS"/>
                <a:cs typeface="Trebuchet MS"/>
              </a:rPr>
              <a:t>&lt;dd&gt;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Isso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</a:t>
            </a:r>
            <a:r>
              <a:rPr sz="1800" spc="-10" dirty="0">
                <a:latin typeface="Trebuchet MS"/>
                <a:cs typeface="Trebuchet MS"/>
              </a:rPr>
              <a:t> usado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para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conter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definição</a:t>
            </a:r>
            <a:r>
              <a:rPr sz="1800" spc="-5" dirty="0"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Trebuchet MS"/>
                <a:cs typeface="Trebuchet MS"/>
              </a:rPr>
              <a:t>&lt;dt&gt;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É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usado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para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conter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18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termo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que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está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sendo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definido</a:t>
            </a:r>
            <a:endParaRPr sz="18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762000"/>
            <a:ext cx="11897614" cy="4495800"/>
            <a:chOff x="152400" y="785936"/>
            <a:chExt cx="11897614" cy="431628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300" y="1361439"/>
              <a:ext cx="11808714" cy="37264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920" y="1371599"/>
              <a:ext cx="11648694" cy="3716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2400" y="785936"/>
              <a:ext cx="11684000" cy="4316286"/>
            </a:xfrm>
            <a:custGeom>
              <a:avLst/>
              <a:gdLst/>
              <a:ahLst/>
              <a:cxnLst/>
              <a:rect l="l" t="t" r="r" b="b"/>
              <a:pathLst>
                <a:path w="11684000" h="3601720">
                  <a:moveTo>
                    <a:pt x="11684000" y="0"/>
                  </a:moveTo>
                  <a:lnTo>
                    <a:pt x="0" y="0"/>
                  </a:lnTo>
                  <a:lnTo>
                    <a:pt x="0" y="3601720"/>
                  </a:lnTo>
                  <a:lnTo>
                    <a:pt x="11684000" y="3601720"/>
                  </a:lnTo>
                  <a:lnTo>
                    <a:pt x="1168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276859" y="1396999"/>
              <a:ext cx="11684000" cy="3601720"/>
            </a:xfrm>
            <a:custGeom>
              <a:avLst/>
              <a:gdLst/>
              <a:ahLst/>
              <a:cxnLst/>
              <a:rect l="l" t="t" r="r" b="b"/>
              <a:pathLst>
                <a:path w="11684000" h="3601720">
                  <a:moveTo>
                    <a:pt x="0" y="3601720"/>
                  </a:moveTo>
                  <a:lnTo>
                    <a:pt x="11684000" y="3601720"/>
                  </a:lnTo>
                  <a:lnTo>
                    <a:pt x="11684000" y="0"/>
                  </a:lnTo>
                  <a:lnTo>
                    <a:pt x="0" y="0"/>
                  </a:lnTo>
                  <a:lnTo>
                    <a:pt x="0" y="360172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36664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Lista</a:t>
            </a:r>
            <a:r>
              <a:rPr sz="3600" dirty="0"/>
              <a:t> </a:t>
            </a:r>
            <a:r>
              <a:rPr sz="3600" spc="-5" dirty="0"/>
              <a:t>de</a:t>
            </a:r>
            <a:r>
              <a:rPr sz="3600" spc="-35" dirty="0"/>
              <a:t> </a:t>
            </a:r>
            <a:r>
              <a:rPr sz="3600" spc="-10" dirty="0"/>
              <a:t>definição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575944" y="5277230"/>
            <a:ext cx="375412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rebuchet MS"/>
                <a:cs typeface="Trebuchet MS"/>
              </a:rPr>
              <a:t>Às vezes, você pode ver </a:t>
            </a:r>
            <a:r>
              <a:rPr sz="1600" spc="-5" dirty="0">
                <a:latin typeface="Trebuchet MS"/>
                <a:cs typeface="Trebuchet MS"/>
              </a:rPr>
              <a:t>uma lista </a:t>
            </a:r>
            <a:r>
              <a:rPr sz="1600" dirty="0">
                <a:latin typeface="Trebuchet MS"/>
                <a:cs typeface="Trebuchet MS"/>
              </a:rPr>
              <a:t>em 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que há </a:t>
            </a:r>
            <a:r>
              <a:rPr sz="1600" spc="-5" dirty="0">
                <a:latin typeface="Trebuchet MS"/>
                <a:cs typeface="Trebuchet MS"/>
              </a:rPr>
              <a:t>dois termos usados para </a:t>
            </a:r>
            <a:r>
              <a:rPr sz="1600" dirty="0">
                <a:latin typeface="Trebuchet MS"/>
                <a:cs typeface="Trebuchet MS"/>
              </a:rPr>
              <a:t>a </a:t>
            </a:r>
            <a:r>
              <a:rPr sz="1600" spc="-5" dirty="0">
                <a:latin typeface="Trebuchet MS"/>
                <a:cs typeface="Trebuchet MS"/>
              </a:rPr>
              <a:t>mesma </a:t>
            </a:r>
            <a:r>
              <a:rPr sz="1600" spc="-4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definição ou duas definições diferentes 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para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</a:t>
            </a:r>
            <a:r>
              <a:rPr sz="1600" spc="-5" dirty="0">
                <a:latin typeface="Trebuchet MS"/>
                <a:cs typeface="Trebuchet MS"/>
              </a:rPr>
              <a:t> mesmo</a:t>
            </a:r>
            <a:r>
              <a:rPr sz="1600" spc="30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termo.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800" y="762000"/>
            <a:ext cx="11386820" cy="446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4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Definição</a:t>
            </a:r>
            <a:r>
              <a:rPr sz="14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4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lista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5" dirty="0">
                <a:solidFill>
                  <a:srgbClr val="559CD5"/>
                </a:solidFill>
                <a:latin typeface="Consolas"/>
                <a:cs typeface="Consolas"/>
              </a:rPr>
              <a:t>dl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Sashimi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0444">
              <a:lnSpc>
                <a:spcPts val="144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Sliced raw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fish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that is served with condiments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such as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shredded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daikon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radish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or ginger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root,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wasabi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and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soy sauce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Scale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device used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to accurately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measure the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weight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 of ingredients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technique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by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which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scales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are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 removed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from the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skin of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fish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Scamorze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Scamorzo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044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An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Italian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cheese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usually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made from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whole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cow's milk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(although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it was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traditionally</a:t>
            </a:r>
            <a:r>
              <a:rPr sz="14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made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from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buffalo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milk)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38601" y="4267200"/>
            <a:ext cx="8153399" cy="2692363"/>
            <a:chOff x="4493259" y="4394237"/>
            <a:chExt cx="7698740" cy="24638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3259" y="4394237"/>
              <a:ext cx="7698739" cy="24637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4917" y="4589817"/>
              <a:ext cx="7387081" cy="21259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092715"/>
            <a:ext cx="6687184" cy="4800845"/>
            <a:chOff x="0" y="2721855"/>
            <a:chExt cx="6687184" cy="41363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201" y="2721855"/>
              <a:ext cx="6197860" cy="40744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680" y="2722878"/>
              <a:ext cx="3822954" cy="40820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619" y="2748280"/>
              <a:ext cx="6096000" cy="3972560"/>
            </a:xfrm>
            <a:custGeom>
              <a:avLst/>
              <a:gdLst/>
              <a:ahLst/>
              <a:cxnLst/>
              <a:rect l="l" t="t" r="r" b="b"/>
              <a:pathLst>
                <a:path w="6096000" h="3972559">
                  <a:moveTo>
                    <a:pt x="6096000" y="0"/>
                  </a:moveTo>
                  <a:lnTo>
                    <a:pt x="0" y="0"/>
                  </a:lnTo>
                  <a:lnTo>
                    <a:pt x="0" y="3972560"/>
                  </a:lnTo>
                  <a:lnTo>
                    <a:pt x="6096000" y="397256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6" name="object 6"/>
            <p:cNvSpPr/>
            <p:nvPr/>
          </p:nvSpPr>
          <p:spPr>
            <a:xfrm>
              <a:off x="515619" y="2748280"/>
              <a:ext cx="6096000" cy="3972560"/>
            </a:xfrm>
            <a:custGeom>
              <a:avLst/>
              <a:gdLst/>
              <a:ahLst/>
              <a:cxnLst/>
              <a:rect l="l" t="t" r="r" b="b"/>
              <a:pathLst>
                <a:path w="6096000" h="3972559">
                  <a:moveTo>
                    <a:pt x="0" y="3972560"/>
                  </a:moveTo>
                  <a:lnTo>
                    <a:pt x="6096000" y="397256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397256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3400" y="76200"/>
            <a:ext cx="29857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Lista</a:t>
            </a:r>
            <a:r>
              <a:rPr sz="3600" spc="-60" dirty="0"/>
              <a:t> </a:t>
            </a:r>
            <a:r>
              <a:rPr sz="3600" spc="-5" dirty="0"/>
              <a:t>aninhada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457200" y="609600"/>
            <a:ext cx="8140065" cy="15004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colocar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segunda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lista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dentro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de um</a:t>
            </a:r>
            <a:r>
              <a:rPr sz="2000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elemento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&lt;li&gt;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criar </a:t>
            </a:r>
            <a:r>
              <a:rPr sz="2000" spc="-5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lista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ou lista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aninhada.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60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navegadores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exibem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aninhadas</a:t>
            </a: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recuadas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além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lista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pai.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60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navegador</a:t>
            </a:r>
            <a:r>
              <a:rPr sz="20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geralmente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também</a:t>
            </a:r>
            <a:r>
              <a:rPr sz="2000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altera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o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estilo</a:t>
            </a:r>
            <a:r>
              <a:rPr sz="20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do </a:t>
            </a:r>
            <a:r>
              <a:rPr sz="2000" spc="-35" dirty="0">
                <a:solidFill>
                  <a:srgbClr val="FF0000"/>
                </a:solidFill>
                <a:latin typeface="Trebuchet MS"/>
                <a:cs typeface="Trebuchet MS"/>
              </a:rPr>
              <a:t>marcador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600" y="2209800"/>
            <a:ext cx="5257800" cy="446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4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spc="-5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Lista</a:t>
            </a:r>
            <a:r>
              <a:rPr sz="14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aninhada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1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Mousses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1080">
              <a:lnSpc>
                <a:spcPts val="144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Pastries</a:t>
            </a:r>
            <a:endParaRPr sz="1400" dirty="0">
              <a:latin typeface="Consolas"/>
              <a:cs typeface="Consolas"/>
            </a:endParaRPr>
          </a:p>
          <a:p>
            <a:pPr marL="1356360">
              <a:lnSpc>
                <a:spcPct val="100000"/>
              </a:lnSpc>
            </a:pP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5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694180">
              <a:lnSpc>
                <a:spcPts val="144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Croissant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6941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Mille-feuille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6941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Palmier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6941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Profiterole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3563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108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1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Tarts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98627" y="2619965"/>
            <a:ext cx="5189220" cy="3880082"/>
            <a:chOff x="6850380" y="3192767"/>
            <a:chExt cx="3874770" cy="278003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0380" y="3192767"/>
              <a:ext cx="3874770" cy="27800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5960" y="3388360"/>
              <a:ext cx="3296920" cy="2202179"/>
            </a:xfrm>
            <a:prstGeom prst="rect">
              <a:avLst/>
            </a:prstGeom>
          </p:spPr>
        </p:pic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950851-49FB-9ECF-3F57-5956B5B9B895}"/>
              </a:ext>
            </a:extLst>
          </p:cNvPr>
          <p:cNvCxnSpPr>
            <a:cxnSpLocks/>
          </p:cNvCxnSpPr>
          <p:nvPr/>
        </p:nvCxnSpPr>
        <p:spPr>
          <a:xfrm flipH="1">
            <a:off x="2902982" y="2383000"/>
            <a:ext cx="4157572" cy="1845265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CD88C2-8F4F-F524-9DA5-EC732AD86DBA}"/>
              </a:ext>
            </a:extLst>
          </p:cNvPr>
          <p:cNvCxnSpPr>
            <a:cxnSpLocks/>
          </p:cNvCxnSpPr>
          <p:nvPr/>
        </p:nvCxnSpPr>
        <p:spPr>
          <a:xfrm flipH="1">
            <a:off x="2269569" y="2704698"/>
            <a:ext cx="5045631" cy="29654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527BD98-7A27-8133-2CED-EA2967144533}"/>
              </a:ext>
            </a:extLst>
          </p:cNvPr>
          <p:cNvSpPr txBox="1"/>
          <p:nvPr/>
        </p:nvSpPr>
        <p:spPr>
          <a:xfrm>
            <a:off x="7162800" y="2133600"/>
            <a:ext cx="2951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 abre antes de Pastries </a:t>
            </a:r>
          </a:p>
          <a:p>
            <a:r>
              <a:rPr lang="pt-BR" dirty="0"/>
              <a:t>  li fecha após a segunda lista.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15817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0" dirty="0"/>
              <a:t>R</a:t>
            </a:r>
            <a:r>
              <a:rPr sz="3600" spc="-5" dirty="0"/>
              <a:t>esu</a:t>
            </a:r>
            <a:r>
              <a:rPr sz="3600" spc="-20" dirty="0"/>
              <a:t>m</a:t>
            </a:r>
            <a:r>
              <a:rPr sz="3600" dirty="0"/>
              <a:t>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2184400"/>
            <a:ext cx="8442960" cy="272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1694180" algn="l"/>
                <a:tab pos="2496820" algn="l"/>
                <a:tab pos="3434079" algn="l"/>
                <a:tab pos="4041140" algn="l"/>
                <a:tab pos="5022215" algn="l"/>
                <a:tab pos="6152515" algn="l"/>
                <a:tab pos="7938770" algn="l"/>
              </a:tabLst>
            </a:pPr>
            <a:r>
              <a:rPr sz="19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spc="-17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	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rês	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ipo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de	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st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ada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	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ão</a:t>
            </a:r>
            <a:endParaRPr sz="24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ordenadas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definição.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ordenadas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usam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números.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não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ordenadas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usam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marcadores.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definições</a:t>
            </a:r>
            <a:r>
              <a:rPr sz="2400" spc="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usadas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definir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terminologia.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listas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podem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ser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aninhadas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umas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dentro das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outras.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66800" y="762000"/>
            <a:ext cx="13411200" cy="6096000"/>
            <a:chOff x="0" y="1017799"/>
            <a:chExt cx="9144000" cy="4126229"/>
          </a:xfrm>
        </p:grpSpPr>
        <p:sp>
          <p:nvSpPr>
            <p:cNvPr id="3" name="object 3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275" y="1017799"/>
              <a:ext cx="8721799" cy="41256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3400" y="23674"/>
            <a:ext cx="3144633" cy="84809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33" dirty="0"/>
              <a:t>Imagens</a:t>
            </a:r>
          </a:p>
        </p:txBody>
      </p:sp>
    </p:spTree>
    <p:extLst>
      <p:ext uri="{BB962C8B-B14F-4D97-AF65-F5344CB8AC3E}">
        <p14:creationId xmlns:p14="http://schemas.microsoft.com/office/powerpoint/2010/main" val="303018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482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</a:t>
            </a:r>
            <a:r>
              <a:rPr spc="5" dirty="0"/>
              <a:t>n</a:t>
            </a:r>
            <a:r>
              <a:rPr spc="-5" dirty="0"/>
              <a:t>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10509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Li</a:t>
            </a:r>
            <a:r>
              <a:rPr sz="3600" spc="-20" dirty="0"/>
              <a:t>n</a:t>
            </a:r>
            <a:r>
              <a:rPr sz="3600" spc="-5" dirty="0"/>
              <a:t>ks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738884"/>
            <a:ext cx="8717915" cy="3750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Links</a:t>
            </a:r>
            <a:r>
              <a:rPr sz="2000" b="1" spc="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são</a:t>
            </a:r>
            <a:r>
              <a:rPr sz="2000" b="1" spc="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b="1" spc="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característica</a:t>
            </a:r>
            <a:r>
              <a:rPr sz="2000" b="1" spc="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definidora</a:t>
            </a:r>
            <a:r>
              <a:rPr sz="2000" b="1" spc="1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da</a:t>
            </a:r>
            <a:r>
              <a:rPr sz="2000" b="1" spc="1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Trebuchet MS"/>
                <a:cs typeface="Trebuchet MS"/>
              </a:rPr>
              <a:t>web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2000" spc="20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pois</a:t>
            </a:r>
            <a:r>
              <a:rPr sz="2000" spc="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permitem</a:t>
            </a:r>
            <a:r>
              <a:rPr sz="20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000" spc="20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você </a:t>
            </a:r>
            <a:r>
              <a:rPr sz="2000" spc="-5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“mova”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outra.</a:t>
            </a:r>
            <a:endParaRPr sz="2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51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Permitindo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própria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ideia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navegar.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Você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normalmente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encontrará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seguintes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tipos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links:</a:t>
            </a:r>
            <a:endParaRPr sz="2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21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 site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outro;</a:t>
            </a:r>
            <a:endParaRPr sz="18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229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outra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mesmo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site;</a:t>
            </a:r>
            <a:endParaRPr sz="1800" dirty="0">
              <a:latin typeface="Trebuchet MS"/>
              <a:cs typeface="Trebuchet MS"/>
            </a:endParaRPr>
          </a:p>
          <a:p>
            <a:pPr marL="756920" marR="6350" indent="-287020">
              <a:lnSpc>
                <a:spcPct val="100000"/>
              </a:lnSpc>
              <a:spcBef>
                <a:spcPts val="1000"/>
              </a:spcBef>
              <a:tabLst>
                <a:tab pos="3395979" algn="l"/>
                <a:tab pos="7611109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54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800" spc="45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45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800" spc="45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parte</a:t>
            </a:r>
            <a:r>
              <a:rPr sz="1800" spc="4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	uma</a:t>
            </a:r>
            <a:r>
              <a:rPr sz="1800" spc="45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1800" spc="45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1800" spc="4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web</a:t>
            </a:r>
            <a:r>
              <a:rPr sz="1800" spc="45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spc="4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outra</a:t>
            </a:r>
            <a:r>
              <a:rPr sz="1800" spc="4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parte	da</a:t>
            </a:r>
            <a:r>
              <a:rPr sz="1800" spc="3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mesma </a:t>
            </a:r>
            <a:r>
              <a:rPr sz="1800" spc="-5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página;</a:t>
            </a:r>
            <a:endParaRPr sz="18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21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abertos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em uma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nova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janela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navegador;</a:t>
            </a:r>
            <a:endParaRPr sz="18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5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22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iniciam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seu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programa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 e-mail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um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novo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e-mail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alguém.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10509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Li</a:t>
            </a:r>
            <a:r>
              <a:rPr sz="3600" spc="-20" dirty="0"/>
              <a:t>n</a:t>
            </a:r>
            <a:r>
              <a:rPr sz="3600" spc="-5" dirty="0"/>
              <a:t>ks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615439" y="4544059"/>
            <a:ext cx="5301615" cy="460375"/>
            <a:chOff x="1615439" y="4544059"/>
            <a:chExt cx="5301615" cy="460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5439" y="4544059"/>
              <a:ext cx="5301234" cy="459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68779" y="4571999"/>
              <a:ext cx="5196840" cy="355600"/>
            </a:xfrm>
            <a:custGeom>
              <a:avLst/>
              <a:gdLst/>
              <a:ahLst/>
              <a:cxnLst/>
              <a:rect l="l" t="t" r="r" b="b"/>
              <a:pathLst>
                <a:path w="5196840" h="355600">
                  <a:moveTo>
                    <a:pt x="0" y="355600"/>
                  </a:moveTo>
                  <a:lnTo>
                    <a:pt x="2319" y="286402"/>
                  </a:lnTo>
                  <a:lnTo>
                    <a:pt x="8651" y="229885"/>
                  </a:lnTo>
                  <a:lnTo>
                    <a:pt x="18055" y="191775"/>
                  </a:lnTo>
                  <a:lnTo>
                    <a:pt x="29590" y="177800"/>
                  </a:lnTo>
                  <a:lnTo>
                    <a:pt x="2568829" y="177800"/>
                  </a:lnTo>
                  <a:lnTo>
                    <a:pt x="2580364" y="163824"/>
                  </a:lnTo>
                  <a:lnTo>
                    <a:pt x="2589768" y="125714"/>
                  </a:lnTo>
                  <a:lnTo>
                    <a:pt x="2596100" y="69197"/>
                  </a:lnTo>
                  <a:lnTo>
                    <a:pt x="2598420" y="0"/>
                  </a:lnTo>
                  <a:lnTo>
                    <a:pt x="2600739" y="69197"/>
                  </a:lnTo>
                  <a:lnTo>
                    <a:pt x="2607071" y="125714"/>
                  </a:lnTo>
                  <a:lnTo>
                    <a:pt x="2616475" y="163824"/>
                  </a:lnTo>
                  <a:lnTo>
                    <a:pt x="2628010" y="177800"/>
                  </a:lnTo>
                  <a:lnTo>
                    <a:pt x="5167249" y="177800"/>
                  </a:lnTo>
                  <a:lnTo>
                    <a:pt x="5178784" y="191775"/>
                  </a:lnTo>
                  <a:lnTo>
                    <a:pt x="5188188" y="229885"/>
                  </a:lnTo>
                  <a:lnTo>
                    <a:pt x="5194520" y="286402"/>
                  </a:lnTo>
                  <a:lnTo>
                    <a:pt x="5196840" y="355600"/>
                  </a:lnTo>
                </a:path>
              </a:pathLst>
            </a:custGeom>
            <a:ln w="25400">
              <a:solidFill>
                <a:srgbClr val="95D1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073900" y="5483859"/>
            <a:ext cx="1461135" cy="340995"/>
            <a:chOff x="7073900" y="5483859"/>
            <a:chExt cx="1461135" cy="3409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3900" y="5483859"/>
              <a:ext cx="1460753" cy="34061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27239" y="5511799"/>
              <a:ext cx="1356360" cy="236220"/>
            </a:xfrm>
            <a:custGeom>
              <a:avLst/>
              <a:gdLst/>
              <a:ahLst/>
              <a:cxnLst/>
              <a:rect l="l" t="t" r="r" b="b"/>
              <a:pathLst>
                <a:path w="1356359" h="236220">
                  <a:moveTo>
                    <a:pt x="1356359" y="0"/>
                  </a:moveTo>
                  <a:lnTo>
                    <a:pt x="1354820" y="45993"/>
                  </a:lnTo>
                  <a:lnTo>
                    <a:pt x="1350613" y="83534"/>
                  </a:lnTo>
                  <a:lnTo>
                    <a:pt x="1344358" y="108835"/>
                  </a:lnTo>
                  <a:lnTo>
                    <a:pt x="1336675" y="118109"/>
                  </a:lnTo>
                  <a:lnTo>
                    <a:pt x="697864" y="118109"/>
                  </a:lnTo>
                  <a:lnTo>
                    <a:pt x="690181" y="127392"/>
                  </a:lnTo>
                  <a:lnTo>
                    <a:pt x="683926" y="152704"/>
                  </a:lnTo>
                  <a:lnTo>
                    <a:pt x="679719" y="190247"/>
                  </a:lnTo>
                  <a:lnTo>
                    <a:pt x="678179" y="236219"/>
                  </a:lnTo>
                  <a:lnTo>
                    <a:pt x="676640" y="190247"/>
                  </a:lnTo>
                  <a:lnTo>
                    <a:pt x="672433" y="152704"/>
                  </a:lnTo>
                  <a:lnTo>
                    <a:pt x="666178" y="127392"/>
                  </a:lnTo>
                  <a:lnTo>
                    <a:pt x="658494" y="118109"/>
                  </a:lnTo>
                  <a:lnTo>
                    <a:pt x="19684" y="118109"/>
                  </a:lnTo>
                  <a:lnTo>
                    <a:pt x="12001" y="108835"/>
                  </a:lnTo>
                  <a:lnTo>
                    <a:pt x="5746" y="83534"/>
                  </a:lnTo>
                  <a:lnTo>
                    <a:pt x="1539" y="45993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42D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6284" y="1678304"/>
            <a:ext cx="8547735" cy="456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1125" indent="-342900" algn="just">
              <a:lnSpc>
                <a:spcPct val="100000"/>
              </a:lnSpc>
              <a:spcBef>
                <a:spcPts val="100"/>
              </a:spcBef>
            </a:pPr>
            <a:r>
              <a:rPr sz="19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900" spc="-16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criados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usando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&lt;a&gt;.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Os</a:t>
            </a:r>
            <a:r>
              <a:rPr sz="2400" spc="7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usuários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podem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clicar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qualquer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coisa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entre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&lt;a&gt;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de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abertura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tag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&lt;/a&gt;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fechamento.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19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900" spc="-2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400" spc="2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especifica</a:t>
            </a:r>
            <a:r>
              <a:rPr sz="2400" spc="2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3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2400" spc="2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2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2400" spc="2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deseja</a:t>
            </a:r>
            <a:r>
              <a:rPr sz="2400" spc="2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vincular</a:t>
            </a:r>
            <a:r>
              <a:rPr sz="2400" spc="2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usando</a:t>
            </a:r>
            <a:r>
              <a:rPr sz="2400" spc="2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endParaRPr sz="2400">
              <a:latin typeface="Trebuchet MS"/>
              <a:cs typeface="Trebuchet MS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href.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Trebuchet MS"/>
              <a:cs typeface="Trebuchet MS"/>
            </a:endParaRPr>
          </a:p>
          <a:p>
            <a:pPr marL="2485390">
              <a:lnSpc>
                <a:spcPct val="100000"/>
              </a:lnSpc>
            </a:pPr>
            <a:r>
              <a:rPr sz="1800" spc="-5" dirty="0">
                <a:latin typeface="Trebuchet MS"/>
                <a:cs typeface="Trebuchet MS"/>
              </a:rPr>
              <a:t>Endereço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página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rebuchet MS"/>
              <a:cs typeface="Trebuchet MS"/>
            </a:endParaRPr>
          </a:p>
          <a:p>
            <a:pPr marL="227965" algn="just">
              <a:lnSpc>
                <a:spcPct val="100000"/>
              </a:lnSpc>
            </a:pPr>
            <a:r>
              <a:rPr sz="3200" spc="-5" dirty="0">
                <a:latin typeface="Trebuchet MS"/>
                <a:cs typeface="Trebuchet MS"/>
              </a:rPr>
              <a:t>&lt;a</a:t>
            </a:r>
            <a:r>
              <a:rPr sz="3200" spc="-15" dirty="0">
                <a:latin typeface="Trebuchet MS"/>
                <a:cs typeface="Trebuchet MS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Trebuchet MS"/>
                <a:cs typeface="Trebuchet MS"/>
              </a:rPr>
              <a:t>href</a:t>
            </a:r>
            <a:r>
              <a:rPr sz="3200" spc="-15" dirty="0">
                <a:latin typeface="Trebuchet MS"/>
                <a:cs typeface="Trebuchet MS"/>
              </a:rPr>
              <a:t>=“</a:t>
            </a:r>
            <a:r>
              <a:rPr sz="3200" spc="-15" dirty="0">
                <a:solidFill>
                  <a:srgbClr val="006FC0"/>
                </a:solidFill>
                <a:latin typeface="Trebuchet MS"/>
                <a:cs typeface="Trebuchet MS"/>
                <a:hlinkClick r:id="rId4"/>
              </a:rPr>
              <a:t>http://www.imdb.com</a:t>
            </a:r>
            <a:r>
              <a:rPr sz="3200" spc="-15" dirty="0">
                <a:latin typeface="Trebuchet MS"/>
                <a:cs typeface="Trebuchet MS"/>
              </a:rPr>
              <a:t>”&gt;</a:t>
            </a:r>
            <a:r>
              <a:rPr sz="3200" spc="-15" dirty="0">
                <a:solidFill>
                  <a:srgbClr val="00AF50"/>
                </a:solidFill>
                <a:latin typeface="Trebuchet MS"/>
                <a:cs typeface="Trebuchet MS"/>
              </a:rPr>
              <a:t>IMDB</a:t>
            </a:r>
            <a:r>
              <a:rPr sz="3200" spc="-15" dirty="0">
                <a:latin typeface="Trebuchet MS"/>
                <a:cs typeface="Trebuchet MS"/>
              </a:rPr>
              <a:t>&lt;/a&gt;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00">
              <a:latin typeface="Trebuchet MS"/>
              <a:cs typeface="Trebuchet MS"/>
            </a:endParaRPr>
          </a:p>
          <a:p>
            <a:pPr marL="4909185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Texto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que</a:t>
            </a:r>
            <a:r>
              <a:rPr sz="1800" dirty="0">
                <a:latin typeface="Trebuchet MS"/>
                <a:cs typeface="Trebuchet MS"/>
              </a:rPr>
              <a:t> 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usuário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irá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ver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clicar.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187181" y="2712086"/>
            <a:ext cx="2778760" cy="2467610"/>
            <a:chOff x="9413240" y="2707639"/>
            <a:chExt cx="2778760" cy="246761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13240" y="2707639"/>
              <a:ext cx="2778759" cy="246761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8820" y="2903219"/>
              <a:ext cx="2583178" cy="18897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47815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Links</a:t>
            </a:r>
            <a:r>
              <a:rPr sz="3600" dirty="0"/>
              <a:t> </a:t>
            </a:r>
            <a:r>
              <a:rPr sz="3600" spc="-5" dirty="0"/>
              <a:t>para</a:t>
            </a:r>
            <a:r>
              <a:rPr sz="3600" spc="-35" dirty="0"/>
              <a:t> </a:t>
            </a:r>
            <a:r>
              <a:rPr sz="3600" dirty="0"/>
              <a:t>outros </a:t>
            </a:r>
            <a:r>
              <a:rPr sz="3600" spc="-5" dirty="0"/>
              <a:t>sistes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216528"/>
            <a:ext cx="4867910" cy="3379470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006FC0"/>
                </a:solidFill>
                <a:latin typeface="Trebuchet MS"/>
                <a:cs typeface="Trebuchet MS"/>
              </a:rPr>
              <a:t>&lt;a&gt;</a:t>
            </a:r>
            <a:endParaRPr sz="28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1015"/>
              </a:spcBef>
              <a:tabLst>
                <a:tab pos="354965" algn="l"/>
              </a:tabLst>
            </a:pP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links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são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criados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usando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elemento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&lt;a&gt;,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possui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chamado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rebuchet MS"/>
                <a:cs typeface="Trebuchet MS"/>
              </a:rPr>
              <a:t>href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valor do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atributo href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você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deseja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que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pessoas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acessem</a:t>
            </a:r>
            <a:r>
              <a:rPr sz="18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quando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clicam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link.</a:t>
            </a:r>
            <a:endParaRPr sz="1800" dirty="0">
              <a:latin typeface="Trebuchet MS"/>
              <a:cs typeface="Trebuchet MS"/>
            </a:endParaRPr>
          </a:p>
          <a:p>
            <a:pPr marL="355600" marR="260350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Quando você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vincula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 site diferente,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valor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href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será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endereço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da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Web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completo do site, que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conhecido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rebuchet MS"/>
                <a:cs typeface="Trebuchet MS"/>
              </a:rPr>
              <a:t>URL</a:t>
            </a:r>
            <a:r>
              <a:rPr sz="1800" b="1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rebuchet MS"/>
                <a:cs typeface="Trebuchet MS"/>
              </a:rPr>
              <a:t>absoluto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457200"/>
            <a:ext cx="2971800" cy="19227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38800" y="2667000"/>
            <a:ext cx="6207760" cy="367600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889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38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4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Link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para</a:t>
            </a:r>
            <a:r>
              <a:rPr sz="14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outras</a:t>
            </a:r>
            <a:r>
              <a:rPr sz="14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páginas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773430">
              <a:lnSpc>
                <a:spcPts val="144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11188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44653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4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"index.html"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Home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44653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a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"about-us.html"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About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44653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4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"movies.html"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Movies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44653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a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"contact.html"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Contact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11188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87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5047" y="4975605"/>
            <a:ext cx="32842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rebuchet MS"/>
                <a:cs typeface="Trebuchet MS"/>
              </a:rPr>
              <a:t>URL significa Uniform </a:t>
            </a:r>
            <a:r>
              <a:rPr sz="1400" spc="-10" dirty="0">
                <a:latin typeface="Trebuchet MS"/>
                <a:cs typeface="Trebuchet MS"/>
              </a:rPr>
              <a:t>Resource </a:t>
            </a:r>
            <a:r>
              <a:rPr sz="1400" spc="-25" dirty="0">
                <a:latin typeface="Trebuchet MS"/>
                <a:cs typeface="Trebuchet MS"/>
              </a:rPr>
              <a:t>Locator. 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Cada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página</a:t>
            </a:r>
            <a:r>
              <a:rPr sz="1400" dirty="0">
                <a:latin typeface="Trebuchet MS"/>
                <a:cs typeface="Trebuchet MS"/>
              </a:rPr>
              <a:t> da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web</a:t>
            </a:r>
            <a:r>
              <a:rPr sz="1400" dirty="0">
                <a:latin typeface="Trebuchet MS"/>
                <a:cs typeface="Trebuchet MS"/>
              </a:rPr>
              <a:t> tem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sua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própria </a:t>
            </a:r>
            <a:r>
              <a:rPr sz="1400" spc="-409" dirty="0">
                <a:latin typeface="Trebuchet MS"/>
                <a:cs typeface="Trebuchet MS"/>
              </a:rPr>
              <a:t> </a:t>
            </a:r>
            <a:r>
              <a:rPr sz="1400" spc="-5" dirty="0">
                <a:latin typeface="Trebuchet MS"/>
                <a:cs typeface="Trebuchet MS"/>
              </a:rPr>
              <a:t>URL.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81479" y="4574552"/>
            <a:ext cx="1433195" cy="310515"/>
            <a:chOff x="1681479" y="4574552"/>
            <a:chExt cx="1433195" cy="3105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1479" y="4574552"/>
              <a:ext cx="1432814" cy="31012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34819" y="4602479"/>
              <a:ext cx="1328420" cy="205740"/>
            </a:xfrm>
            <a:custGeom>
              <a:avLst/>
              <a:gdLst/>
              <a:ahLst/>
              <a:cxnLst/>
              <a:rect l="l" t="t" r="r" b="b"/>
              <a:pathLst>
                <a:path w="1328420" h="205739">
                  <a:moveTo>
                    <a:pt x="0" y="0"/>
                  </a:moveTo>
                  <a:lnTo>
                    <a:pt x="1339" y="40022"/>
                  </a:lnTo>
                  <a:lnTo>
                    <a:pt x="5000" y="72723"/>
                  </a:lnTo>
                  <a:lnTo>
                    <a:pt x="10447" y="94779"/>
                  </a:lnTo>
                  <a:lnTo>
                    <a:pt x="17144" y="102870"/>
                  </a:lnTo>
                  <a:lnTo>
                    <a:pt x="647065" y="102870"/>
                  </a:lnTo>
                  <a:lnTo>
                    <a:pt x="653762" y="110960"/>
                  </a:lnTo>
                  <a:lnTo>
                    <a:pt x="659209" y="133016"/>
                  </a:lnTo>
                  <a:lnTo>
                    <a:pt x="662870" y="165717"/>
                  </a:lnTo>
                  <a:lnTo>
                    <a:pt x="664210" y="205740"/>
                  </a:lnTo>
                  <a:lnTo>
                    <a:pt x="665549" y="165717"/>
                  </a:lnTo>
                  <a:lnTo>
                    <a:pt x="669210" y="133016"/>
                  </a:lnTo>
                  <a:lnTo>
                    <a:pt x="674657" y="110960"/>
                  </a:lnTo>
                  <a:lnTo>
                    <a:pt x="681355" y="102870"/>
                  </a:lnTo>
                  <a:lnTo>
                    <a:pt x="1311275" y="102870"/>
                  </a:lnTo>
                  <a:lnTo>
                    <a:pt x="1317972" y="94779"/>
                  </a:lnTo>
                  <a:lnTo>
                    <a:pt x="1323419" y="72723"/>
                  </a:lnTo>
                  <a:lnTo>
                    <a:pt x="1327080" y="40022"/>
                  </a:lnTo>
                  <a:lnTo>
                    <a:pt x="1328420" y="0"/>
                  </a:lnTo>
                </a:path>
              </a:pathLst>
            </a:custGeom>
            <a:ln w="25400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66757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</a:t>
            </a:r>
            <a:r>
              <a:rPr sz="3600" spc="5" dirty="0"/>
              <a:t> </a:t>
            </a:r>
            <a:r>
              <a:rPr sz="3600" spc="-5" dirty="0"/>
              <a:t>para</a:t>
            </a:r>
            <a:r>
              <a:rPr sz="3600" spc="-25" dirty="0"/>
              <a:t> </a:t>
            </a:r>
            <a:r>
              <a:rPr sz="3600" spc="-5" dirty="0"/>
              <a:t>páginas</a:t>
            </a:r>
            <a:r>
              <a:rPr sz="3600" spc="-15" dirty="0"/>
              <a:t> </a:t>
            </a:r>
            <a:r>
              <a:rPr sz="3600" spc="-5" dirty="0"/>
              <a:t>no</a:t>
            </a:r>
            <a:r>
              <a:rPr sz="3600" spc="-10" dirty="0"/>
              <a:t> mesmo</a:t>
            </a:r>
            <a:r>
              <a:rPr sz="3600" spc="25" dirty="0"/>
              <a:t> </a:t>
            </a:r>
            <a:r>
              <a:rPr sz="3600" spc="-5" dirty="0"/>
              <a:t>site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724278"/>
            <a:ext cx="8335009" cy="232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4935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Quando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você está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vinculando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outras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páginas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mesmo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site, não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é 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necessário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especificar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nome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domínio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URL. 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usar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 atalho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conhecido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rebuchet MS"/>
                <a:cs typeface="Trebuchet MS"/>
              </a:rPr>
              <a:t>URL</a:t>
            </a:r>
            <a:r>
              <a:rPr sz="18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rebuchet MS"/>
                <a:cs typeface="Trebuchet MS"/>
              </a:rPr>
              <a:t>relativo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.</a:t>
            </a:r>
            <a:endParaRPr sz="18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9"/>
              </a:spcBef>
              <a:tabLst>
                <a:tab pos="756285" algn="l"/>
              </a:tabLst>
            </a:pPr>
            <a:r>
              <a:rPr sz="1250" spc="-10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600" b="1" spc="-5" dirty="0">
                <a:solidFill>
                  <a:srgbClr val="FF0000"/>
                </a:solidFill>
                <a:latin typeface="Trebuchet MS"/>
                <a:cs typeface="Trebuchet MS"/>
              </a:rPr>
              <a:t>Se todas</a:t>
            </a:r>
            <a:r>
              <a:rPr sz="1600" b="1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1600" b="1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rebuchet MS"/>
                <a:cs typeface="Trebuchet MS"/>
              </a:rPr>
              <a:t>páginas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estiverem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na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rebuchet MS"/>
                <a:cs typeface="Trebuchet MS"/>
              </a:rPr>
              <a:t>mesma</a:t>
            </a:r>
            <a:r>
              <a:rPr sz="1600" b="1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rebuchet MS"/>
                <a:cs typeface="Trebuchet MS"/>
              </a:rPr>
              <a:t>pasta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valor do atributo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href</a:t>
            </a:r>
            <a:endParaRPr sz="1600" dirty="0">
              <a:latin typeface="Trebuchet MS"/>
              <a:cs typeface="Trebuchet MS"/>
            </a:endParaRPr>
          </a:p>
          <a:p>
            <a:pPr marL="756920">
              <a:lnSpc>
                <a:spcPct val="100000"/>
              </a:lnSpc>
            </a:pP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será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apenas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Trebuchet MS"/>
                <a:cs typeface="Trebuchet MS"/>
              </a:rPr>
              <a:t>nome</a:t>
            </a:r>
            <a:r>
              <a:rPr sz="1600" b="1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Trebuchet MS"/>
                <a:cs typeface="Trebuchet MS"/>
              </a:rPr>
              <a:t>do </a:t>
            </a:r>
            <a:r>
              <a:rPr sz="1600" b="1" spc="-5" dirty="0">
                <a:solidFill>
                  <a:srgbClr val="FF0000"/>
                </a:solidFill>
                <a:latin typeface="Trebuchet MS"/>
                <a:cs typeface="Trebuchet MS"/>
              </a:rPr>
              <a:t>arquivo</a:t>
            </a:r>
            <a:r>
              <a:rPr sz="1600" b="1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  <a:p>
            <a:pPr marL="756920" marR="5080" indent="-287020">
              <a:lnSpc>
                <a:spcPct val="100000"/>
              </a:lnSpc>
              <a:spcBef>
                <a:spcPts val="1005"/>
              </a:spcBef>
              <a:tabLst>
                <a:tab pos="756285" algn="l"/>
              </a:tabLst>
            </a:pPr>
            <a:r>
              <a:rPr sz="1250" spc="-10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Se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tiver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páginas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diferentes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16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pastas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diferentes,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poderá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usar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1600" spc="-4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sintaxe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um pouco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mais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complexa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indicar onde a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página está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em relação à 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atual.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70000"/>
            <a:ext cx="3107055" cy="5588000"/>
            <a:chOff x="0" y="1270000"/>
            <a:chExt cx="3107055" cy="558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620" y="1270000"/>
              <a:ext cx="2727960" cy="54305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8820" y="1336039"/>
              <a:ext cx="1117854" cy="2948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28698" y="1399794"/>
              <a:ext cx="962025" cy="168275"/>
            </a:xfrm>
            <a:custGeom>
              <a:avLst/>
              <a:gdLst/>
              <a:ahLst/>
              <a:cxnLst/>
              <a:rect l="l" t="t" r="r" b="b"/>
              <a:pathLst>
                <a:path w="962025" h="168275">
                  <a:moveTo>
                    <a:pt x="884511" y="25178"/>
                  </a:moveTo>
                  <a:lnTo>
                    <a:pt x="11810" y="141604"/>
                  </a:lnTo>
                  <a:lnTo>
                    <a:pt x="4825" y="142620"/>
                  </a:lnTo>
                  <a:lnTo>
                    <a:pt x="0" y="148970"/>
                  </a:lnTo>
                  <a:lnTo>
                    <a:pt x="1777" y="162813"/>
                  </a:lnTo>
                  <a:lnTo>
                    <a:pt x="8127" y="167766"/>
                  </a:lnTo>
                  <a:lnTo>
                    <a:pt x="15112" y="166750"/>
                  </a:lnTo>
                  <a:lnTo>
                    <a:pt x="887890" y="50313"/>
                  </a:lnTo>
                  <a:lnTo>
                    <a:pt x="884511" y="25178"/>
                  </a:lnTo>
                  <a:close/>
                </a:path>
                <a:path w="962025" h="168275">
                  <a:moveTo>
                    <a:pt x="946973" y="22605"/>
                  </a:moveTo>
                  <a:lnTo>
                    <a:pt x="904113" y="22605"/>
                  </a:lnTo>
                  <a:lnTo>
                    <a:pt x="910463" y="27431"/>
                  </a:lnTo>
                  <a:lnTo>
                    <a:pt x="912240" y="41401"/>
                  </a:lnTo>
                  <a:lnTo>
                    <a:pt x="907414" y="47751"/>
                  </a:lnTo>
                  <a:lnTo>
                    <a:pt x="887890" y="50313"/>
                  </a:lnTo>
                  <a:lnTo>
                    <a:pt x="891285" y="75564"/>
                  </a:lnTo>
                  <a:lnTo>
                    <a:pt x="961770" y="27685"/>
                  </a:lnTo>
                  <a:lnTo>
                    <a:pt x="946973" y="22605"/>
                  </a:lnTo>
                  <a:close/>
                </a:path>
                <a:path w="962025" h="168275">
                  <a:moveTo>
                    <a:pt x="904113" y="22605"/>
                  </a:moveTo>
                  <a:lnTo>
                    <a:pt x="884511" y="25178"/>
                  </a:lnTo>
                  <a:lnTo>
                    <a:pt x="887890" y="50313"/>
                  </a:lnTo>
                  <a:lnTo>
                    <a:pt x="907414" y="47751"/>
                  </a:lnTo>
                  <a:lnTo>
                    <a:pt x="912240" y="41401"/>
                  </a:lnTo>
                  <a:lnTo>
                    <a:pt x="910463" y="27431"/>
                  </a:lnTo>
                  <a:lnTo>
                    <a:pt x="904113" y="22605"/>
                  </a:lnTo>
                  <a:close/>
                </a:path>
                <a:path w="962025" h="168275">
                  <a:moveTo>
                    <a:pt x="881126" y="0"/>
                  </a:moveTo>
                  <a:lnTo>
                    <a:pt x="884511" y="25178"/>
                  </a:lnTo>
                  <a:lnTo>
                    <a:pt x="904113" y="22605"/>
                  </a:lnTo>
                  <a:lnTo>
                    <a:pt x="946973" y="22605"/>
                  </a:lnTo>
                  <a:lnTo>
                    <a:pt x="881126" y="0"/>
                  </a:lnTo>
                  <a:close/>
                </a:path>
              </a:pathLst>
            </a:custGeom>
            <a:solidFill>
              <a:srgbClr val="95D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6284" y="434594"/>
            <a:ext cx="4667250" cy="1059180"/>
          </a:xfrm>
          <a:prstGeom prst="rect">
            <a:avLst/>
          </a:prstGeom>
        </p:spPr>
        <p:txBody>
          <a:bodyPr vert="horz" wrap="square" lIns="0" tIns="208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sz="3600" spc="-5" dirty="0"/>
              <a:t>Estrutura</a:t>
            </a:r>
            <a:r>
              <a:rPr sz="3600" spc="-10" dirty="0"/>
              <a:t> </a:t>
            </a:r>
            <a:r>
              <a:rPr sz="3600" spc="-5" dirty="0"/>
              <a:t>de</a:t>
            </a:r>
            <a:r>
              <a:rPr sz="3600" spc="-45" dirty="0"/>
              <a:t> </a:t>
            </a:r>
            <a:r>
              <a:rPr sz="3600" spc="-5" dirty="0"/>
              <a:t>diretórios</a:t>
            </a:r>
            <a:endParaRPr sz="3600"/>
          </a:p>
          <a:p>
            <a:pPr marL="2253615">
              <a:lnSpc>
                <a:spcPct val="100000"/>
              </a:lnSpc>
              <a:spcBef>
                <a:spcPts val="595"/>
              </a:spcBef>
            </a:pPr>
            <a:r>
              <a:rPr sz="1400" spc="-5" dirty="0">
                <a:solidFill>
                  <a:srgbClr val="000000"/>
                </a:solidFill>
              </a:rPr>
              <a:t>Diretório</a:t>
            </a:r>
            <a:r>
              <a:rPr sz="1400" spc="-20" dirty="0">
                <a:solidFill>
                  <a:srgbClr val="000000"/>
                </a:solidFill>
              </a:rPr>
              <a:t> </a:t>
            </a:r>
            <a:r>
              <a:rPr sz="1400" spc="-5" dirty="0">
                <a:solidFill>
                  <a:srgbClr val="000000"/>
                </a:solidFill>
              </a:rPr>
              <a:t>raiz</a:t>
            </a:r>
            <a:r>
              <a:rPr sz="1400" spc="-15" dirty="0">
                <a:solidFill>
                  <a:srgbClr val="000000"/>
                </a:solidFill>
              </a:rPr>
              <a:t> </a:t>
            </a:r>
            <a:r>
              <a:rPr sz="1400" dirty="0">
                <a:solidFill>
                  <a:srgbClr val="000000"/>
                </a:solidFill>
              </a:rPr>
              <a:t>(root)</a:t>
            </a:r>
            <a:endParaRPr sz="1400"/>
          </a:p>
        </p:txBody>
      </p:sp>
      <p:sp>
        <p:nvSpPr>
          <p:cNvPr id="7" name="object 7"/>
          <p:cNvSpPr txBox="1"/>
          <p:nvPr/>
        </p:nvSpPr>
        <p:spPr>
          <a:xfrm>
            <a:off x="3388740" y="1680845"/>
            <a:ext cx="5810250" cy="179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0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Em sites maiores,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boa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ideia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organizar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seu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código,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colocando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páginas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cada</a:t>
            </a:r>
            <a:r>
              <a:rPr sz="1800" spc="5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seção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diferente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nova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pasta.</a:t>
            </a:r>
            <a:endParaRPr sz="18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0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5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rebuchet MS"/>
                <a:cs typeface="Trebuchet MS"/>
              </a:rPr>
              <a:t>página</a:t>
            </a:r>
            <a:r>
              <a:rPr sz="1800" b="1" spc="2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rebuchet MS"/>
                <a:cs typeface="Trebuchet MS"/>
              </a:rPr>
              <a:t>principal</a:t>
            </a:r>
            <a:r>
              <a:rPr sz="1800" b="1" spc="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18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18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(e</a:t>
            </a:r>
            <a:r>
              <a:rPr sz="18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8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páginas</a:t>
            </a:r>
            <a:r>
              <a:rPr sz="18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iniciais </a:t>
            </a:r>
            <a:r>
              <a:rPr sz="1800" spc="-5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 cada seção em uma pasta filha)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é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chamada de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rebuchet MS"/>
                <a:cs typeface="Trebuchet MS"/>
              </a:rPr>
              <a:t>index.html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70000"/>
            <a:ext cx="3355340" cy="5588000"/>
            <a:chOff x="0" y="1270000"/>
            <a:chExt cx="3355340" cy="558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859" y="1270000"/>
              <a:ext cx="2730500" cy="54305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88920" y="2959099"/>
              <a:ext cx="556260" cy="628650"/>
            </a:xfrm>
            <a:custGeom>
              <a:avLst/>
              <a:gdLst/>
              <a:ahLst/>
              <a:cxnLst/>
              <a:rect l="l" t="t" r="r" b="b"/>
              <a:pathLst>
                <a:path w="556260" h="628650">
                  <a:moveTo>
                    <a:pt x="556260" y="213233"/>
                  </a:moveTo>
                  <a:lnTo>
                    <a:pt x="552983" y="191503"/>
                  </a:lnTo>
                  <a:lnTo>
                    <a:pt x="552983" y="330631"/>
                  </a:lnTo>
                  <a:lnTo>
                    <a:pt x="547890" y="317322"/>
                  </a:lnTo>
                  <a:lnTo>
                    <a:pt x="552513" y="327444"/>
                  </a:lnTo>
                  <a:lnTo>
                    <a:pt x="552983" y="330631"/>
                  </a:lnTo>
                  <a:lnTo>
                    <a:pt x="552983" y="191503"/>
                  </a:lnTo>
                  <a:lnTo>
                    <a:pt x="552513" y="188379"/>
                  </a:lnTo>
                  <a:lnTo>
                    <a:pt x="542798" y="167068"/>
                  </a:lnTo>
                  <a:lnTo>
                    <a:pt x="542798" y="306146"/>
                  </a:lnTo>
                  <a:lnTo>
                    <a:pt x="530428" y="288975"/>
                  </a:lnTo>
                  <a:lnTo>
                    <a:pt x="541566" y="303428"/>
                  </a:lnTo>
                  <a:lnTo>
                    <a:pt x="542798" y="306146"/>
                  </a:lnTo>
                  <a:lnTo>
                    <a:pt x="542798" y="167068"/>
                  </a:lnTo>
                  <a:lnTo>
                    <a:pt x="499719" y="119481"/>
                  </a:lnTo>
                  <a:lnTo>
                    <a:pt x="434047" y="79883"/>
                  </a:lnTo>
                  <a:lnTo>
                    <a:pt x="393331" y="62471"/>
                  </a:lnTo>
                  <a:lnTo>
                    <a:pt x="347903" y="46863"/>
                  </a:lnTo>
                  <a:lnTo>
                    <a:pt x="298196" y="33210"/>
                  </a:lnTo>
                  <a:lnTo>
                    <a:pt x="244627" y="21691"/>
                  </a:lnTo>
                  <a:lnTo>
                    <a:pt x="187591" y="12446"/>
                  </a:lnTo>
                  <a:lnTo>
                    <a:pt x="127533" y="5638"/>
                  </a:lnTo>
                  <a:lnTo>
                    <a:pt x="64858" y="1435"/>
                  </a:lnTo>
                  <a:lnTo>
                    <a:pt x="0" y="0"/>
                  </a:lnTo>
                  <a:lnTo>
                    <a:pt x="0" y="139065"/>
                  </a:lnTo>
                  <a:lnTo>
                    <a:pt x="64858" y="140500"/>
                  </a:lnTo>
                  <a:lnTo>
                    <a:pt x="127533" y="144703"/>
                  </a:lnTo>
                  <a:lnTo>
                    <a:pt x="187591" y="151511"/>
                  </a:lnTo>
                  <a:lnTo>
                    <a:pt x="244627" y="160756"/>
                  </a:lnTo>
                  <a:lnTo>
                    <a:pt x="298196" y="172275"/>
                  </a:lnTo>
                  <a:lnTo>
                    <a:pt x="347903" y="185928"/>
                  </a:lnTo>
                  <a:lnTo>
                    <a:pt x="393331" y="201536"/>
                  </a:lnTo>
                  <a:lnTo>
                    <a:pt x="434047" y="218948"/>
                  </a:lnTo>
                  <a:lnTo>
                    <a:pt x="469646" y="238010"/>
                  </a:lnTo>
                  <a:lnTo>
                    <a:pt x="523824" y="280403"/>
                  </a:lnTo>
                  <a:lnTo>
                    <a:pt x="525716" y="282879"/>
                  </a:lnTo>
                  <a:lnTo>
                    <a:pt x="499186" y="307289"/>
                  </a:lnTo>
                  <a:lnTo>
                    <a:pt x="465150" y="330136"/>
                  </a:lnTo>
                  <a:lnTo>
                    <a:pt x="424357" y="351053"/>
                  </a:lnTo>
                  <a:lnTo>
                    <a:pt x="377393" y="369824"/>
                  </a:lnTo>
                  <a:lnTo>
                    <a:pt x="324802" y="386270"/>
                  </a:lnTo>
                  <a:lnTo>
                    <a:pt x="267169" y="400189"/>
                  </a:lnTo>
                  <a:lnTo>
                    <a:pt x="205066" y="411365"/>
                  </a:lnTo>
                  <a:lnTo>
                    <a:pt x="139065" y="419608"/>
                  </a:lnTo>
                  <a:lnTo>
                    <a:pt x="139065" y="350139"/>
                  </a:lnTo>
                  <a:lnTo>
                    <a:pt x="0" y="495935"/>
                  </a:lnTo>
                  <a:lnTo>
                    <a:pt x="139065" y="628281"/>
                  </a:lnTo>
                  <a:lnTo>
                    <a:pt x="139065" y="558673"/>
                  </a:lnTo>
                  <a:lnTo>
                    <a:pt x="181356" y="553847"/>
                  </a:lnTo>
                  <a:lnTo>
                    <a:pt x="245897" y="543547"/>
                  </a:lnTo>
                  <a:lnTo>
                    <a:pt x="305295" y="530555"/>
                  </a:lnTo>
                  <a:lnTo>
                    <a:pt x="359206" y="515124"/>
                  </a:lnTo>
                  <a:lnTo>
                    <a:pt x="407314" y="497509"/>
                  </a:lnTo>
                  <a:lnTo>
                    <a:pt x="449300" y="477977"/>
                  </a:lnTo>
                  <a:lnTo>
                    <a:pt x="484822" y="456768"/>
                  </a:lnTo>
                  <a:lnTo>
                    <a:pt x="535254" y="410349"/>
                  </a:lnTo>
                  <a:lnTo>
                    <a:pt x="556018" y="360260"/>
                  </a:lnTo>
                  <a:lnTo>
                    <a:pt x="555053" y="344360"/>
                  </a:lnTo>
                  <a:lnTo>
                    <a:pt x="556260" y="352298"/>
                  </a:lnTo>
                  <a:lnTo>
                    <a:pt x="556260" y="2132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88920" y="2959100"/>
              <a:ext cx="556260" cy="628650"/>
            </a:xfrm>
            <a:custGeom>
              <a:avLst/>
              <a:gdLst/>
              <a:ahLst/>
              <a:cxnLst/>
              <a:rect l="l" t="t" r="r" b="b"/>
              <a:pathLst>
                <a:path w="556260" h="628650">
                  <a:moveTo>
                    <a:pt x="556259" y="352298"/>
                  </a:moveTo>
                  <a:lnTo>
                    <a:pt x="541568" y="303417"/>
                  </a:lnTo>
                  <a:lnTo>
                    <a:pt x="499720" y="258539"/>
                  </a:lnTo>
                  <a:lnTo>
                    <a:pt x="434055" y="218946"/>
                  </a:lnTo>
                  <a:lnTo>
                    <a:pt x="393334" y="201533"/>
                  </a:lnTo>
                  <a:lnTo>
                    <a:pt x="347911" y="185921"/>
                  </a:lnTo>
                  <a:lnTo>
                    <a:pt x="298204" y="172271"/>
                  </a:lnTo>
                  <a:lnTo>
                    <a:pt x="244628" y="160744"/>
                  </a:lnTo>
                  <a:lnTo>
                    <a:pt x="187603" y="151500"/>
                  </a:lnTo>
                  <a:lnTo>
                    <a:pt x="127545" y="144698"/>
                  </a:lnTo>
                  <a:lnTo>
                    <a:pt x="64871" y="140500"/>
                  </a:lnTo>
                  <a:lnTo>
                    <a:pt x="0" y="139064"/>
                  </a:lnTo>
                  <a:lnTo>
                    <a:pt x="0" y="0"/>
                  </a:lnTo>
                  <a:lnTo>
                    <a:pt x="64871" y="1435"/>
                  </a:lnTo>
                  <a:lnTo>
                    <a:pt x="127545" y="5633"/>
                  </a:lnTo>
                  <a:lnTo>
                    <a:pt x="187603" y="12435"/>
                  </a:lnTo>
                  <a:lnTo>
                    <a:pt x="244628" y="21679"/>
                  </a:lnTo>
                  <a:lnTo>
                    <a:pt x="298204" y="33206"/>
                  </a:lnTo>
                  <a:lnTo>
                    <a:pt x="347911" y="46856"/>
                  </a:lnTo>
                  <a:lnTo>
                    <a:pt x="393334" y="62468"/>
                  </a:lnTo>
                  <a:lnTo>
                    <a:pt x="434055" y="79881"/>
                  </a:lnTo>
                  <a:lnTo>
                    <a:pt x="469656" y="98937"/>
                  </a:lnTo>
                  <a:lnTo>
                    <a:pt x="523830" y="141332"/>
                  </a:lnTo>
                  <a:lnTo>
                    <a:pt x="552517" y="188372"/>
                  </a:lnTo>
                  <a:lnTo>
                    <a:pt x="556259" y="213233"/>
                  </a:lnTo>
                  <a:lnTo>
                    <a:pt x="556259" y="352298"/>
                  </a:lnTo>
                  <a:lnTo>
                    <a:pt x="539830" y="403790"/>
                  </a:lnTo>
                  <a:lnTo>
                    <a:pt x="492886" y="451116"/>
                  </a:lnTo>
                  <a:lnTo>
                    <a:pt x="459070" y="472668"/>
                  </a:lnTo>
                  <a:lnTo>
                    <a:pt x="418945" y="492523"/>
                  </a:lnTo>
                  <a:lnTo>
                    <a:pt x="372950" y="510461"/>
                  </a:lnTo>
                  <a:lnTo>
                    <a:pt x="321525" y="526264"/>
                  </a:lnTo>
                  <a:lnTo>
                    <a:pt x="265109" y="539713"/>
                  </a:lnTo>
                  <a:lnTo>
                    <a:pt x="204142" y="550588"/>
                  </a:lnTo>
                  <a:lnTo>
                    <a:pt x="139065" y="558673"/>
                  </a:lnTo>
                  <a:lnTo>
                    <a:pt x="139065" y="628269"/>
                  </a:lnTo>
                  <a:lnTo>
                    <a:pt x="0" y="495935"/>
                  </a:lnTo>
                  <a:lnTo>
                    <a:pt x="139065" y="350138"/>
                  </a:lnTo>
                  <a:lnTo>
                    <a:pt x="139065" y="419608"/>
                  </a:lnTo>
                  <a:lnTo>
                    <a:pt x="205073" y="411360"/>
                  </a:lnTo>
                  <a:lnTo>
                    <a:pt x="267178" y="400180"/>
                  </a:lnTo>
                  <a:lnTo>
                    <a:pt x="324809" y="386269"/>
                  </a:lnTo>
                  <a:lnTo>
                    <a:pt x="377396" y="369823"/>
                  </a:lnTo>
                  <a:lnTo>
                    <a:pt x="424369" y="351045"/>
                  </a:lnTo>
                  <a:lnTo>
                    <a:pt x="465159" y="330132"/>
                  </a:lnTo>
                  <a:lnTo>
                    <a:pt x="499195" y="307284"/>
                  </a:lnTo>
                  <a:lnTo>
                    <a:pt x="525907" y="282701"/>
                  </a:lnTo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959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Links</a:t>
            </a:r>
            <a:r>
              <a:rPr sz="3600" spc="-60" dirty="0"/>
              <a:t> </a:t>
            </a:r>
            <a:r>
              <a:rPr sz="3600" dirty="0"/>
              <a:t>relativos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3424935" y="1463040"/>
            <a:ext cx="857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UR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6951" y="1463040"/>
            <a:ext cx="2416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8044" algn="l"/>
                <a:tab pos="1287780" algn="l"/>
                <a:tab pos="2283460" algn="l"/>
              </a:tabLst>
            </a:pP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	vin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	a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67835" y="1737359"/>
            <a:ext cx="1692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1544" algn="l"/>
                <a:tab pos="1338580" algn="l"/>
              </a:tabLst>
            </a:pP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á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ginas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eu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33189" y="1463040"/>
            <a:ext cx="2261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4420" algn="l"/>
                <a:tab pos="19431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er</a:t>
            </a:r>
            <a:endParaRPr sz="1800" dirty="0">
              <a:latin typeface="Trebuchet MS"/>
              <a:cs typeface="Trebuchet MS"/>
            </a:endParaRPr>
          </a:p>
          <a:p>
            <a:pPr marL="1170940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próprio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93509" y="1737359"/>
            <a:ext cx="2767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  <a:tab pos="1188720" algn="l"/>
                <a:tab pos="2319020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.	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rnecem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67835" y="2011362"/>
            <a:ext cx="4813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2985" algn="l"/>
                <a:tab pos="2207260" algn="l"/>
                <a:tab pos="2636520" algn="l"/>
                <a:tab pos="3327400" algn="l"/>
                <a:tab pos="3743960" algn="l"/>
              </a:tabLst>
            </a:pP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maneira	abreviada	de	dizer	ao	navegador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4425" y="2011362"/>
            <a:ext cx="5264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289933" y="3183001"/>
          <a:ext cx="5993765" cy="748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#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Exemplos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2D0A1"/>
                      </a:solidFill>
                      <a:prstDash val="solid"/>
                    </a:lnL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href="reviews.html"&gt;Reviews&lt;/a&gt;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42D0A1"/>
                      </a:solidFill>
                      <a:prstDash val="solid"/>
                    </a:lnR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499103" y="2286380"/>
            <a:ext cx="5248275" cy="1087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encontrar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seus arquivos (organizado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pastas).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rebuchet MS"/>
                <a:cs typeface="Trebuchet MS"/>
              </a:rPr>
              <a:t>1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70000"/>
            <a:ext cx="3406140" cy="5588000"/>
            <a:chOff x="0" y="1270000"/>
            <a:chExt cx="3406140" cy="558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859" y="1270000"/>
              <a:ext cx="2730500" cy="54305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66060" y="1681479"/>
              <a:ext cx="629920" cy="1696085"/>
            </a:xfrm>
            <a:custGeom>
              <a:avLst/>
              <a:gdLst/>
              <a:ahLst/>
              <a:cxnLst/>
              <a:rect l="l" t="t" r="r" b="b"/>
              <a:pathLst>
                <a:path w="629920" h="1696085">
                  <a:moveTo>
                    <a:pt x="629920" y="741680"/>
                  </a:moveTo>
                  <a:lnTo>
                    <a:pt x="628713" y="701433"/>
                  </a:lnTo>
                  <a:lnTo>
                    <a:pt x="628713" y="859282"/>
                  </a:lnTo>
                  <a:lnTo>
                    <a:pt x="627087" y="832434"/>
                  </a:lnTo>
                  <a:lnTo>
                    <a:pt x="628332" y="846201"/>
                  </a:lnTo>
                  <a:lnTo>
                    <a:pt x="628713" y="859282"/>
                  </a:lnTo>
                  <a:lnTo>
                    <a:pt x="628713" y="701433"/>
                  </a:lnTo>
                  <a:lnTo>
                    <a:pt x="623658" y="636765"/>
                  </a:lnTo>
                  <a:lnTo>
                    <a:pt x="616000" y="585939"/>
                  </a:lnTo>
                  <a:lnTo>
                    <a:pt x="605459" y="536359"/>
                  </a:lnTo>
                  <a:lnTo>
                    <a:pt x="592150" y="488175"/>
                  </a:lnTo>
                  <a:lnTo>
                    <a:pt x="576160" y="441490"/>
                  </a:lnTo>
                  <a:lnTo>
                    <a:pt x="557631" y="396430"/>
                  </a:lnTo>
                  <a:lnTo>
                    <a:pt x="536638" y="353136"/>
                  </a:lnTo>
                  <a:lnTo>
                    <a:pt x="513308" y="311721"/>
                  </a:lnTo>
                  <a:lnTo>
                    <a:pt x="487730" y="272326"/>
                  </a:lnTo>
                  <a:lnTo>
                    <a:pt x="460019" y="235051"/>
                  </a:lnTo>
                  <a:lnTo>
                    <a:pt x="430288" y="200037"/>
                  </a:lnTo>
                  <a:lnTo>
                    <a:pt x="398627" y="167411"/>
                  </a:lnTo>
                  <a:lnTo>
                    <a:pt x="365163" y="137299"/>
                  </a:lnTo>
                  <a:lnTo>
                    <a:pt x="329996" y="109829"/>
                  </a:lnTo>
                  <a:lnTo>
                    <a:pt x="293217" y="85115"/>
                  </a:lnTo>
                  <a:lnTo>
                    <a:pt x="254952" y="63284"/>
                  </a:lnTo>
                  <a:lnTo>
                    <a:pt x="215303" y="44475"/>
                  </a:lnTo>
                  <a:lnTo>
                    <a:pt x="174371" y="28803"/>
                  </a:lnTo>
                  <a:lnTo>
                    <a:pt x="132270" y="16395"/>
                  </a:lnTo>
                  <a:lnTo>
                    <a:pt x="89103" y="7378"/>
                  </a:lnTo>
                  <a:lnTo>
                    <a:pt x="44970" y="1866"/>
                  </a:lnTo>
                  <a:lnTo>
                    <a:pt x="0" y="0"/>
                  </a:lnTo>
                  <a:lnTo>
                    <a:pt x="0" y="157480"/>
                  </a:lnTo>
                  <a:lnTo>
                    <a:pt x="44970" y="159346"/>
                  </a:lnTo>
                  <a:lnTo>
                    <a:pt x="89103" y="164858"/>
                  </a:lnTo>
                  <a:lnTo>
                    <a:pt x="132270" y="173875"/>
                  </a:lnTo>
                  <a:lnTo>
                    <a:pt x="174371" y="186283"/>
                  </a:lnTo>
                  <a:lnTo>
                    <a:pt x="215303" y="201955"/>
                  </a:lnTo>
                  <a:lnTo>
                    <a:pt x="254952" y="220764"/>
                  </a:lnTo>
                  <a:lnTo>
                    <a:pt x="293217" y="242595"/>
                  </a:lnTo>
                  <a:lnTo>
                    <a:pt x="329996" y="267309"/>
                  </a:lnTo>
                  <a:lnTo>
                    <a:pt x="365163" y="294779"/>
                  </a:lnTo>
                  <a:lnTo>
                    <a:pt x="398627" y="324891"/>
                  </a:lnTo>
                  <a:lnTo>
                    <a:pt x="430288" y="357517"/>
                  </a:lnTo>
                  <a:lnTo>
                    <a:pt x="460019" y="392531"/>
                  </a:lnTo>
                  <a:lnTo>
                    <a:pt x="487730" y="429806"/>
                  </a:lnTo>
                  <a:lnTo>
                    <a:pt x="513308" y="469201"/>
                  </a:lnTo>
                  <a:lnTo>
                    <a:pt x="536638" y="510616"/>
                  </a:lnTo>
                  <a:lnTo>
                    <a:pt x="557631" y="553910"/>
                  </a:lnTo>
                  <a:lnTo>
                    <a:pt x="576160" y="598970"/>
                  </a:lnTo>
                  <a:lnTo>
                    <a:pt x="592150" y="645655"/>
                  </a:lnTo>
                  <a:lnTo>
                    <a:pt x="605459" y="693839"/>
                  </a:lnTo>
                  <a:lnTo>
                    <a:pt x="616000" y="743419"/>
                  </a:lnTo>
                  <a:lnTo>
                    <a:pt x="623658" y="794245"/>
                  </a:lnTo>
                  <a:lnTo>
                    <a:pt x="626160" y="822096"/>
                  </a:lnTo>
                  <a:lnTo>
                    <a:pt x="620268" y="871143"/>
                  </a:lnTo>
                  <a:lnTo>
                    <a:pt x="611314" y="920750"/>
                  </a:lnTo>
                  <a:lnTo>
                    <a:pt x="599617" y="969137"/>
                  </a:lnTo>
                  <a:lnTo>
                    <a:pt x="585254" y="1016165"/>
                  </a:lnTo>
                  <a:lnTo>
                    <a:pt x="568312" y="1061694"/>
                  </a:lnTo>
                  <a:lnTo>
                    <a:pt x="548906" y="1105611"/>
                  </a:lnTo>
                  <a:lnTo>
                    <a:pt x="527113" y="1147787"/>
                  </a:lnTo>
                  <a:lnTo>
                    <a:pt x="503047" y="1188097"/>
                  </a:lnTo>
                  <a:lnTo>
                    <a:pt x="476783" y="1226400"/>
                  </a:lnTo>
                  <a:lnTo>
                    <a:pt x="448424" y="1262570"/>
                  </a:lnTo>
                  <a:lnTo>
                    <a:pt x="418071" y="1296479"/>
                  </a:lnTo>
                  <a:lnTo>
                    <a:pt x="385800" y="1328013"/>
                  </a:lnTo>
                  <a:lnTo>
                    <a:pt x="351726" y="1357020"/>
                  </a:lnTo>
                  <a:lnTo>
                    <a:pt x="315925" y="1383398"/>
                  </a:lnTo>
                  <a:lnTo>
                    <a:pt x="278511" y="1406994"/>
                  </a:lnTo>
                  <a:lnTo>
                    <a:pt x="239572" y="1427695"/>
                  </a:lnTo>
                  <a:lnTo>
                    <a:pt x="199186" y="1445361"/>
                  </a:lnTo>
                  <a:lnTo>
                    <a:pt x="157480" y="1459865"/>
                  </a:lnTo>
                  <a:lnTo>
                    <a:pt x="157480" y="1381125"/>
                  </a:lnTo>
                  <a:lnTo>
                    <a:pt x="0" y="1562100"/>
                  </a:lnTo>
                  <a:lnTo>
                    <a:pt x="157480" y="1696085"/>
                  </a:lnTo>
                  <a:lnTo>
                    <a:pt x="157480" y="1617345"/>
                  </a:lnTo>
                  <a:lnTo>
                    <a:pt x="199974" y="1602536"/>
                  </a:lnTo>
                  <a:lnTo>
                    <a:pt x="240995" y="1584515"/>
                  </a:lnTo>
                  <a:lnTo>
                    <a:pt x="280441" y="1563408"/>
                  </a:lnTo>
                  <a:lnTo>
                    <a:pt x="318236" y="1539379"/>
                  </a:lnTo>
                  <a:lnTo>
                    <a:pt x="354291" y="1512544"/>
                  </a:lnTo>
                  <a:lnTo>
                    <a:pt x="388518" y="1483080"/>
                  </a:lnTo>
                  <a:lnTo>
                    <a:pt x="420852" y="1451102"/>
                  </a:lnTo>
                  <a:lnTo>
                    <a:pt x="451192" y="1416761"/>
                  </a:lnTo>
                  <a:lnTo>
                    <a:pt x="479463" y="1380197"/>
                  </a:lnTo>
                  <a:lnTo>
                    <a:pt x="505574" y="1341577"/>
                  </a:lnTo>
                  <a:lnTo>
                    <a:pt x="529437" y="1301000"/>
                  </a:lnTo>
                  <a:lnTo>
                    <a:pt x="550976" y="1258646"/>
                  </a:lnTo>
                  <a:lnTo>
                    <a:pt x="570115" y="1214640"/>
                  </a:lnTo>
                  <a:lnTo>
                    <a:pt x="586752" y="1169136"/>
                  </a:lnTo>
                  <a:lnTo>
                    <a:pt x="600811" y="1122260"/>
                  </a:lnTo>
                  <a:lnTo>
                    <a:pt x="612216" y="1074178"/>
                  </a:lnTo>
                  <a:lnTo>
                    <a:pt x="620864" y="1025004"/>
                  </a:lnTo>
                  <a:lnTo>
                    <a:pt x="626694" y="974902"/>
                  </a:lnTo>
                  <a:lnTo>
                    <a:pt x="629615" y="924013"/>
                  </a:lnTo>
                  <a:lnTo>
                    <a:pt x="629539" y="886853"/>
                  </a:lnTo>
                  <a:lnTo>
                    <a:pt x="629920" y="899160"/>
                  </a:lnTo>
                  <a:lnTo>
                    <a:pt x="629920" y="741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60" y="1681480"/>
              <a:ext cx="629920" cy="1696085"/>
            </a:xfrm>
            <a:custGeom>
              <a:avLst/>
              <a:gdLst/>
              <a:ahLst/>
              <a:cxnLst/>
              <a:rect l="l" t="t" r="r" b="b"/>
              <a:pathLst>
                <a:path w="629920" h="1696085">
                  <a:moveTo>
                    <a:pt x="629919" y="899160"/>
                  </a:moveTo>
                  <a:lnTo>
                    <a:pt x="628338" y="846197"/>
                  </a:lnTo>
                  <a:lnTo>
                    <a:pt x="623663" y="794239"/>
                  </a:lnTo>
                  <a:lnTo>
                    <a:pt x="616003" y="743410"/>
                  </a:lnTo>
                  <a:lnTo>
                    <a:pt x="605463" y="693837"/>
                  </a:lnTo>
                  <a:lnTo>
                    <a:pt x="592151" y="645645"/>
                  </a:lnTo>
                  <a:lnTo>
                    <a:pt x="576173" y="598959"/>
                  </a:lnTo>
                  <a:lnTo>
                    <a:pt x="557635" y="553906"/>
                  </a:lnTo>
                  <a:lnTo>
                    <a:pt x="536645" y="510610"/>
                  </a:lnTo>
                  <a:lnTo>
                    <a:pt x="513309" y="469197"/>
                  </a:lnTo>
                  <a:lnTo>
                    <a:pt x="487733" y="429793"/>
                  </a:lnTo>
                  <a:lnTo>
                    <a:pt x="460025" y="392524"/>
                  </a:lnTo>
                  <a:lnTo>
                    <a:pt x="430291" y="357514"/>
                  </a:lnTo>
                  <a:lnTo>
                    <a:pt x="398637" y="324890"/>
                  </a:lnTo>
                  <a:lnTo>
                    <a:pt x="365171" y="294778"/>
                  </a:lnTo>
                  <a:lnTo>
                    <a:pt x="329998" y="267301"/>
                  </a:lnTo>
                  <a:lnTo>
                    <a:pt x="293226" y="242587"/>
                  </a:lnTo>
                  <a:lnTo>
                    <a:pt x="254962" y="220761"/>
                  </a:lnTo>
                  <a:lnTo>
                    <a:pt x="215311" y="201948"/>
                  </a:lnTo>
                  <a:lnTo>
                    <a:pt x="174381" y="186274"/>
                  </a:lnTo>
                  <a:lnTo>
                    <a:pt x="132278" y="173865"/>
                  </a:lnTo>
                  <a:lnTo>
                    <a:pt x="89109" y="164846"/>
                  </a:lnTo>
                  <a:lnTo>
                    <a:pt x="44981" y="159342"/>
                  </a:lnTo>
                  <a:lnTo>
                    <a:pt x="0" y="157480"/>
                  </a:lnTo>
                  <a:lnTo>
                    <a:pt x="0" y="0"/>
                  </a:lnTo>
                  <a:lnTo>
                    <a:pt x="44981" y="1862"/>
                  </a:lnTo>
                  <a:lnTo>
                    <a:pt x="89109" y="7366"/>
                  </a:lnTo>
                  <a:lnTo>
                    <a:pt x="132278" y="16385"/>
                  </a:lnTo>
                  <a:lnTo>
                    <a:pt x="174381" y="28794"/>
                  </a:lnTo>
                  <a:lnTo>
                    <a:pt x="215311" y="44468"/>
                  </a:lnTo>
                  <a:lnTo>
                    <a:pt x="254962" y="63281"/>
                  </a:lnTo>
                  <a:lnTo>
                    <a:pt x="293226" y="85107"/>
                  </a:lnTo>
                  <a:lnTo>
                    <a:pt x="329998" y="109821"/>
                  </a:lnTo>
                  <a:lnTo>
                    <a:pt x="365171" y="137298"/>
                  </a:lnTo>
                  <a:lnTo>
                    <a:pt x="398637" y="167410"/>
                  </a:lnTo>
                  <a:lnTo>
                    <a:pt x="430291" y="200034"/>
                  </a:lnTo>
                  <a:lnTo>
                    <a:pt x="460025" y="235044"/>
                  </a:lnTo>
                  <a:lnTo>
                    <a:pt x="487733" y="272313"/>
                  </a:lnTo>
                  <a:lnTo>
                    <a:pt x="513309" y="311717"/>
                  </a:lnTo>
                  <a:lnTo>
                    <a:pt x="536645" y="353130"/>
                  </a:lnTo>
                  <a:lnTo>
                    <a:pt x="557635" y="396426"/>
                  </a:lnTo>
                  <a:lnTo>
                    <a:pt x="576173" y="441479"/>
                  </a:lnTo>
                  <a:lnTo>
                    <a:pt x="592151" y="488165"/>
                  </a:lnTo>
                  <a:lnTo>
                    <a:pt x="605463" y="536357"/>
                  </a:lnTo>
                  <a:lnTo>
                    <a:pt x="616003" y="585930"/>
                  </a:lnTo>
                  <a:lnTo>
                    <a:pt x="623663" y="636759"/>
                  </a:lnTo>
                  <a:lnTo>
                    <a:pt x="628338" y="688717"/>
                  </a:lnTo>
                  <a:lnTo>
                    <a:pt x="629919" y="741680"/>
                  </a:lnTo>
                  <a:lnTo>
                    <a:pt x="629919" y="899160"/>
                  </a:lnTo>
                  <a:lnTo>
                    <a:pt x="628321" y="952179"/>
                  </a:lnTo>
                  <a:lnTo>
                    <a:pt x="623589" y="1004341"/>
                  </a:lnTo>
                  <a:lnTo>
                    <a:pt x="615822" y="1055498"/>
                  </a:lnTo>
                  <a:lnTo>
                    <a:pt x="605114" y="1105502"/>
                  </a:lnTo>
                  <a:lnTo>
                    <a:pt x="591564" y="1154206"/>
                  </a:lnTo>
                  <a:lnTo>
                    <a:pt x="575267" y="1201465"/>
                  </a:lnTo>
                  <a:lnTo>
                    <a:pt x="556321" y="1247130"/>
                  </a:lnTo>
                  <a:lnTo>
                    <a:pt x="534822" y="1291056"/>
                  </a:lnTo>
                  <a:lnTo>
                    <a:pt x="510867" y="1333094"/>
                  </a:lnTo>
                  <a:lnTo>
                    <a:pt x="484552" y="1373098"/>
                  </a:lnTo>
                  <a:lnTo>
                    <a:pt x="455974" y="1410920"/>
                  </a:lnTo>
                  <a:lnTo>
                    <a:pt x="425229" y="1446415"/>
                  </a:lnTo>
                  <a:lnTo>
                    <a:pt x="392415" y="1479435"/>
                  </a:lnTo>
                  <a:lnTo>
                    <a:pt x="357628" y="1509832"/>
                  </a:lnTo>
                  <a:lnTo>
                    <a:pt x="320965" y="1537461"/>
                  </a:lnTo>
                  <a:lnTo>
                    <a:pt x="282521" y="1562173"/>
                  </a:lnTo>
                  <a:lnTo>
                    <a:pt x="242395" y="1583822"/>
                  </a:lnTo>
                  <a:lnTo>
                    <a:pt x="200682" y="1602262"/>
                  </a:lnTo>
                  <a:lnTo>
                    <a:pt x="157479" y="1617345"/>
                  </a:lnTo>
                  <a:lnTo>
                    <a:pt x="157479" y="1696085"/>
                  </a:lnTo>
                  <a:lnTo>
                    <a:pt x="0" y="1562100"/>
                  </a:lnTo>
                  <a:lnTo>
                    <a:pt x="157479" y="1381125"/>
                  </a:lnTo>
                  <a:lnTo>
                    <a:pt x="157479" y="1459865"/>
                  </a:lnTo>
                  <a:lnTo>
                    <a:pt x="199196" y="1445353"/>
                  </a:lnTo>
                  <a:lnTo>
                    <a:pt x="239574" y="1427684"/>
                  </a:lnTo>
                  <a:lnTo>
                    <a:pt x="278519" y="1406986"/>
                  </a:lnTo>
                  <a:lnTo>
                    <a:pt x="315935" y="1383388"/>
                  </a:lnTo>
                  <a:lnTo>
                    <a:pt x="351730" y="1357019"/>
                  </a:lnTo>
                  <a:lnTo>
                    <a:pt x="385807" y="1328006"/>
                  </a:lnTo>
                  <a:lnTo>
                    <a:pt x="418072" y="1296478"/>
                  </a:lnTo>
                  <a:lnTo>
                    <a:pt x="448431" y="1262563"/>
                  </a:lnTo>
                  <a:lnTo>
                    <a:pt x="476789" y="1226391"/>
                  </a:lnTo>
                  <a:lnTo>
                    <a:pt x="503052" y="1188089"/>
                  </a:lnTo>
                  <a:lnTo>
                    <a:pt x="527124" y="1147786"/>
                  </a:lnTo>
                  <a:lnTo>
                    <a:pt x="548912" y="1105610"/>
                  </a:lnTo>
                  <a:lnTo>
                    <a:pt x="568321" y="1061690"/>
                  </a:lnTo>
                  <a:lnTo>
                    <a:pt x="585256" y="1016154"/>
                  </a:lnTo>
                  <a:lnTo>
                    <a:pt x="599622" y="969130"/>
                  </a:lnTo>
                  <a:lnTo>
                    <a:pt x="611325" y="920748"/>
                  </a:lnTo>
                  <a:lnTo>
                    <a:pt x="620270" y="871135"/>
                  </a:lnTo>
                  <a:lnTo>
                    <a:pt x="626363" y="820420"/>
                  </a:lnTo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959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Links</a:t>
            </a:r>
            <a:r>
              <a:rPr sz="3600" spc="-60" dirty="0"/>
              <a:t> </a:t>
            </a:r>
            <a:r>
              <a:rPr sz="3600" dirty="0"/>
              <a:t>relativos</a:t>
            </a:r>
            <a:endParaRPr sz="36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89933" y="3183001"/>
          <a:ext cx="6478905" cy="11188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#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Exemplos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2D0A1"/>
                      </a:solidFill>
                      <a:prstDash val="solid"/>
                    </a:lnL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href="reviews.html"&gt;Reviews&lt;/a&gt;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42D0A1"/>
                      </a:solidFill>
                      <a:prstDash val="solid"/>
                    </a:lnR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href="movies/cinema/listings.html"&gt;Listings&lt;/a&gt;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724400" y="3931030"/>
            <a:ext cx="5873750" cy="370840"/>
          </a:xfrm>
          <a:custGeom>
            <a:avLst/>
            <a:gdLst/>
            <a:ahLst/>
            <a:cxnLst/>
            <a:rect l="l" t="t" r="r" b="b"/>
            <a:pathLst>
              <a:path w="5873750" h="370839">
                <a:moveTo>
                  <a:pt x="5873242" y="0"/>
                </a:moveTo>
                <a:lnTo>
                  <a:pt x="0" y="0"/>
                </a:lnTo>
                <a:lnTo>
                  <a:pt x="0" y="370840"/>
                </a:lnTo>
                <a:lnTo>
                  <a:pt x="5873242" y="370840"/>
                </a:lnTo>
                <a:lnTo>
                  <a:pt x="58732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235585">
              <a:lnSpc>
                <a:spcPct val="100000"/>
              </a:lnSpc>
              <a:spcBef>
                <a:spcPts val="260"/>
              </a:spcBef>
            </a:pPr>
            <a:r>
              <a:rPr lang="en-US" sz="1800" spc="-5" dirty="0">
                <a:latin typeface="Trebuchet MS"/>
                <a:cs typeface="Trebuchet MS"/>
              </a:rPr>
              <a:t>&lt;a</a:t>
            </a:r>
            <a:r>
              <a:rPr lang="en-US" sz="1800" spc="25" dirty="0">
                <a:latin typeface="Trebuchet MS"/>
                <a:cs typeface="Trebuchet MS"/>
              </a:rPr>
              <a:t> </a:t>
            </a:r>
            <a:r>
              <a:rPr lang="en-US" sz="1800" spc="-10" dirty="0" err="1">
                <a:latin typeface="Trebuchet MS"/>
                <a:cs typeface="Trebuchet MS"/>
              </a:rPr>
              <a:t>href</a:t>
            </a:r>
            <a:r>
              <a:rPr lang="en-US" sz="1800" spc="-10" dirty="0">
                <a:latin typeface="Trebuchet MS"/>
                <a:cs typeface="Trebuchet MS"/>
              </a:rPr>
              <a:t>=“movies/cinema/reviews.html"&gt;Reviews&lt;/a&gt;</a:t>
            </a:r>
            <a:endParaRPr lang="en-US"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79495" y="2312352"/>
            <a:ext cx="204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2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70000"/>
            <a:ext cx="3406140" cy="5588000"/>
            <a:chOff x="0" y="1270000"/>
            <a:chExt cx="3406140" cy="558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859" y="1270000"/>
              <a:ext cx="2730500" cy="54305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66060" y="1681479"/>
              <a:ext cx="629920" cy="2648585"/>
            </a:xfrm>
            <a:custGeom>
              <a:avLst/>
              <a:gdLst/>
              <a:ahLst/>
              <a:cxnLst/>
              <a:rect l="l" t="t" r="r" b="b"/>
              <a:pathLst>
                <a:path w="629920" h="2648585">
                  <a:moveTo>
                    <a:pt x="629920" y="1225550"/>
                  </a:moveTo>
                  <a:lnTo>
                    <a:pt x="629310" y="1178979"/>
                  </a:lnTo>
                  <a:lnTo>
                    <a:pt x="629310" y="1337246"/>
                  </a:lnTo>
                  <a:lnTo>
                    <a:pt x="628827" y="1313294"/>
                  </a:lnTo>
                  <a:lnTo>
                    <a:pt x="629094" y="1319961"/>
                  </a:lnTo>
                  <a:lnTo>
                    <a:pt x="629310" y="1337246"/>
                  </a:lnTo>
                  <a:lnTo>
                    <a:pt x="629310" y="1178979"/>
                  </a:lnTo>
                  <a:lnTo>
                    <a:pt x="626656" y="1100239"/>
                  </a:lnTo>
                  <a:lnTo>
                    <a:pt x="622655" y="1038898"/>
                  </a:lnTo>
                  <a:lnTo>
                    <a:pt x="617118" y="978547"/>
                  </a:lnTo>
                  <a:lnTo>
                    <a:pt x="610082" y="919251"/>
                  </a:lnTo>
                  <a:lnTo>
                    <a:pt x="601586" y="861098"/>
                  </a:lnTo>
                  <a:lnTo>
                    <a:pt x="591680" y="804151"/>
                  </a:lnTo>
                  <a:lnTo>
                    <a:pt x="580402" y="748487"/>
                  </a:lnTo>
                  <a:lnTo>
                    <a:pt x="567791" y="694207"/>
                  </a:lnTo>
                  <a:lnTo>
                    <a:pt x="553872" y="641362"/>
                  </a:lnTo>
                  <a:lnTo>
                    <a:pt x="538708" y="590042"/>
                  </a:lnTo>
                  <a:lnTo>
                    <a:pt x="522325" y="540308"/>
                  </a:lnTo>
                  <a:lnTo>
                    <a:pt x="504761" y="492264"/>
                  </a:lnTo>
                  <a:lnTo>
                    <a:pt x="486054" y="445973"/>
                  </a:lnTo>
                  <a:lnTo>
                    <a:pt x="466255" y="401497"/>
                  </a:lnTo>
                  <a:lnTo>
                    <a:pt x="445401" y="358940"/>
                  </a:lnTo>
                  <a:lnTo>
                    <a:pt x="423519" y="318363"/>
                  </a:lnTo>
                  <a:lnTo>
                    <a:pt x="400659" y="279844"/>
                  </a:lnTo>
                  <a:lnTo>
                    <a:pt x="376872" y="243459"/>
                  </a:lnTo>
                  <a:lnTo>
                    <a:pt x="352171" y="209296"/>
                  </a:lnTo>
                  <a:lnTo>
                    <a:pt x="326605" y="177419"/>
                  </a:lnTo>
                  <a:lnTo>
                    <a:pt x="300228" y="147916"/>
                  </a:lnTo>
                  <a:lnTo>
                    <a:pt x="273075" y="120853"/>
                  </a:lnTo>
                  <a:lnTo>
                    <a:pt x="216560" y="74371"/>
                  </a:lnTo>
                  <a:lnTo>
                    <a:pt x="157403" y="38582"/>
                  </a:lnTo>
                  <a:lnTo>
                    <a:pt x="95910" y="14122"/>
                  </a:lnTo>
                  <a:lnTo>
                    <a:pt x="32410" y="1600"/>
                  </a:lnTo>
                  <a:lnTo>
                    <a:pt x="0" y="0"/>
                  </a:lnTo>
                  <a:lnTo>
                    <a:pt x="0" y="157480"/>
                  </a:lnTo>
                  <a:lnTo>
                    <a:pt x="32410" y="159080"/>
                  </a:lnTo>
                  <a:lnTo>
                    <a:pt x="64389" y="163817"/>
                  </a:lnTo>
                  <a:lnTo>
                    <a:pt x="126936" y="182384"/>
                  </a:lnTo>
                  <a:lnTo>
                    <a:pt x="187299" y="212585"/>
                  </a:lnTo>
                  <a:lnTo>
                    <a:pt x="245173" y="253784"/>
                  </a:lnTo>
                  <a:lnTo>
                    <a:pt x="300228" y="305396"/>
                  </a:lnTo>
                  <a:lnTo>
                    <a:pt x="326605" y="334899"/>
                  </a:lnTo>
                  <a:lnTo>
                    <a:pt x="352171" y="366776"/>
                  </a:lnTo>
                  <a:lnTo>
                    <a:pt x="376872" y="400939"/>
                  </a:lnTo>
                  <a:lnTo>
                    <a:pt x="400659" y="437324"/>
                  </a:lnTo>
                  <a:lnTo>
                    <a:pt x="423519" y="475843"/>
                  </a:lnTo>
                  <a:lnTo>
                    <a:pt x="445401" y="516420"/>
                  </a:lnTo>
                  <a:lnTo>
                    <a:pt x="466255" y="558977"/>
                  </a:lnTo>
                  <a:lnTo>
                    <a:pt x="486054" y="603453"/>
                  </a:lnTo>
                  <a:lnTo>
                    <a:pt x="504761" y="649744"/>
                  </a:lnTo>
                  <a:lnTo>
                    <a:pt x="522325" y="697788"/>
                  </a:lnTo>
                  <a:lnTo>
                    <a:pt x="538708" y="747522"/>
                  </a:lnTo>
                  <a:lnTo>
                    <a:pt x="553872" y="798842"/>
                  </a:lnTo>
                  <a:lnTo>
                    <a:pt x="567791" y="851687"/>
                  </a:lnTo>
                  <a:lnTo>
                    <a:pt x="580402" y="905967"/>
                  </a:lnTo>
                  <a:lnTo>
                    <a:pt x="591680" y="961631"/>
                  </a:lnTo>
                  <a:lnTo>
                    <a:pt x="601586" y="1018578"/>
                  </a:lnTo>
                  <a:lnTo>
                    <a:pt x="610082" y="1076731"/>
                  </a:lnTo>
                  <a:lnTo>
                    <a:pt x="617118" y="1136027"/>
                  </a:lnTo>
                  <a:lnTo>
                    <a:pt x="622655" y="1196378"/>
                  </a:lnTo>
                  <a:lnTo>
                    <a:pt x="626656" y="1257719"/>
                  </a:lnTo>
                  <a:lnTo>
                    <a:pt x="628548" y="1306283"/>
                  </a:lnTo>
                  <a:lnTo>
                    <a:pt x="625856" y="1364907"/>
                  </a:lnTo>
                  <a:lnTo>
                    <a:pt x="621588" y="1424724"/>
                  </a:lnTo>
                  <a:lnTo>
                    <a:pt x="615835" y="1483639"/>
                  </a:lnTo>
                  <a:lnTo>
                    <a:pt x="608672" y="1541602"/>
                  </a:lnTo>
                  <a:lnTo>
                    <a:pt x="600100" y="1598523"/>
                  </a:lnTo>
                  <a:lnTo>
                    <a:pt x="590169" y="1654327"/>
                  </a:lnTo>
                  <a:lnTo>
                    <a:pt x="578916" y="1708924"/>
                  </a:lnTo>
                  <a:lnTo>
                    <a:pt x="566356" y="1762239"/>
                  </a:lnTo>
                  <a:lnTo>
                    <a:pt x="552551" y="1814195"/>
                  </a:lnTo>
                  <a:lnTo>
                    <a:pt x="537502" y="1864702"/>
                  </a:lnTo>
                  <a:lnTo>
                    <a:pt x="521271" y="1913699"/>
                  </a:lnTo>
                  <a:lnTo>
                    <a:pt x="503872" y="1961095"/>
                  </a:lnTo>
                  <a:lnTo>
                    <a:pt x="485355" y="2006815"/>
                  </a:lnTo>
                  <a:lnTo>
                    <a:pt x="465747" y="2050770"/>
                  </a:lnTo>
                  <a:lnTo>
                    <a:pt x="445071" y="2092896"/>
                  </a:lnTo>
                  <a:lnTo>
                    <a:pt x="423379" y="2133104"/>
                  </a:lnTo>
                  <a:lnTo>
                    <a:pt x="400685" y="2171306"/>
                  </a:lnTo>
                  <a:lnTo>
                    <a:pt x="377050" y="2207437"/>
                  </a:lnTo>
                  <a:lnTo>
                    <a:pt x="352475" y="2241423"/>
                  </a:lnTo>
                  <a:lnTo>
                    <a:pt x="327025" y="2273160"/>
                  </a:lnTo>
                  <a:lnTo>
                    <a:pt x="300710" y="2302599"/>
                  </a:lnTo>
                  <a:lnTo>
                    <a:pt x="273570" y="2329624"/>
                  </a:lnTo>
                  <a:lnTo>
                    <a:pt x="216966" y="2376195"/>
                  </a:lnTo>
                  <a:lnTo>
                    <a:pt x="157480" y="2412238"/>
                  </a:lnTo>
                  <a:lnTo>
                    <a:pt x="157480" y="2333498"/>
                  </a:lnTo>
                  <a:lnTo>
                    <a:pt x="0" y="2529840"/>
                  </a:lnTo>
                  <a:lnTo>
                    <a:pt x="157480" y="2648458"/>
                  </a:lnTo>
                  <a:lnTo>
                    <a:pt x="157480" y="2569718"/>
                  </a:lnTo>
                  <a:lnTo>
                    <a:pt x="187426" y="2553144"/>
                  </a:lnTo>
                  <a:lnTo>
                    <a:pt x="245173" y="2512085"/>
                  </a:lnTo>
                  <a:lnTo>
                    <a:pt x="299847" y="2461031"/>
                  </a:lnTo>
                  <a:lnTo>
                    <a:pt x="325958" y="2431961"/>
                  </a:lnTo>
                  <a:lnTo>
                    <a:pt x="351205" y="2400643"/>
                  </a:lnTo>
                  <a:lnTo>
                    <a:pt x="375564" y="2367140"/>
                  </a:lnTo>
                  <a:lnTo>
                    <a:pt x="399008" y="2331555"/>
                  </a:lnTo>
                  <a:lnTo>
                    <a:pt x="421500" y="2293950"/>
                  </a:lnTo>
                  <a:lnTo>
                    <a:pt x="443014" y="2254415"/>
                  </a:lnTo>
                  <a:lnTo>
                    <a:pt x="463511" y="2213025"/>
                  </a:lnTo>
                  <a:lnTo>
                    <a:pt x="482981" y="2169871"/>
                  </a:lnTo>
                  <a:lnTo>
                    <a:pt x="501383" y="2125014"/>
                  </a:lnTo>
                  <a:lnTo>
                    <a:pt x="518680" y="2078558"/>
                  </a:lnTo>
                  <a:lnTo>
                    <a:pt x="534847" y="2030564"/>
                  </a:lnTo>
                  <a:lnTo>
                    <a:pt x="549859" y="1981136"/>
                  </a:lnTo>
                  <a:lnTo>
                    <a:pt x="563676" y="1930323"/>
                  </a:lnTo>
                  <a:lnTo>
                    <a:pt x="576275" y="1878241"/>
                  </a:lnTo>
                  <a:lnTo>
                    <a:pt x="587629" y="1824939"/>
                  </a:lnTo>
                  <a:lnTo>
                    <a:pt x="597712" y="1770519"/>
                  </a:lnTo>
                  <a:lnTo>
                    <a:pt x="606475" y="1715046"/>
                  </a:lnTo>
                  <a:lnTo>
                    <a:pt x="613892" y="1658620"/>
                  </a:lnTo>
                  <a:lnTo>
                    <a:pt x="619950" y="1601304"/>
                  </a:lnTo>
                  <a:lnTo>
                    <a:pt x="624611" y="1543189"/>
                  </a:lnTo>
                  <a:lnTo>
                    <a:pt x="627837" y="1484350"/>
                  </a:lnTo>
                  <a:lnTo>
                    <a:pt x="629602" y="1424863"/>
                  </a:lnTo>
                  <a:lnTo>
                    <a:pt x="629818" y="1376108"/>
                  </a:lnTo>
                  <a:lnTo>
                    <a:pt x="629920" y="1383030"/>
                  </a:lnTo>
                  <a:lnTo>
                    <a:pt x="629920" y="12255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66060" y="1681480"/>
              <a:ext cx="629920" cy="2648585"/>
            </a:xfrm>
            <a:custGeom>
              <a:avLst/>
              <a:gdLst/>
              <a:ahLst/>
              <a:cxnLst/>
              <a:rect l="l" t="t" r="r" b="b"/>
              <a:pathLst>
                <a:path w="629920" h="2648585">
                  <a:moveTo>
                    <a:pt x="629919" y="1383030"/>
                  </a:moveTo>
                  <a:lnTo>
                    <a:pt x="629100" y="1319958"/>
                  </a:lnTo>
                  <a:lnTo>
                    <a:pt x="626667" y="1257715"/>
                  </a:lnTo>
                  <a:lnTo>
                    <a:pt x="622660" y="1196377"/>
                  </a:lnTo>
                  <a:lnTo>
                    <a:pt x="617120" y="1136022"/>
                  </a:lnTo>
                  <a:lnTo>
                    <a:pt x="610085" y="1076726"/>
                  </a:lnTo>
                  <a:lnTo>
                    <a:pt x="601596" y="1018567"/>
                  </a:lnTo>
                  <a:lnTo>
                    <a:pt x="591691" y="961621"/>
                  </a:lnTo>
                  <a:lnTo>
                    <a:pt x="580411" y="905966"/>
                  </a:lnTo>
                  <a:lnTo>
                    <a:pt x="567795" y="851678"/>
                  </a:lnTo>
                  <a:lnTo>
                    <a:pt x="553883" y="798834"/>
                  </a:lnTo>
                  <a:lnTo>
                    <a:pt x="538714" y="747512"/>
                  </a:lnTo>
                  <a:lnTo>
                    <a:pt x="522328" y="697788"/>
                  </a:lnTo>
                  <a:lnTo>
                    <a:pt x="504764" y="649739"/>
                  </a:lnTo>
                  <a:lnTo>
                    <a:pt x="486063" y="603442"/>
                  </a:lnTo>
                  <a:lnTo>
                    <a:pt x="466263" y="558975"/>
                  </a:lnTo>
                  <a:lnTo>
                    <a:pt x="445404" y="516413"/>
                  </a:lnTo>
                  <a:lnTo>
                    <a:pt x="423527" y="475835"/>
                  </a:lnTo>
                  <a:lnTo>
                    <a:pt x="400670" y="437317"/>
                  </a:lnTo>
                  <a:lnTo>
                    <a:pt x="376873" y="400936"/>
                  </a:lnTo>
                  <a:lnTo>
                    <a:pt x="352175" y="366769"/>
                  </a:lnTo>
                  <a:lnTo>
                    <a:pt x="326617" y="334893"/>
                  </a:lnTo>
                  <a:lnTo>
                    <a:pt x="300238" y="305385"/>
                  </a:lnTo>
                  <a:lnTo>
                    <a:pt x="273077" y="278322"/>
                  </a:lnTo>
                  <a:lnTo>
                    <a:pt x="216570" y="231839"/>
                  </a:lnTo>
                  <a:lnTo>
                    <a:pt x="157412" y="196060"/>
                  </a:lnTo>
                  <a:lnTo>
                    <a:pt x="95920" y="171599"/>
                  </a:lnTo>
                  <a:lnTo>
                    <a:pt x="32411" y="159074"/>
                  </a:lnTo>
                  <a:lnTo>
                    <a:pt x="0" y="157480"/>
                  </a:lnTo>
                  <a:lnTo>
                    <a:pt x="0" y="0"/>
                  </a:lnTo>
                  <a:lnTo>
                    <a:pt x="64398" y="6326"/>
                  </a:lnTo>
                  <a:lnTo>
                    <a:pt x="126938" y="24896"/>
                  </a:lnTo>
                  <a:lnTo>
                    <a:pt x="187303" y="55093"/>
                  </a:lnTo>
                  <a:lnTo>
                    <a:pt x="245175" y="96301"/>
                  </a:lnTo>
                  <a:lnTo>
                    <a:pt x="300238" y="147905"/>
                  </a:lnTo>
                  <a:lnTo>
                    <a:pt x="326617" y="177413"/>
                  </a:lnTo>
                  <a:lnTo>
                    <a:pt x="352175" y="209289"/>
                  </a:lnTo>
                  <a:lnTo>
                    <a:pt x="376873" y="243456"/>
                  </a:lnTo>
                  <a:lnTo>
                    <a:pt x="400670" y="279837"/>
                  </a:lnTo>
                  <a:lnTo>
                    <a:pt x="423527" y="318355"/>
                  </a:lnTo>
                  <a:lnTo>
                    <a:pt x="445404" y="358933"/>
                  </a:lnTo>
                  <a:lnTo>
                    <a:pt x="466263" y="401495"/>
                  </a:lnTo>
                  <a:lnTo>
                    <a:pt x="486063" y="445962"/>
                  </a:lnTo>
                  <a:lnTo>
                    <a:pt x="504764" y="492259"/>
                  </a:lnTo>
                  <a:lnTo>
                    <a:pt x="522328" y="540308"/>
                  </a:lnTo>
                  <a:lnTo>
                    <a:pt x="538714" y="590032"/>
                  </a:lnTo>
                  <a:lnTo>
                    <a:pt x="553883" y="641354"/>
                  </a:lnTo>
                  <a:lnTo>
                    <a:pt x="567795" y="694198"/>
                  </a:lnTo>
                  <a:lnTo>
                    <a:pt x="580411" y="748486"/>
                  </a:lnTo>
                  <a:lnTo>
                    <a:pt x="591691" y="804141"/>
                  </a:lnTo>
                  <a:lnTo>
                    <a:pt x="601596" y="861087"/>
                  </a:lnTo>
                  <a:lnTo>
                    <a:pt x="610085" y="919246"/>
                  </a:lnTo>
                  <a:lnTo>
                    <a:pt x="617120" y="978542"/>
                  </a:lnTo>
                  <a:lnTo>
                    <a:pt x="622660" y="1038897"/>
                  </a:lnTo>
                  <a:lnTo>
                    <a:pt x="626667" y="1100235"/>
                  </a:lnTo>
                  <a:lnTo>
                    <a:pt x="629100" y="1162478"/>
                  </a:lnTo>
                  <a:lnTo>
                    <a:pt x="629919" y="1225550"/>
                  </a:lnTo>
                  <a:lnTo>
                    <a:pt x="629919" y="1383030"/>
                  </a:lnTo>
                  <a:lnTo>
                    <a:pt x="629125" y="1444813"/>
                  </a:lnTo>
                  <a:lnTo>
                    <a:pt x="626766" y="1505930"/>
                  </a:lnTo>
                  <a:lnTo>
                    <a:pt x="622874" y="1566296"/>
                  </a:lnTo>
                  <a:lnTo>
                    <a:pt x="617485" y="1625825"/>
                  </a:lnTo>
                  <a:lnTo>
                    <a:pt x="610630" y="1684434"/>
                  </a:lnTo>
                  <a:lnTo>
                    <a:pt x="602345" y="1742038"/>
                  </a:lnTo>
                  <a:lnTo>
                    <a:pt x="592663" y="1798552"/>
                  </a:lnTo>
                  <a:lnTo>
                    <a:pt x="581617" y="1853891"/>
                  </a:lnTo>
                  <a:lnTo>
                    <a:pt x="569242" y="1907972"/>
                  </a:lnTo>
                  <a:lnTo>
                    <a:pt x="555570" y="1960709"/>
                  </a:lnTo>
                  <a:lnTo>
                    <a:pt x="540636" y="2012019"/>
                  </a:lnTo>
                  <a:lnTo>
                    <a:pt x="524473" y="2061815"/>
                  </a:lnTo>
                  <a:lnTo>
                    <a:pt x="507115" y="2110014"/>
                  </a:lnTo>
                  <a:lnTo>
                    <a:pt x="488595" y="2156531"/>
                  </a:lnTo>
                  <a:lnTo>
                    <a:pt x="468948" y="2201282"/>
                  </a:lnTo>
                  <a:lnTo>
                    <a:pt x="448207" y="2244182"/>
                  </a:lnTo>
                  <a:lnTo>
                    <a:pt x="426406" y="2285146"/>
                  </a:lnTo>
                  <a:lnTo>
                    <a:pt x="403577" y="2324090"/>
                  </a:lnTo>
                  <a:lnTo>
                    <a:pt x="379756" y="2360929"/>
                  </a:lnTo>
                  <a:lnTo>
                    <a:pt x="354975" y="2395579"/>
                  </a:lnTo>
                  <a:lnTo>
                    <a:pt x="329269" y="2427954"/>
                  </a:lnTo>
                  <a:lnTo>
                    <a:pt x="302671" y="2457972"/>
                  </a:lnTo>
                  <a:lnTo>
                    <a:pt x="275215" y="2485545"/>
                  </a:lnTo>
                  <a:lnTo>
                    <a:pt x="217862" y="2533025"/>
                  </a:lnTo>
                  <a:lnTo>
                    <a:pt x="157479" y="2569718"/>
                  </a:lnTo>
                  <a:lnTo>
                    <a:pt x="157479" y="2648458"/>
                  </a:lnTo>
                  <a:lnTo>
                    <a:pt x="0" y="2529840"/>
                  </a:lnTo>
                  <a:lnTo>
                    <a:pt x="157479" y="2333498"/>
                  </a:lnTo>
                  <a:lnTo>
                    <a:pt x="157479" y="2412238"/>
                  </a:lnTo>
                  <a:lnTo>
                    <a:pt x="187568" y="2395571"/>
                  </a:lnTo>
                  <a:lnTo>
                    <a:pt x="245650" y="2354184"/>
                  </a:lnTo>
                  <a:lnTo>
                    <a:pt x="300711" y="2302586"/>
                  </a:lnTo>
                  <a:lnTo>
                    <a:pt x="327025" y="2273157"/>
                  </a:lnTo>
                  <a:lnTo>
                    <a:pt x="352483" y="2241413"/>
                  </a:lnTo>
                  <a:lnTo>
                    <a:pt x="377051" y="2207435"/>
                  </a:lnTo>
                  <a:lnTo>
                    <a:pt x="400695" y="2171302"/>
                  </a:lnTo>
                  <a:lnTo>
                    <a:pt x="423382" y="2133093"/>
                  </a:lnTo>
                  <a:lnTo>
                    <a:pt x="445078" y="2092888"/>
                  </a:lnTo>
                  <a:lnTo>
                    <a:pt x="465749" y="2050765"/>
                  </a:lnTo>
                  <a:lnTo>
                    <a:pt x="485362" y="2006806"/>
                  </a:lnTo>
                  <a:lnTo>
                    <a:pt x="503882" y="1961088"/>
                  </a:lnTo>
                  <a:lnTo>
                    <a:pt x="521276" y="1913693"/>
                  </a:lnTo>
                  <a:lnTo>
                    <a:pt x="537511" y="1864698"/>
                  </a:lnTo>
                  <a:lnTo>
                    <a:pt x="552552" y="1814183"/>
                  </a:lnTo>
                  <a:lnTo>
                    <a:pt x="566366" y="1762229"/>
                  </a:lnTo>
                  <a:lnTo>
                    <a:pt x="578918" y="1708914"/>
                  </a:lnTo>
                  <a:lnTo>
                    <a:pt x="590177" y="1654318"/>
                  </a:lnTo>
                  <a:lnTo>
                    <a:pt x="600107" y="1598520"/>
                  </a:lnTo>
                  <a:lnTo>
                    <a:pt x="608674" y="1541601"/>
                  </a:lnTo>
                  <a:lnTo>
                    <a:pt x="615846" y="1483638"/>
                  </a:lnTo>
                  <a:lnTo>
                    <a:pt x="621588" y="1424713"/>
                  </a:lnTo>
                  <a:lnTo>
                    <a:pt x="625868" y="1364903"/>
                  </a:lnTo>
                  <a:lnTo>
                    <a:pt x="628650" y="1304290"/>
                  </a:lnTo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959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Links</a:t>
            </a:r>
            <a:r>
              <a:rPr sz="3600" spc="-60" dirty="0"/>
              <a:t> </a:t>
            </a:r>
            <a:r>
              <a:rPr sz="3600" dirty="0"/>
              <a:t>relativos</a:t>
            </a:r>
            <a:endParaRPr sz="36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89933" y="3183001"/>
          <a:ext cx="6235065" cy="1489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4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#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Exemplos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2D0A1"/>
                      </a:solidFill>
                      <a:prstDash val="solid"/>
                    </a:lnL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href="reviews.html"&gt;Reviews&lt;/a&gt;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42D0A1"/>
                      </a:solidFill>
                      <a:prstDash val="solid"/>
                    </a:lnR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 href="movies/cinema/listings.html"&gt;Listings&lt;/a&gt;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href="movies/dvd/reviews.html"&gt;</a:t>
                      </a:r>
                      <a:r>
                        <a:rPr sz="18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Reviews&lt;/a&gt;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878704" y="3931030"/>
            <a:ext cx="5865496" cy="370840"/>
          </a:xfrm>
          <a:custGeom>
            <a:avLst/>
            <a:gdLst/>
            <a:ahLst/>
            <a:cxnLst/>
            <a:rect l="l" t="t" r="r" b="b"/>
            <a:pathLst>
              <a:path w="5652134" h="370839">
                <a:moveTo>
                  <a:pt x="5652135" y="0"/>
                </a:moveTo>
                <a:lnTo>
                  <a:pt x="0" y="0"/>
                </a:lnTo>
                <a:lnTo>
                  <a:pt x="0" y="370840"/>
                </a:lnTo>
                <a:lnTo>
                  <a:pt x="5652135" y="370840"/>
                </a:lnTo>
                <a:lnTo>
                  <a:pt x="5652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235585">
              <a:lnSpc>
                <a:spcPct val="100000"/>
              </a:lnSpc>
              <a:spcBef>
                <a:spcPts val="260"/>
              </a:spcBef>
            </a:pPr>
            <a:r>
              <a:rPr lang="en-US" sz="1800" spc="-5" dirty="0">
                <a:latin typeface="Trebuchet MS"/>
                <a:cs typeface="Trebuchet MS"/>
              </a:rPr>
              <a:t>&lt;a</a:t>
            </a:r>
            <a:r>
              <a:rPr lang="en-US" sz="1800" spc="25" dirty="0">
                <a:latin typeface="Trebuchet MS"/>
                <a:cs typeface="Trebuchet MS"/>
              </a:rPr>
              <a:t> </a:t>
            </a:r>
            <a:r>
              <a:rPr lang="en-US" sz="1800" spc="-10" dirty="0" err="1">
                <a:latin typeface="Trebuchet MS"/>
                <a:cs typeface="Trebuchet MS"/>
              </a:rPr>
              <a:t>href</a:t>
            </a:r>
            <a:r>
              <a:rPr lang="en-US" sz="1800" spc="-10" dirty="0">
                <a:latin typeface="Trebuchet MS"/>
                <a:cs typeface="Trebuchet MS"/>
              </a:rPr>
              <a:t>=“movies/cinema/reviews.html"&gt;Reviews&lt;/a&gt;</a:t>
            </a:r>
            <a:endParaRPr lang="en-US"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79495" y="2312352"/>
            <a:ext cx="204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3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70000"/>
            <a:ext cx="3378200" cy="5588000"/>
            <a:chOff x="0" y="1270000"/>
            <a:chExt cx="3378200" cy="558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859" y="1270000"/>
              <a:ext cx="2730500" cy="54305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21280" y="1668398"/>
              <a:ext cx="746760" cy="3876675"/>
            </a:xfrm>
            <a:custGeom>
              <a:avLst/>
              <a:gdLst/>
              <a:ahLst/>
              <a:cxnLst/>
              <a:rect l="l" t="t" r="r" b="b"/>
              <a:pathLst>
                <a:path w="746760" h="3876675">
                  <a:moveTo>
                    <a:pt x="746760" y="1862582"/>
                  </a:moveTo>
                  <a:lnTo>
                    <a:pt x="746620" y="1881479"/>
                  </a:lnTo>
                  <a:lnTo>
                    <a:pt x="746620" y="1829739"/>
                  </a:lnTo>
                  <a:lnTo>
                    <a:pt x="746442" y="1817243"/>
                  </a:lnTo>
                  <a:lnTo>
                    <a:pt x="746442" y="1905457"/>
                  </a:lnTo>
                  <a:lnTo>
                    <a:pt x="746264" y="1929574"/>
                  </a:lnTo>
                  <a:lnTo>
                    <a:pt x="745845" y="1948243"/>
                  </a:lnTo>
                  <a:lnTo>
                    <a:pt x="746442" y="1905457"/>
                  </a:lnTo>
                  <a:lnTo>
                    <a:pt x="746442" y="1817243"/>
                  </a:lnTo>
                  <a:lnTo>
                    <a:pt x="745731" y="1767217"/>
                  </a:lnTo>
                  <a:lnTo>
                    <a:pt x="743991" y="1705140"/>
                  </a:lnTo>
                  <a:lnTo>
                    <a:pt x="741400" y="1643532"/>
                  </a:lnTo>
                  <a:lnTo>
                    <a:pt x="737971" y="1582458"/>
                  </a:lnTo>
                  <a:lnTo>
                    <a:pt x="733717" y="1521942"/>
                  </a:lnTo>
                  <a:lnTo>
                    <a:pt x="728662" y="1462024"/>
                  </a:lnTo>
                  <a:lnTo>
                    <a:pt x="722795" y="1402765"/>
                  </a:lnTo>
                  <a:lnTo>
                    <a:pt x="716140" y="1344180"/>
                  </a:lnTo>
                  <a:lnTo>
                    <a:pt x="708710" y="1286332"/>
                  </a:lnTo>
                  <a:lnTo>
                    <a:pt x="700519" y="1229245"/>
                  </a:lnTo>
                  <a:lnTo>
                    <a:pt x="691578" y="1172972"/>
                  </a:lnTo>
                  <a:lnTo>
                    <a:pt x="681901" y="1117549"/>
                  </a:lnTo>
                  <a:lnTo>
                    <a:pt x="671499" y="1063015"/>
                  </a:lnTo>
                  <a:lnTo>
                    <a:pt x="660374" y="1009421"/>
                  </a:lnTo>
                  <a:lnTo>
                    <a:pt x="648563" y="956805"/>
                  </a:lnTo>
                  <a:lnTo>
                    <a:pt x="636054" y="905192"/>
                  </a:lnTo>
                  <a:lnTo>
                    <a:pt x="622871" y="854646"/>
                  </a:lnTo>
                  <a:lnTo>
                    <a:pt x="609015" y="805192"/>
                  </a:lnTo>
                  <a:lnTo>
                    <a:pt x="594512" y="756881"/>
                  </a:lnTo>
                  <a:lnTo>
                    <a:pt x="579374" y="709752"/>
                  </a:lnTo>
                  <a:lnTo>
                    <a:pt x="563613" y="663854"/>
                  </a:lnTo>
                  <a:lnTo>
                    <a:pt x="547230" y="619201"/>
                  </a:lnTo>
                  <a:lnTo>
                    <a:pt x="530237" y="575856"/>
                  </a:lnTo>
                  <a:lnTo>
                    <a:pt x="512673" y="533869"/>
                  </a:lnTo>
                  <a:lnTo>
                    <a:pt x="494512" y="493255"/>
                  </a:lnTo>
                  <a:lnTo>
                    <a:pt x="475805" y="454075"/>
                  </a:lnTo>
                  <a:lnTo>
                    <a:pt x="456526" y="416356"/>
                  </a:lnTo>
                  <a:lnTo>
                    <a:pt x="436727" y="380161"/>
                  </a:lnTo>
                  <a:lnTo>
                    <a:pt x="416382" y="345503"/>
                  </a:lnTo>
                  <a:lnTo>
                    <a:pt x="395528" y="312445"/>
                  </a:lnTo>
                  <a:lnTo>
                    <a:pt x="352323" y="251269"/>
                  </a:lnTo>
                  <a:lnTo>
                    <a:pt x="307213" y="196951"/>
                  </a:lnTo>
                  <a:lnTo>
                    <a:pt x="260273" y="149821"/>
                  </a:lnTo>
                  <a:lnTo>
                    <a:pt x="211620" y="110223"/>
                  </a:lnTo>
                  <a:lnTo>
                    <a:pt x="186690" y="93345"/>
                  </a:lnTo>
                  <a:lnTo>
                    <a:pt x="186690" y="0"/>
                  </a:lnTo>
                  <a:lnTo>
                    <a:pt x="0" y="128651"/>
                  </a:lnTo>
                  <a:lnTo>
                    <a:pt x="186690" y="373380"/>
                  </a:lnTo>
                  <a:lnTo>
                    <a:pt x="186690" y="280035"/>
                  </a:lnTo>
                  <a:lnTo>
                    <a:pt x="212102" y="297268"/>
                  </a:lnTo>
                  <a:lnTo>
                    <a:pt x="261708" y="337858"/>
                  </a:lnTo>
                  <a:lnTo>
                    <a:pt x="309575" y="386334"/>
                  </a:lnTo>
                  <a:lnTo>
                    <a:pt x="355587" y="442353"/>
                  </a:lnTo>
                  <a:lnTo>
                    <a:pt x="399630" y="505574"/>
                  </a:lnTo>
                  <a:lnTo>
                    <a:pt x="420890" y="539775"/>
                  </a:lnTo>
                  <a:lnTo>
                    <a:pt x="441604" y="575665"/>
                  </a:lnTo>
                  <a:lnTo>
                    <a:pt x="461759" y="613168"/>
                  </a:lnTo>
                  <a:lnTo>
                    <a:pt x="481368" y="652272"/>
                  </a:lnTo>
                  <a:lnTo>
                    <a:pt x="500392" y="692912"/>
                  </a:lnTo>
                  <a:lnTo>
                    <a:pt x="518820" y="735050"/>
                  </a:lnTo>
                  <a:lnTo>
                    <a:pt x="536638" y="778649"/>
                  </a:lnTo>
                  <a:lnTo>
                    <a:pt x="553847" y="823671"/>
                  </a:lnTo>
                  <a:lnTo>
                    <a:pt x="570420" y="870064"/>
                  </a:lnTo>
                  <a:lnTo>
                    <a:pt x="586346" y="917790"/>
                  </a:lnTo>
                  <a:lnTo>
                    <a:pt x="601599" y="966812"/>
                  </a:lnTo>
                  <a:lnTo>
                    <a:pt x="616178" y="1017066"/>
                  </a:lnTo>
                  <a:lnTo>
                    <a:pt x="630072" y="1068539"/>
                  </a:lnTo>
                  <a:lnTo>
                    <a:pt x="643255" y="1121168"/>
                  </a:lnTo>
                  <a:lnTo>
                    <a:pt x="655713" y="1174902"/>
                  </a:lnTo>
                  <a:lnTo>
                    <a:pt x="667448" y="1229728"/>
                  </a:lnTo>
                  <a:lnTo>
                    <a:pt x="678434" y="1285582"/>
                  </a:lnTo>
                  <a:lnTo>
                    <a:pt x="688644" y="1342428"/>
                  </a:lnTo>
                  <a:lnTo>
                    <a:pt x="698093" y="1400213"/>
                  </a:lnTo>
                  <a:lnTo>
                    <a:pt x="706742" y="1458912"/>
                  </a:lnTo>
                  <a:lnTo>
                    <a:pt x="714578" y="1518462"/>
                  </a:lnTo>
                  <a:lnTo>
                    <a:pt x="721601" y="1578838"/>
                  </a:lnTo>
                  <a:lnTo>
                    <a:pt x="727798" y="1640001"/>
                  </a:lnTo>
                  <a:lnTo>
                    <a:pt x="733132" y="1701888"/>
                  </a:lnTo>
                  <a:lnTo>
                    <a:pt x="737616" y="1764474"/>
                  </a:lnTo>
                  <a:lnTo>
                    <a:pt x="741222" y="1827695"/>
                  </a:lnTo>
                  <a:lnTo>
                    <a:pt x="743927" y="1891538"/>
                  </a:lnTo>
                  <a:lnTo>
                    <a:pt x="745705" y="1954657"/>
                  </a:lnTo>
                  <a:lnTo>
                    <a:pt x="744791" y="1995957"/>
                  </a:lnTo>
                  <a:lnTo>
                    <a:pt x="742365" y="2061679"/>
                  </a:lnTo>
                  <a:lnTo>
                    <a:pt x="739013" y="2126716"/>
                  </a:lnTo>
                  <a:lnTo>
                    <a:pt x="734720" y="2191029"/>
                  </a:lnTo>
                  <a:lnTo>
                    <a:pt x="729526" y="2254567"/>
                  </a:lnTo>
                  <a:lnTo>
                    <a:pt x="723442" y="2317292"/>
                  </a:lnTo>
                  <a:lnTo>
                    <a:pt x="716483" y="2379154"/>
                  </a:lnTo>
                  <a:lnTo>
                    <a:pt x="708672" y="2440127"/>
                  </a:lnTo>
                  <a:lnTo>
                    <a:pt x="700024" y="2500160"/>
                  </a:lnTo>
                  <a:lnTo>
                    <a:pt x="690562" y="2559202"/>
                  </a:lnTo>
                  <a:lnTo>
                    <a:pt x="680275" y="2617241"/>
                  </a:lnTo>
                  <a:lnTo>
                    <a:pt x="669213" y="2674213"/>
                  </a:lnTo>
                  <a:lnTo>
                    <a:pt x="657377" y="2730081"/>
                  </a:lnTo>
                  <a:lnTo>
                    <a:pt x="644791" y="2784805"/>
                  </a:lnTo>
                  <a:lnTo>
                    <a:pt x="631456" y="2838335"/>
                  </a:lnTo>
                  <a:lnTo>
                    <a:pt x="617410" y="2890647"/>
                  </a:lnTo>
                  <a:lnTo>
                    <a:pt x="602653" y="2941688"/>
                  </a:lnTo>
                  <a:lnTo>
                    <a:pt x="587222" y="2991434"/>
                  </a:lnTo>
                  <a:lnTo>
                    <a:pt x="571106" y="3039808"/>
                  </a:lnTo>
                  <a:lnTo>
                    <a:pt x="554342" y="3086798"/>
                  </a:lnTo>
                  <a:lnTo>
                    <a:pt x="536943" y="3132366"/>
                  </a:lnTo>
                  <a:lnTo>
                    <a:pt x="518922" y="3176447"/>
                  </a:lnTo>
                  <a:lnTo>
                    <a:pt x="500303" y="3219018"/>
                  </a:lnTo>
                  <a:lnTo>
                    <a:pt x="481101" y="3260026"/>
                  </a:lnTo>
                  <a:lnTo>
                    <a:pt x="461327" y="3299434"/>
                  </a:lnTo>
                  <a:lnTo>
                    <a:pt x="440994" y="3337217"/>
                  </a:lnTo>
                  <a:lnTo>
                    <a:pt x="420128" y="3373310"/>
                  </a:lnTo>
                  <a:lnTo>
                    <a:pt x="398754" y="3407676"/>
                  </a:lnTo>
                  <a:lnTo>
                    <a:pt x="376872" y="3440290"/>
                  </a:lnTo>
                  <a:lnTo>
                    <a:pt x="331673" y="3500043"/>
                  </a:lnTo>
                  <a:lnTo>
                    <a:pt x="284670" y="3552253"/>
                  </a:lnTo>
                  <a:lnTo>
                    <a:pt x="236004" y="3596589"/>
                  </a:lnTo>
                  <a:lnTo>
                    <a:pt x="185801" y="3632720"/>
                  </a:lnTo>
                  <a:lnTo>
                    <a:pt x="134213" y="3660305"/>
                  </a:lnTo>
                  <a:lnTo>
                    <a:pt x="81356" y="3679012"/>
                  </a:lnTo>
                  <a:lnTo>
                    <a:pt x="27368" y="3688537"/>
                  </a:lnTo>
                  <a:lnTo>
                    <a:pt x="0" y="3689731"/>
                  </a:lnTo>
                  <a:lnTo>
                    <a:pt x="0" y="3876421"/>
                  </a:lnTo>
                  <a:lnTo>
                    <a:pt x="54495" y="3871633"/>
                  </a:lnTo>
                  <a:lnTo>
                    <a:pt x="107924" y="3857472"/>
                  </a:lnTo>
                  <a:lnTo>
                    <a:pt x="160172" y="3834282"/>
                  </a:lnTo>
                  <a:lnTo>
                    <a:pt x="211086" y="3802380"/>
                  </a:lnTo>
                  <a:lnTo>
                    <a:pt x="260540" y="3762108"/>
                  </a:lnTo>
                  <a:lnTo>
                    <a:pt x="308394" y="3713784"/>
                  </a:lnTo>
                  <a:lnTo>
                    <a:pt x="354507" y="3657752"/>
                  </a:lnTo>
                  <a:lnTo>
                    <a:pt x="398754" y="3594328"/>
                  </a:lnTo>
                  <a:lnTo>
                    <a:pt x="420128" y="3559962"/>
                  </a:lnTo>
                  <a:lnTo>
                    <a:pt x="440994" y="3523856"/>
                  </a:lnTo>
                  <a:lnTo>
                    <a:pt x="461327" y="3486086"/>
                  </a:lnTo>
                  <a:lnTo>
                    <a:pt x="481101" y="3446665"/>
                  </a:lnTo>
                  <a:lnTo>
                    <a:pt x="500303" y="3405644"/>
                  </a:lnTo>
                  <a:lnTo>
                    <a:pt x="518922" y="3363074"/>
                  </a:lnTo>
                  <a:lnTo>
                    <a:pt x="536943" y="3318992"/>
                  </a:lnTo>
                  <a:lnTo>
                    <a:pt x="554342" y="3273425"/>
                  </a:lnTo>
                  <a:lnTo>
                    <a:pt x="571106" y="3226422"/>
                  </a:lnTo>
                  <a:lnTo>
                    <a:pt x="587222" y="3178035"/>
                  </a:lnTo>
                  <a:lnTo>
                    <a:pt x="602653" y="3128302"/>
                  </a:lnTo>
                  <a:lnTo>
                    <a:pt x="617410" y="3077248"/>
                  </a:lnTo>
                  <a:lnTo>
                    <a:pt x="631456" y="3024936"/>
                  </a:lnTo>
                  <a:lnTo>
                    <a:pt x="644791" y="2971393"/>
                  </a:lnTo>
                  <a:lnTo>
                    <a:pt x="657377" y="2916669"/>
                  </a:lnTo>
                  <a:lnTo>
                    <a:pt x="669213" y="2860802"/>
                  </a:lnTo>
                  <a:lnTo>
                    <a:pt x="680275" y="2803829"/>
                  </a:lnTo>
                  <a:lnTo>
                    <a:pt x="690562" y="2745790"/>
                  </a:lnTo>
                  <a:lnTo>
                    <a:pt x="700024" y="2686735"/>
                  </a:lnTo>
                  <a:lnTo>
                    <a:pt x="708672" y="2626703"/>
                  </a:lnTo>
                  <a:lnTo>
                    <a:pt x="716483" y="2565730"/>
                  </a:lnTo>
                  <a:lnTo>
                    <a:pt x="723442" y="2503855"/>
                  </a:lnTo>
                  <a:lnTo>
                    <a:pt x="729526" y="2441130"/>
                  </a:lnTo>
                  <a:lnTo>
                    <a:pt x="734720" y="2377592"/>
                  </a:lnTo>
                  <a:lnTo>
                    <a:pt x="739013" y="2313292"/>
                  </a:lnTo>
                  <a:lnTo>
                    <a:pt x="742365" y="2248243"/>
                  </a:lnTo>
                  <a:lnTo>
                    <a:pt x="744791" y="2182520"/>
                  </a:lnTo>
                  <a:lnTo>
                    <a:pt x="746264" y="2116137"/>
                  </a:lnTo>
                  <a:lnTo>
                    <a:pt x="746760" y="2049145"/>
                  </a:lnTo>
                  <a:lnTo>
                    <a:pt x="746760" y="18625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21279" y="1668399"/>
              <a:ext cx="746760" cy="3876675"/>
            </a:xfrm>
            <a:custGeom>
              <a:avLst/>
              <a:gdLst/>
              <a:ahLst/>
              <a:cxnLst/>
              <a:rect l="l" t="t" r="r" b="b"/>
              <a:pathLst>
                <a:path w="746760" h="3876675">
                  <a:moveTo>
                    <a:pt x="745744" y="1955800"/>
                  </a:moveTo>
                  <a:lnTo>
                    <a:pt x="743937" y="1891410"/>
                  </a:lnTo>
                  <a:lnTo>
                    <a:pt x="741226" y="1827584"/>
                  </a:lnTo>
                  <a:lnTo>
                    <a:pt x="737623" y="1764363"/>
                  </a:lnTo>
                  <a:lnTo>
                    <a:pt x="733144" y="1701791"/>
                  </a:lnTo>
                  <a:lnTo>
                    <a:pt x="727802" y="1639910"/>
                  </a:lnTo>
                  <a:lnTo>
                    <a:pt x="721611" y="1578763"/>
                  </a:lnTo>
                  <a:lnTo>
                    <a:pt x="714587" y="1518393"/>
                  </a:lnTo>
                  <a:lnTo>
                    <a:pt x="706743" y="1458841"/>
                  </a:lnTo>
                  <a:lnTo>
                    <a:pt x="698093" y="1400152"/>
                  </a:lnTo>
                  <a:lnTo>
                    <a:pt x="688652" y="1342367"/>
                  </a:lnTo>
                  <a:lnTo>
                    <a:pt x="678434" y="1285529"/>
                  </a:lnTo>
                  <a:lnTo>
                    <a:pt x="667454" y="1229681"/>
                  </a:lnTo>
                  <a:lnTo>
                    <a:pt x="655724" y="1174866"/>
                  </a:lnTo>
                  <a:lnTo>
                    <a:pt x="643260" y="1121126"/>
                  </a:lnTo>
                  <a:lnTo>
                    <a:pt x="630077" y="1068504"/>
                  </a:lnTo>
                  <a:lnTo>
                    <a:pt x="616187" y="1017042"/>
                  </a:lnTo>
                  <a:lnTo>
                    <a:pt x="601606" y="966784"/>
                  </a:lnTo>
                  <a:lnTo>
                    <a:pt x="586347" y="917772"/>
                  </a:lnTo>
                  <a:lnTo>
                    <a:pt x="570426" y="870048"/>
                  </a:lnTo>
                  <a:lnTo>
                    <a:pt x="553855" y="823656"/>
                  </a:lnTo>
                  <a:lnTo>
                    <a:pt x="536650" y="778637"/>
                  </a:lnTo>
                  <a:lnTo>
                    <a:pt x="518825" y="735036"/>
                  </a:lnTo>
                  <a:lnTo>
                    <a:pt x="500393" y="692894"/>
                  </a:lnTo>
                  <a:lnTo>
                    <a:pt x="481370" y="652253"/>
                  </a:lnTo>
                  <a:lnTo>
                    <a:pt x="461769" y="613158"/>
                  </a:lnTo>
                  <a:lnTo>
                    <a:pt x="441605" y="575650"/>
                  </a:lnTo>
                  <a:lnTo>
                    <a:pt x="420891" y="539772"/>
                  </a:lnTo>
                  <a:lnTo>
                    <a:pt x="399643" y="505566"/>
                  </a:lnTo>
                  <a:lnTo>
                    <a:pt x="377874" y="473077"/>
                  </a:lnTo>
                  <a:lnTo>
                    <a:pt x="332831" y="413414"/>
                  </a:lnTo>
                  <a:lnTo>
                    <a:pt x="285877" y="361125"/>
                  </a:lnTo>
                  <a:lnTo>
                    <a:pt x="237125" y="316551"/>
                  </a:lnTo>
                  <a:lnTo>
                    <a:pt x="186689" y="280035"/>
                  </a:lnTo>
                  <a:lnTo>
                    <a:pt x="186689" y="373379"/>
                  </a:lnTo>
                  <a:lnTo>
                    <a:pt x="0" y="128650"/>
                  </a:lnTo>
                  <a:lnTo>
                    <a:pt x="186689" y="0"/>
                  </a:lnTo>
                  <a:lnTo>
                    <a:pt x="186689" y="93345"/>
                  </a:lnTo>
                  <a:lnTo>
                    <a:pt x="211852" y="110384"/>
                  </a:lnTo>
                  <a:lnTo>
                    <a:pt x="260950" y="150441"/>
                  </a:lnTo>
                  <a:lnTo>
                    <a:pt x="308321" y="198193"/>
                  </a:lnTo>
                  <a:lnTo>
                    <a:pt x="353860" y="253303"/>
                  </a:lnTo>
                  <a:lnTo>
                    <a:pt x="397460" y="315438"/>
                  </a:lnTo>
                  <a:lnTo>
                    <a:pt x="418501" y="349034"/>
                  </a:lnTo>
                  <a:lnTo>
                    <a:pt x="439017" y="384261"/>
                  </a:lnTo>
                  <a:lnTo>
                    <a:pt x="458995" y="421076"/>
                  </a:lnTo>
                  <a:lnTo>
                    <a:pt x="478423" y="459438"/>
                  </a:lnTo>
                  <a:lnTo>
                    <a:pt x="497286" y="499305"/>
                  </a:lnTo>
                  <a:lnTo>
                    <a:pt x="515572" y="540635"/>
                  </a:lnTo>
                  <a:lnTo>
                    <a:pt x="533268" y="583386"/>
                  </a:lnTo>
                  <a:lnTo>
                    <a:pt x="550359" y="627516"/>
                  </a:lnTo>
                  <a:lnTo>
                    <a:pt x="566834" y="672983"/>
                  </a:lnTo>
                  <a:lnTo>
                    <a:pt x="582678" y="719746"/>
                  </a:lnTo>
                  <a:lnTo>
                    <a:pt x="597878" y="767763"/>
                  </a:lnTo>
                  <a:lnTo>
                    <a:pt x="612421" y="816991"/>
                  </a:lnTo>
                  <a:lnTo>
                    <a:pt x="626295" y="867389"/>
                  </a:lnTo>
                  <a:lnTo>
                    <a:pt x="639485" y="918915"/>
                  </a:lnTo>
                  <a:lnTo>
                    <a:pt x="651978" y="971527"/>
                  </a:lnTo>
                  <a:lnTo>
                    <a:pt x="663761" y="1025184"/>
                  </a:lnTo>
                  <a:lnTo>
                    <a:pt x="674821" y="1079843"/>
                  </a:lnTo>
                  <a:lnTo>
                    <a:pt x="685145" y="1135462"/>
                  </a:lnTo>
                  <a:lnTo>
                    <a:pt x="694719" y="1192001"/>
                  </a:lnTo>
                  <a:lnTo>
                    <a:pt x="703530" y="1249416"/>
                  </a:lnTo>
                  <a:lnTo>
                    <a:pt x="711564" y="1307666"/>
                  </a:lnTo>
                  <a:lnTo>
                    <a:pt x="718810" y="1366709"/>
                  </a:lnTo>
                  <a:lnTo>
                    <a:pt x="725252" y="1426503"/>
                  </a:lnTo>
                  <a:lnTo>
                    <a:pt x="730879" y="1487007"/>
                  </a:lnTo>
                  <a:lnTo>
                    <a:pt x="735676" y="1548178"/>
                  </a:lnTo>
                  <a:lnTo>
                    <a:pt x="739631" y="1609975"/>
                  </a:lnTo>
                  <a:lnTo>
                    <a:pt x="742730" y="1672356"/>
                  </a:lnTo>
                  <a:lnTo>
                    <a:pt x="744960" y="1735278"/>
                  </a:lnTo>
                  <a:lnTo>
                    <a:pt x="746307" y="1798701"/>
                  </a:lnTo>
                  <a:lnTo>
                    <a:pt x="746759" y="1862581"/>
                  </a:lnTo>
                  <a:lnTo>
                    <a:pt x="746759" y="2049145"/>
                  </a:lnTo>
                  <a:lnTo>
                    <a:pt x="746267" y="2116131"/>
                  </a:lnTo>
                  <a:lnTo>
                    <a:pt x="744800" y="2182510"/>
                  </a:lnTo>
                  <a:lnTo>
                    <a:pt x="742377" y="2248240"/>
                  </a:lnTo>
                  <a:lnTo>
                    <a:pt x="739013" y="2313281"/>
                  </a:lnTo>
                  <a:lnTo>
                    <a:pt x="734726" y="2377591"/>
                  </a:lnTo>
                  <a:lnTo>
                    <a:pt x="729533" y="2441128"/>
                  </a:lnTo>
                  <a:lnTo>
                    <a:pt x="723450" y="2503851"/>
                  </a:lnTo>
                  <a:lnTo>
                    <a:pt x="716495" y="2565720"/>
                  </a:lnTo>
                  <a:lnTo>
                    <a:pt x="708684" y="2626692"/>
                  </a:lnTo>
                  <a:lnTo>
                    <a:pt x="700034" y="2686726"/>
                  </a:lnTo>
                  <a:lnTo>
                    <a:pt x="690562" y="2745782"/>
                  </a:lnTo>
                  <a:lnTo>
                    <a:pt x="680285" y="2803818"/>
                  </a:lnTo>
                  <a:lnTo>
                    <a:pt x="669220" y="2860792"/>
                  </a:lnTo>
                  <a:lnTo>
                    <a:pt x="657383" y="2916663"/>
                  </a:lnTo>
                  <a:lnTo>
                    <a:pt x="644793" y="2971390"/>
                  </a:lnTo>
                  <a:lnTo>
                    <a:pt x="631464" y="3024932"/>
                  </a:lnTo>
                  <a:lnTo>
                    <a:pt x="617415" y="3077248"/>
                  </a:lnTo>
                  <a:lnTo>
                    <a:pt x="602662" y="3128295"/>
                  </a:lnTo>
                  <a:lnTo>
                    <a:pt x="587223" y="3178033"/>
                  </a:lnTo>
                  <a:lnTo>
                    <a:pt x="571113" y="3226421"/>
                  </a:lnTo>
                  <a:lnTo>
                    <a:pt x="554350" y="3273417"/>
                  </a:lnTo>
                  <a:lnTo>
                    <a:pt x="536951" y="3318980"/>
                  </a:lnTo>
                  <a:lnTo>
                    <a:pt x="518932" y="3363068"/>
                  </a:lnTo>
                  <a:lnTo>
                    <a:pt x="500311" y="3405641"/>
                  </a:lnTo>
                  <a:lnTo>
                    <a:pt x="481105" y="3446657"/>
                  </a:lnTo>
                  <a:lnTo>
                    <a:pt x="461330" y="3486074"/>
                  </a:lnTo>
                  <a:lnTo>
                    <a:pt x="441002" y="3523852"/>
                  </a:lnTo>
                  <a:lnTo>
                    <a:pt x="420140" y="3559949"/>
                  </a:lnTo>
                  <a:lnTo>
                    <a:pt x="398760" y="3594324"/>
                  </a:lnTo>
                  <a:lnTo>
                    <a:pt x="376879" y="3626936"/>
                  </a:lnTo>
                  <a:lnTo>
                    <a:pt x="331681" y="3686704"/>
                  </a:lnTo>
                  <a:lnTo>
                    <a:pt x="284680" y="3738922"/>
                  </a:lnTo>
                  <a:lnTo>
                    <a:pt x="236012" y="3783261"/>
                  </a:lnTo>
                  <a:lnTo>
                    <a:pt x="185813" y="3819391"/>
                  </a:lnTo>
                  <a:lnTo>
                    <a:pt x="134216" y="3846979"/>
                  </a:lnTo>
                  <a:lnTo>
                    <a:pt x="81358" y="3865698"/>
                  </a:lnTo>
                  <a:lnTo>
                    <a:pt x="27372" y="3875215"/>
                  </a:lnTo>
                  <a:lnTo>
                    <a:pt x="0" y="3876421"/>
                  </a:lnTo>
                  <a:lnTo>
                    <a:pt x="0" y="3689730"/>
                  </a:lnTo>
                  <a:lnTo>
                    <a:pt x="27372" y="3688526"/>
                  </a:lnTo>
                  <a:lnTo>
                    <a:pt x="54497" y="3684938"/>
                  </a:lnTo>
                  <a:lnTo>
                    <a:pt x="107936" y="3670781"/>
                  </a:lnTo>
                  <a:lnTo>
                    <a:pt x="160180" y="3647589"/>
                  </a:lnTo>
                  <a:lnTo>
                    <a:pt x="211095" y="3615693"/>
                  </a:lnTo>
                  <a:lnTo>
                    <a:pt x="260546" y="3575424"/>
                  </a:lnTo>
                  <a:lnTo>
                    <a:pt x="308397" y="3527110"/>
                  </a:lnTo>
                  <a:lnTo>
                    <a:pt x="354514" y="3471082"/>
                  </a:lnTo>
                  <a:lnTo>
                    <a:pt x="398760" y="3407671"/>
                  </a:lnTo>
                  <a:lnTo>
                    <a:pt x="420140" y="3373300"/>
                  </a:lnTo>
                  <a:lnTo>
                    <a:pt x="441002" y="3337207"/>
                  </a:lnTo>
                  <a:lnTo>
                    <a:pt x="461330" y="3299433"/>
                  </a:lnTo>
                  <a:lnTo>
                    <a:pt x="481105" y="3260020"/>
                  </a:lnTo>
                  <a:lnTo>
                    <a:pt x="500311" y="3219008"/>
                  </a:lnTo>
                  <a:lnTo>
                    <a:pt x="518932" y="3176439"/>
                  </a:lnTo>
                  <a:lnTo>
                    <a:pt x="536951" y="3132355"/>
                  </a:lnTo>
                  <a:lnTo>
                    <a:pt x="554350" y="3086797"/>
                  </a:lnTo>
                  <a:lnTo>
                    <a:pt x="571113" y="3039805"/>
                  </a:lnTo>
                  <a:lnTo>
                    <a:pt x="587223" y="2991421"/>
                  </a:lnTo>
                  <a:lnTo>
                    <a:pt x="602662" y="2941687"/>
                  </a:lnTo>
                  <a:lnTo>
                    <a:pt x="617415" y="2890644"/>
                  </a:lnTo>
                  <a:lnTo>
                    <a:pt x="631464" y="2838332"/>
                  </a:lnTo>
                  <a:lnTo>
                    <a:pt x="644793" y="2784794"/>
                  </a:lnTo>
                  <a:lnTo>
                    <a:pt x="657383" y="2730071"/>
                  </a:lnTo>
                  <a:lnTo>
                    <a:pt x="669220" y="2674203"/>
                  </a:lnTo>
                  <a:lnTo>
                    <a:pt x="680285" y="2617232"/>
                  </a:lnTo>
                  <a:lnTo>
                    <a:pt x="690562" y="2559200"/>
                  </a:lnTo>
                  <a:lnTo>
                    <a:pt x="700034" y="2500147"/>
                  </a:lnTo>
                  <a:lnTo>
                    <a:pt x="708684" y="2440116"/>
                  </a:lnTo>
                  <a:lnTo>
                    <a:pt x="716495" y="2379146"/>
                  </a:lnTo>
                  <a:lnTo>
                    <a:pt x="723450" y="2317280"/>
                  </a:lnTo>
                  <a:lnTo>
                    <a:pt x="729533" y="2254559"/>
                  </a:lnTo>
                  <a:lnTo>
                    <a:pt x="734726" y="2191023"/>
                  </a:lnTo>
                  <a:lnTo>
                    <a:pt x="739013" y="2126715"/>
                  </a:lnTo>
                  <a:lnTo>
                    <a:pt x="742377" y="2061676"/>
                  </a:lnTo>
                  <a:lnTo>
                    <a:pt x="744800" y="1995946"/>
                  </a:lnTo>
                  <a:lnTo>
                    <a:pt x="746267" y="1929568"/>
                  </a:lnTo>
                  <a:lnTo>
                    <a:pt x="746759" y="1862581"/>
                  </a:lnTo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959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Links</a:t>
            </a:r>
            <a:r>
              <a:rPr sz="3600" spc="-60" dirty="0"/>
              <a:t> </a:t>
            </a:r>
            <a:r>
              <a:rPr sz="3600" dirty="0"/>
              <a:t>relativos</a:t>
            </a:r>
            <a:endParaRPr sz="36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89933" y="3183001"/>
          <a:ext cx="6447790" cy="18605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#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Exemplos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2D0A1"/>
                      </a:solidFill>
                      <a:prstDash val="solid"/>
                    </a:lnL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href="reviews.html"&gt;Reviews&lt;/a&gt;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42D0A1"/>
                      </a:solidFill>
                      <a:prstDash val="solid"/>
                    </a:lnR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href="movies/cinema/listings.html"&gt;Listings&lt;/a&gt;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href="movies/dvd/reviews.html"&gt;</a:t>
                      </a:r>
                      <a:r>
                        <a:rPr sz="180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Reviews&lt;/a&gt;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href="../index.html"&gt;Home&lt;/a&gt;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898644" y="3931030"/>
            <a:ext cx="5845810" cy="370840"/>
          </a:xfrm>
          <a:custGeom>
            <a:avLst/>
            <a:gdLst/>
            <a:ahLst/>
            <a:cxnLst/>
            <a:rect l="l" t="t" r="r" b="b"/>
            <a:pathLst>
              <a:path w="5845809" h="370839">
                <a:moveTo>
                  <a:pt x="5845556" y="0"/>
                </a:moveTo>
                <a:lnTo>
                  <a:pt x="0" y="0"/>
                </a:lnTo>
                <a:lnTo>
                  <a:pt x="0" y="370840"/>
                </a:lnTo>
                <a:lnTo>
                  <a:pt x="5845556" y="370840"/>
                </a:lnTo>
                <a:lnTo>
                  <a:pt x="58455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235585">
              <a:lnSpc>
                <a:spcPct val="100000"/>
              </a:lnSpc>
              <a:spcBef>
                <a:spcPts val="260"/>
              </a:spcBef>
            </a:pPr>
            <a:r>
              <a:rPr lang="en-US" sz="1800" spc="-5" dirty="0">
                <a:latin typeface="Trebuchet MS"/>
                <a:cs typeface="Trebuchet MS"/>
              </a:rPr>
              <a:t>&lt;a</a:t>
            </a:r>
            <a:r>
              <a:rPr lang="en-US" sz="1800" spc="25" dirty="0">
                <a:latin typeface="Trebuchet MS"/>
                <a:cs typeface="Trebuchet MS"/>
              </a:rPr>
              <a:t> </a:t>
            </a:r>
            <a:r>
              <a:rPr lang="en-US" sz="1800" spc="-10" dirty="0" err="1">
                <a:latin typeface="Trebuchet MS"/>
                <a:cs typeface="Trebuchet MS"/>
              </a:rPr>
              <a:t>href</a:t>
            </a:r>
            <a:r>
              <a:rPr lang="en-US" sz="1800" spc="-10" dirty="0">
                <a:latin typeface="Trebuchet MS"/>
                <a:cs typeface="Trebuchet MS"/>
              </a:rPr>
              <a:t>=“movies/cinema/reviews.html"&gt;Reviews&lt;/a&gt;</a:t>
            </a:r>
            <a:endParaRPr lang="en-US"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98644" y="4672710"/>
            <a:ext cx="5845810" cy="370840"/>
          </a:xfrm>
          <a:custGeom>
            <a:avLst/>
            <a:gdLst/>
            <a:ahLst/>
            <a:cxnLst/>
            <a:rect l="l" t="t" r="r" b="b"/>
            <a:pathLst>
              <a:path w="5845809" h="370839">
                <a:moveTo>
                  <a:pt x="5845556" y="0"/>
                </a:moveTo>
                <a:lnTo>
                  <a:pt x="0" y="0"/>
                </a:lnTo>
                <a:lnTo>
                  <a:pt x="0" y="370839"/>
                </a:lnTo>
                <a:lnTo>
                  <a:pt x="5845556" y="370839"/>
                </a:lnTo>
                <a:lnTo>
                  <a:pt x="58455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240029">
              <a:lnSpc>
                <a:spcPct val="100000"/>
              </a:lnSpc>
              <a:spcBef>
                <a:spcPts val="315"/>
              </a:spcBef>
            </a:pPr>
            <a:r>
              <a:rPr lang="en-US" sz="1800" spc="-5">
                <a:latin typeface="Trebuchet MS"/>
                <a:cs typeface="Trebuchet MS"/>
              </a:rPr>
              <a:t>&lt;a</a:t>
            </a:r>
            <a:r>
              <a:rPr lang="en-US" sz="1800" spc="-30">
                <a:latin typeface="Trebuchet MS"/>
                <a:cs typeface="Trebuchet MS"/>
              </a:rPr>
              <a:t> </a:t>
            </a:r>
            <a:r>
              <a:rPr lang="en-US" sz="1800" spc="-5">
                <a:latin typeface="Trebuchet MS"/>
                <a:cs typeface="Trebuchet MS"/>
              </a:rPr>
              <a:t>href="../../index.html"&gt;Home&lt;/a&gt;</a:t>
            </a:r>
            <a:endParaRPr lang="en-US" sz="18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9495" y="2312352"/>
            <a:ext cx="204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4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70000"/>
            <a:ext cx="3362960" cy="5588000"/>
            <a:chOff x="0" y="1270000"/>
            <a:chExt cx="3362960" cy="558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859" y="1270000"/>
              <a:ext cx="2730500" cy="54305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53360" y="1691131"/>
              <a:ext cx="600075" cy="2558415"/>
            </a:xfrm>
            <a:custGeom>
              <a:avLst/>
              <a:gdLst/>
              <a:ahLst/>
              <a:cxnLst/>
              <a:rect l="l" t="t" r="r" b="b"/>
              <a:pathLst>
                <a:path w="600075" h="2558415">
                  <a:moveTo>
                    <a:pt x="599452" y="1237234"/>
                  </a:moveTo>
                  <a:lnTo>
                    <a:pt x="599440" y="1235240"/>
                  </a:lnTo>
                  <a:lnTo>
                    <a:pt x="599440" y="1222883"/>
                  </a:lnTo>
                  <a:lnTo>
                    <a:pt x="599376" y="1226870"/>
                  </a:lnTo>
                  <a:lnTo>
                    <a:pt x="599071" y="1177150"/>
                  </a:lnTo>
                  <a:lnTo>
                    <a:pt x="598766" y="1167638"/>
                  </a:lnTo>
                  <a:lnTo>
                    <a:pt x="598766" y="1272552"/>
                  </a:lnTo>
                  <a:lnTo>
                    <a:pt x="598601" y="1285862"/>
                  </a:lnTo>
                  <a:lnTo>
                    <a:pt x="598449" y="1289596"/>
                  </a:lnTo>
                  <a:lnTo>
                    <a:pt x="598766" y="1272552"/>
                  </a:lnTo>
                  <a:lnTo>
                    <a:pt x="598766" y="1167638"/>
                  </a:lnTo>
                  <a:lnTo>
                    <a:pt x="597166" y="1117650"/>
                  </a:lnTo>
                  <a:lnTo>
                    <a:pt x="593775" y="1058837"/>
                  </a:lnTo>
                  <a:lnTo>
                    <a:pt x="588937" y="1000785"/>
                  </a:lnTo>
                  <a:lnTo>
                    <a:pt x="582676" y="943571"/>
                  </a:lnTo>
                  <a:lnTo>
                    <a:pt x="575030" y="887310"/>
                  </a:lnTo>
                  <a:lnTo>
                    <a:pt x="566026" y="832053"/>
                  </a:lnTo>
                  <a:lnTo>
                    <a:pt x="555701" y="777913"/>
                  </a:lnTo>
                  <a:lnTo>
                    <a:pt x="544068" y="724979"/>
                  </a:lnTo>
                  <a:lnTo>
                    <a:pt x="531190" y="673315"/>
                  </a:lnTo>
                  <a:lnTo>
                    <a:pt x="517067" y="623023"/>
                  </a:lnTo>
                  <a:lnTo>
                    <a:pt x="501751" y="574179"/>
                  </a:lnTo>
                  <a:lnTo>
                    <a:pt x="485279" y="526884"/>
                  </a:lnTo>
                  <a:lnTo>
                    <a:pt x="467664" y="481215"/>
                  </a:lnTo>
                  <a:lnTo>
                    <a:pt x="448945" y="437248"/>
                  </a:lnTo>
                  <a:lnTo>
                    <a:pt x="429158" y="395097"/>
                  </a:lnTo>
                  <a:lnTo>
                    <a:pt x="408330" y="354825"/>
                  </a:lnTo>
                  <a:lnTo>
                    <a:pt x="386486" y="316534"/>
                  </a:lnTo>
                  <a:lnTo>
                    <a:pt x="363677" y="280301"/>
                  </a:lnTo>
                  <a:lnTo>
                    <a:pt x="339915" y="246202"/>
                  </a:lnTo>
                  <a:lnTo>
                    <a:pt x="315252" y="214350"/>
                  </a:lnTo>
                  <a:lnTo>
                    <a:pt x="289699" y="184810"/>
                  </a:lnTo>
                  <a:lnTo>
                    <a:pt x="236080" y="133032"/>
                  </a:lnTo>
                  <a:lnTo>
                    <a:pt x="179324" y="91579"/>
                  </a:lnTo>
                  <a:lnTo>
                    <a:pt x="149860" y="74930"/>
                  </a:lnTo>
                  <a:lnTo>
                    <a:pt x="149860" y="0"/>
                  </a:lnTo>
                  <a:lnTo>
                    <a:pt x="0" y="112268"/>
                  </a:lnTo>
                  <a:lnTo>
                    <a:pt x="149860" y="299720"/>
                  </a:lnTo>
                  <a:lnTo>
                    <a:pt x="149860" y="224790"/>
                  </a:lnTo>
                  <a:lnTo>
                    <a:pt x="179641" y="241642"/>
                  </a:lnTo>
                  <a:lnTo>
                    <a:pt x="237045" y="283743"/>
                  </a:lnTo>
                  <a:lnTo>
                    <a:pt x="291338" y="336511"/>
                  </a:lnTo>
                  <a:lnTo>
                    <a:pt x="317207" y="366674"/>
                  </a:lnTo>
                  <a:lnTo>
                    <a:pt x="342201" y="399249"/>
                  </a:lnTo>
                  <a:lnTo>
                    <a:pt x="366255" y="434136"/>
                  </a:lnTo>
                  <a:lnTo>
                    <a:pt x="389356" y="471246"/>
                  </a:lnTo>
                  <a:lnTo>
                    <a:pt x="411454" y="510514"/>
                  </a:lnTo>
                  <a:lnTo>
                    <a:pt x="432511" y="551827"/>
                  </a:lnTo>
                  <a:lnTo>
                    <a:pt x="452501" y="595122"/>
                  </a:lnTo>
                  <a:lnTo>
                    <a:pt x="471385" y="640295"/>
                  </a:lnTo>
                  <a:lnTo>
                    <a:pt x="489115" y="687273"/>
                  </a:lnTo>
                  <a:lnTo>
                    <a:pt x="505675" y="735952"/>
                  </a:lnTo>
                  <a:lnTo>
                    <a:pt x="521017" y="786257"/>
                  </a:lnTo>
                  <a:lnTo>
                    <a:pt x="535101" y="838111"/>
                  </a:lnTo>
                  <a:lnTo>
                    <a:pt x="547890" y="891400"/>
                  </a:lnTo>
                  <a:lnTo>
                    <a:pt x="559358" y="946061"/>
                  </a:lnTo>
                  <a:lnTo>
                    <a:pt x="569468" y="1002004"/>
                  </a:lnTo>
                  <a:lnTo>
                    <a:pt x="578167" y="1059129"/>
                  </a:lnTo>
                  <a:lnTo>
                    <a:pt x="585444" y="1117358"/>
                  </a:lnTo>
                  <a:lnTo>
                    <a:pt x="591248" y="1176616"/>
                  </a:lnTo>
                  <a:lnTo>
                    <a:pt x="595541" y="1236789"/>
                  </a:lnTo>
                  <a:lnTo>
                    <a:pt x="598195" y="1295819"/>
                  </a:lnTo>
                  <a:lnTo>
                    <a:pt x="596138" y="1347965"/>
                  </a:lnTo>
                  <a:lnTo>
                    <a:pt x="592086" y="1409141"/>
                  </a:lnTo>
                  <a:lnTo>
                    <a:pt x="586473" y="1469288"/>
                  </a:lnTo>
                  <a:lnTo>
                    <a:pt x="579348" y="1528343"/>
                  </a:lnTo>
                  <a:lnTo>
                    <a:pt x="570763" y="1586204"/>
                  </a:lnTo>
                  <a:lnTo>
                    <a:pt x="560755" y="1642808"/>
                  </a:lnTo>
                  <a:lnTo>
                    <a:pt x="549351" y="1698066"/>
                  </a:lnTo>
                  <a:lnTo>
                    <a:pt x="536613" y="1751888"/>
                  </a:lnTo>
                  <a:lnTo>
                    <a:pt x="522566" y="1804200"/>
                  </a:lnTo>
                  <a:lnTo>
                    <a:pt x="507250" y="1854911"/>
                  </a:lnTo>
                  <a:lnTo>
                    <a:pt x="490728" y="1903945"/>
                  </a:lnTo>
                  <a:lnTo>
                    <a:pt x="473024" y="1951240"/>
                  </a:lnTo>
                  <a:lnTo>
                    <a:pt x="454177" y="1996681"/>
                  </a:lnTo>
                  <a:lnTo>
                    <a:pt x="434238" y="2040204"/>
                  </a:lnTo>
                  <a:lnTo>
                    <a:pt x="413245" y="2081720"/>
                  </a:lnTo>
                  <a:lnTo>
                    <a:pt x="391236" y="2121154"/>
                  </a:lnTo>
                  <a:lnTo>
                    <a:pt x="368261" y="2158428"/>
                  </a:lnTo>
                  <a:lnTo>
                    <a:pt x="344360" y="2193442"/>
                  </a:lnTo>
                  <a:lnTo>
                    <a:pt x="319557" y="2226132"/>
                  </a:lnTo>
                  <a:lnTo>
                    <a:pt x="293916" y="2256409"/>
                  </a:lnTo>
                  <a:lnTo>
                    <a:pt x="267462" y="2284184"/>
                  </a:lnTo>
                  <a:lnTo>
                    <a:pt x="212318" y="2331936"/>
                  </a:lnTo>
                  <a:lnTo>
                    <a:pt x="154444" y="2368715"/>
                  </a:lnTo>
                  <a:lnTo>
                    <a:pt x="94170" y="2393886"/>
                  </a:lnTo>
                  <a:lnTo>
                    <a:pt x="31826" y="2406789"/>
                  </a:lnTo>
                  <a:lnTo>
                    <a:pt x="0" y="2408428"/>
                  </a:lnTo>
                  <a:lnTo>
                    <a:pt x="0" y="2558288"/>
                  </a:lnTo>
                  <a:lnTo>
                    <a:pt x="63233" y="2551773"/>
                  </a:lnTo>
                  <a:lnTo>
                    <a:pt x="124587" y="2532659"/>
                  </a:lnTo>
                  <a:lnTo>
                    <a:pt x="183692" y="2501595"/>
                  </a:lnTo>
                  <a:lnTo>
                    <a:pt x="240258" y="2459253"/>
                  </a:lnTo>
                  <a:lnTo>
                    <a:pt x="293916" y="2406269"/>
                  </a:lnTo>
                  <a:lnTo>
                    <a:pt x="319557" y="2375992"/>
                  </a:lnTo>
                  <a:lnTo>
                    <a:pt x="344360" y="2343302"/>
                  </a:lnTo>
                  <a:lnTo>
                    <a:pt x="368261" y="2308288"/>
                  </a:lnTo>
                  <a:lnTo>
                    <a:pt x="391236" y="2271014"/>
                  </a:lnTo>
                  <a:lnTo>
                    <a:pt x="413245" y="2231580"/>
                  </a:lnTo>
                  <a:lnTo>
                    <a:pt x="434238" y="2190064"/>
                  </a:lnTo>
                  <a:lnTo>
                    <a:pt x="454177" y="2146541"/>
                  </a:lnTo>
                  <a:lnTo>
                    <a:pt x="473024" y="2101100"/>
                  </a:lnTo>
                  <a:lnTo>
                    <a:pt x="490728" y="2053805"/>
                  </a:lnTo>
                  <a:lnTo>
                    <a:pt x="507250" y="2004771"/>
                  </a:lnTo>
                  <a:lnTo>
                    <a:pt x="522566" y="1954060"/>
                  </a:lnTo>
                  <a:lnTo>
                    <a:pt x="536613" y="1901748"/>
                  </a:lnTo>
                  <a:lnTo>
                    <a:pt x="549351" y="1847926"/>
                  </a:lnTo>
                  <a:lnTo>
                    <a:pt x="560755" y="1792668"/>
                  </a:lnTo>
                  <a:lnTo>
                    <a:pt x="570763" y="1736064"/>
                  </a:lnTo>
                  <a:lnTo>
                    <a:pt x="579348" y="1678203"/>
                  </a:lnTo>
                  <a:lnTo>
                    <a:pt x="586473" y="1619148"/>
                  </a:lnTo>
                  <a:lnTo>
                    <a:pt x="592086" y="1559001"/>
                  </a:lnTo>
                  <a:lnTo>
                    <a:pt x="596138" y="1497825"/>
                  </a:lnTo>
                  <a:lnTo>
                    <a:pt x="598601" y="1435722"/>
                  </a:lnTo>
                  <a:lnTo>
                    <a:pt x="599440" y="1372743"/>
                  </a:lnTo>
                  <a:lnTo>
                    <a:pt x="599440" y="1237907"/>
                  </a:lnTo>
                  <a:lnTo>
                    <a:pt x="599452" y="12372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53360" y="1691131"/>
              <a:ext cx="599440" cy="2558415"/>
            </a:xfrm>
            <a:custGeom>
              <a:avLst/>
              <a:gdLst/>
              <a:ahLst/>
              <a:cxnLst/>
              <a:rect l="l" t="t" r="r" b="b"/>
              <a:pathLst>
                <a:path w="599439" h="2558415">
                  <a:moveTo>
                    <a:pt x="598297" y="1297813"/>
                  </a:moveTo>
                  <a:lnTo>
                    <a:pt x="595547" y="1236788"/>
                  </a:lnTo>
                  <a:lnTo>
                    <a:pt x="591253" y="1176608"/>
                  </a:lnTo>
                  <a:lnTo>
                    <a:pt x="585452" y="1117358"/>
                  </a:lnTo>
                  <a:lnTo>
                    <a:pt x="578179" y="1059126"/>
                  </a:lnTo>
                  <a:lnTo>
                    <a:pt x="569472" y="1001997"/>
                  </a:lnTo>
                  <a:lnTo>
                    <a:pt x="559365" y="946059"/>
                  </a:lnTo>
                  <a:lnTo>
                    <a:pt x="547897" y="891399"/>
                  </a:lnTo>
                  <a:lnTo>
                    <a:pt x="535102" y="838102"/>
                  </a:lnTo>
                  <a:lnTo>
                    <a:pt x="521018" y="786256"/>
                  </a:lnTo>
                  <a:lnTo>
                    <a:pt x="505680" y="735948"/>
                  </a:lnTo>
                  <a:lnTo>
                    <a:pt x="489125" y="687264"/>
                  </a:lnTo>
                  <a:lnTo>
                    <a:pt x="471389" y="640291"/>
                  </a:lnTo>
                  <a:lnTo>
                    <a:pt x="452508" y="595116"/>
                  </a:lnTo>
                  <a:lnTo>
                    <a:pt x="432519" y="551825"/>
                  </a:lnTo>
                  <a:lnTo>
                    <a:pt x="411457" y="510505"/>
                  </a:lnTo>
                  <a:lnTo>
                    <a:pt x="389360" y="471243"/>
                  </a:lnTo>
                  <a:lnTo>
                    <a:pt x="366263" y="434125"/>
                  </a:lnTo>
                  <a:lnTo>
                    <a:pt x="342203" y="399238"/>
                  </a:lnTo>
                  <a:lnTo>
                    <a:pt x="317216" y="366670"/>
                  </a:lnTo>
                  <a:lnTo>
                    <a:pt x="291339" y="336506"/>
                  </a:lnTo>
                  <a:lnTo>
                    <a:pt x="264606" y="308833"/>
                  </a:lnTo>
                  <a:lnTo>
                    <a:pt x="208724" y="261308"/>
                  </a:lnTo>
                  <a:lnTo>
                    <a:pt x="149859" y="224789"/>
                  </a:lnTo>
                  <a:lnTo>
                    <a:pt x="149859" y="299719"/>
                  </a:lnTo>
                  <a:lnTo>
                    <a:pt x="0" y="112267"/>
                  </a:lnTo>
                  <a:lnTo>
                    <a:pt x="149859" y="0"/>
                  </a:lnTo>
                  <a:lnTo>
                    <a:pt x="149859" y="74929"/>
                  </a:lnTo>
                  <a:lnTo>
                    <a:pt x="180038" y="92015"/>
                  </a:lnTo>
                  <a:lnTo>
                    <a:pt x="238128" y="134789"/>
                  </a:lnTo>
                  <a:lnTo>
                    <a:pt x="292956" y="188421"/>
                  </a:lnTo>
                  <a:lnTo>
                    <a:pt x="319057" y="219080"/>
                  </a:lnTo>
                  <a:lnTo>
                    <a:pt x="344234" y="252179"/>
                  </a:lnTo>
                  <a:lnTo>
                    <a:pt x="368453" y="287627"/>
                  </a:lnTo>
                  <a:lnTo>
                    <a:pt x="391676" y="325332"/>
                  </a:lnTo>
                  <a:lnTo>
                    <a:pt x="413868" y="365201"/>
                  </a:lnTo>
                  <a:lnTo>
                    <a:pt x="434993" y="407145"/>
                  </a:lnTo>
                  <a:lnTo>
                    <a:pt x="455016" y="451071"/>
                  </a:lnTo>
                  <a:lnTo>
                    <a:pt x="473900" y="496887"/>
                  </a:lnTo>
                  <a:lnTo>
                    <a:pt x="491609" y="544502"/>
                  </a:lnTo>
                  <a:lnTo>
                    <a:pt x="508108" y="593825"/>
                  </a:lnTo>
                  <a:lnTo>
                    <a:pt x="523361" y="644764"/>
                  </a:lnTo>
                  <a:lnTo>
                    <a:pt x="537331" y="697227"/>
                  </a:lnTo>
                  <a:lnTo>
                    <a:pt x="549983" y="751123"/>
                  </a:lnTo>
                  <a:lnTo>
                    <a:pt x="561281" y="806360"/>
                  </a:lnTo>
                  <a:lnTo>
                    <a:pt x="571190" y="862847"/>
                  </a:lnTo>
                  <a:lnTo>
                    <a:pt x="579672" y="920492"/>
                  </a:lnTo>
                  <a:lnTo>
                    <a:pt x="586693" y="979203"/>
                  </a:lnTo>
                  <a:lnTo>
                    <a:pt x="592216" y="1038889"/>
                  </a:lnTo>
                  <a:lnTo>
                    <a:pt x="596205" y="1099459"/>
                  </a:lnTo>
                  <a:lnTo>
                    <a:pt x="598625" y="1160821"/>
                  </a:lnTo>
                  <a:lnTo>
                    <a:pt x="599439" y="1222882"/>
                  </a:lnTo>
                  <a:lnTo>
                    <a:pt x="599439" y="1372742"/>
                  </a:lnTo>
                  <a:lnTo>
                    <a:pt x="598609" y="1435710"/>
                  </a:lnTo>
                  <a:lnTo>
                    <a:pt x="596144" y="1497822"/>
                  </a:lnTo>
                  <a:lnTo>
                    <a:pt x="592086" y="1558995"/>
                  </a:lnTo>
                  <a:lnTo>
                    <a:pt x="586478" y="1619147"/>
                  </a:lnTo>
                  <a:lnTo>
                    <a:pt x="579359" y="1678197"/>
                  </a:lnTo>
                  <a:lnTo>
                    <a:pt x="570772" y="1736063"/>
                  </a:lnTo>
                  <a:lnTo>
                    <a:pt x="560758" y="1792663"/>
                  </a:lnTo>
                  <a:lnTo>
                    <a:pt x="549359" y="1847915"/>
                  </a:lnTo>
                  <a:lnTo>
                    <a:pt x="536615" y="1901737"/>
                  </a:lnTo>
                  <a:lnTo>
                    <a:pt x="522569" y="1954047"/>
                  </a:lnTo>
                  <a:lnTo>
                    <a:pt x="507261" y="2004763"/>
                  </a:lnTo>
                  <a:lnTo>
                    <a:pt x="490734" y="2053804"/>
                  </a:lnTo>
                  <a:lnTo>
                    <a:pt x="473027" y="2101088"/>
                  </a:lnTo>
                  <a:lnTo>
                    <a:pt x="454184" y="2146532"/>
                  </a:lnTo>
                  <a:lnTo>
                    <a:pt x="434245" y="2190054"/>
                  </a:lnTo>
                  <a:lnTo>
                    <a:pt x="413252" y="2231574"/>
                  </a:lnTo>
                  <a:lnTo>
                    <a:pt x="391246" y="2271008"/>
                  </a:lnTo>
                  <a:lnTo>
                    <a:pt x="368268" y="2308275"/>
                  </a:lnTo>
                  <a:lnTo>
                    <a:pt x="344361" y="2343294"/>
                  </a:lnTo>
                  <a:lnTo>
                    <a:pt x="319565" y="2375981"/>
                  </a:lnTo>
                  <a:lnTo>
                    <a:pt x="293921" y="2406256"/>
                  </a:lnTo>
                  <a:lnTo>
                    <a:pt x="267472" y="2434037"/>
                  </a:lnTo>
                  <a:lnTo>
                    <a:pt x="212322" y="2481786"/>
                  </a:lnTo>
                  <a:lnTo>
                    <a:pt x="154445" y="2518573"/>
                  </a:lnTo>
                  <a:lnTo>
                    <a:pt x="94173" y="2543745"/>
                  </a:lnTo>
                  <a:lnTo>
                    <a:pt x="31838" y="2556644"/>
                  </a:lnTo>
                  <a:lnTo>
                    <a:pt x="0" y="2558287"/>
                  </a:lnTo>
                  <a:lnTo>
                    <a:pt x="0" y="2408428"/>
                  </a:lnTo>
                  <a:lnTo>
                    <a:pt x="31838" y="2406784"/>
                  </a:lnTo>
                  <a:lnTo>
                    <a:pt x="63243" y="2401909"/>
                  </a:lnTo>
                  <a:lnTo>
                    <a:pt x="124588" y="2382792"/>
                  </a:lnTo>
                  <a:lnTo>
                    <a:pt x="183703" y="2351731"/>
                  </a:lnTo>
                  <a:lnTo>
                    <a:pt x="240258" y="2309380"/>
                  </a:lnTo>
                  <a:lnTo>
                    <a:pt x="293921" y="2256396"/>
                  </a:lnTo>
                  <a:lnTo>
                    <a:pt x="319565" y="2226121"/>
                  </a:lnTo>
                  <a:lnTo>
                    <a:pt x="344361" y="2193434"/>
                  </a:lnTo>
                  <a:lnTo>
                    <a:pt x="368268" y="2158415"/>
                  </a:lnTo>
                  <a:lnTo>
                    <a:pt x="391246" y="2121148"/>
                  </a:lnTo>
                  <a:lnTo>
                    <a:pt x="413252" y="2081714"/>
                  </a:lnTo>
                  <a:lnTo>
                    <a:pt x="434245" y="2040194"/>
                  </a:lnTo>
                  <a:lnTo>
                    <a:pt x="454184" y="1996672"/>
                  </a:lnTo>
                  <a:lnTo>
                    <a:pt x="473027" y="1951228"/>
                  </a:lnTo>
                  <a:lnTo>
                    <a:pt x="490734" y="1903944"/>
                  </a:lnTo>
                  <a:lnTo>
                    <a:pt x="507261" y="1854903"/>
                  </a:lnTo>
                  <a:lnTo>
                    <a:pt x="522569" y="1804187"/>
                  </a:lnTo>
                  <a:lnTo>
                    <a:pt x="536615" y="1751877"/>
                  </a:lnTo>
                  <a:lnTo>
                    <a:pt x="549359" y="1698055"/>
                  </a:lnTo>
                  <a:lnTo>
                    <a:pt x="560758" y="1642803"/>
                  </a:lnTo>
                  <a:lnTo>
                    <a:pt x="570772" y="1586203"/>
                  </a:lnTo>
                  <a:lnTo>
                    <a:pt x="579359" y="1528337"/>
                  </a:lnTo>
                  <a:lnTo>
                    <a:pt x="586478" y="1469287"/>
                  </a:lnTo>
                  <a:lnTo>
                    <a:pt x="592086" y="1409135"/>
                  </a:lnTo>
                  <a:lnTo>
                    <a:pt x="596144" y="1347962"/>
                  </a:lnTo>
                  <a:lnTo>
                    <a:pt x="598609" y="1285850"/>
                  </a:lnTo>
                  <a:lnTo>
                    <a:pt x="599439" y="1222882"/>
                  </a:lnTo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9597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Links</a:t>
            </a:r>
            <a:r>
              <a:rPr sz="3600" spc="-60" dirty="0"/>
              <a:t> </a:t>
            </a:r>
            <a:r>
              <a:rPr sz="3600" dirty="0"/>
              <a:t>relativos</a:t>
            </a:r>
            <a:endParaRPr sz="36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89933" y="3183001"/>
          <a:ext cx="6584950" cy="2805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#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Exemplos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solidFill>
                      <a:srgbClr val="42D0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2D0A1"/>
                      </a:solidFill>
                      <a:prstDash val="solid"/>
                    </a:lnL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href="reviews.html"&gt;Reviews&lt;/a&gt;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42D0A1"/>
                      </a:solidFill>
                      <a:prstDash val="solid"/>
                    </a:lnR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href="movies/cinema/listings.html"&gt;Listings&lt;/a&gt;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 href="movies/dvd/reviews.html"&gt;</a:t>
                      </a:r>
                      <a:r>
                        <a:rPr sz="180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Reviews&lt;/a&gt;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9370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href="../index.html"&gt;Home&lt;/a&gt;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8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L w="12700">
                      <a:solidFill>
                        <a:srgbClr val="42D0A1"/>
                      </a:solidFill>
                      <a:prstDash val="solid"/>
                    </a:lnL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href="../../index.html"&gt;Home&lt;/a&gt;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  <a:p>
                      <a:pPr marL="240029">
                        <a:lnSpc>
                          <a:spcPct val="100000"/>
                        </a:lnSpc>
                      </a:pPr>
                      <a:r>
                        <a:rPr sz="1800" i="1" spc="-10" dirty="0">
                          <a:latin typeface="Trebuchet MS"/>
                          <a:cs typeface="Trebuchet MS"/>
                        </a:rPr>
                        <a:t>ou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  <a:p>
                      <a:pPr marL="240029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rebuchet MS"/>
                          <a:cs typeface="Trebuchet MS"/>
                        </a:rPr>
                        <a:t>&lt;a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href=“</a:t>
                      </a:r>
                      <a:r>
                        <a:rPr sz="2000" b="1" spc="-5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index.html”&gt;Home&lt;/a&gt;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R w="12700">
                      <a:solidFill>
                        <a:srgbClr val="42D0A1"/>
                      </a:solidFill>
                      <a:prstDash val="solid"/>
                    </a:lnR>
                    <a:lnT w="12700">
                      <a:solidFill>
                        <a:srgbClr val="42D0A1"/>
                      </a:solidFill>
                      <a:prstDash val="solid"/>
                    </a:lnT>
                    <a:lnB w="12700">
                      <a:solidFill>
                        <a:srgbClr val="42D0A1"/>
                      </a:solidFill>
                      <a:prstDash val="solid"/>
                    </a:lnB>
                    <a:solidFill>
                      <a:srgbClr val="E9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911471" y="3931030"/>
            <a:ext cx="5970270" cy="370840"/>
          </a:xfrm>
          <a:custGeom>
            <a:avLst/>
            <a:gdLst/>
            <a:ahLst/>
            <a:cxnLst/>
            <a:rect l="l" t="t" r="r" b="b"/>
            <a:pathLst>
              <a:path w="5970270" h="370839">
                <a:moveTo>
                  <a:pt x="5969888" y="0"/>
                </a:moveTo>
                <a:lnTo>
                  <a:pt x="0" y="0"/>
                </a:lnTo>
                <a:lnTo>
                  <a:pt x="0" y="370840"/>
                </a:lnTo>
                <a:lnTo>
                  <a:pt x="5969888" y="370840"/>
                </a:lnTo>
                <a:lnTo>
                  <a:pt x="59698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235585">
              <a:lnSpc>
                <a:spcPct val="100000"/>
              </a:lnSpc>
              <a:spcBef>
                <a:spcPts val="260"/>
              </a:spcBef>
            </a:pPr>
            <a:r>
              <a:rPr lang="en-US" sz="1800" spc="-5" dirty="0">
                <a:latin typeface="Trebuchet MS"/>
                <a:cs typeface="Trebuchet MS"/>
              </a:rPr>
              <a:t>&lt;a</a:t>
            </a:r>
            <a:r>
              <a:rPr lang="en-US" sz="1800" spc="25" dirty="0">
                <a:latin typeface="Trebuchet MS"/>
                <a:cs typeface="Trebuchet MS"/>
              </a:rPr>
              <a:t> </a:t>
            </a:r>
            <a:r>
              <a:rPr lang="en-US" sz="1800" spc="-10" dirty="0" err="1">
                <a:latin typeface="Trebuchet MS"/>
                <a:cs typeface="Trebuchet MS"/>
              </a:rPr>
              <a:t>href</a:t>
            </a:r>
            <a:r>
              <a:rPr lang="en-US" sz="1800" spc="-10" dirty="0">
                <a:latin typeface="Trebuchet MS"/>
                <a:cs typeface="Trebuchet MS"/>
              </a:rPr>
              <a:t>=“movies/cinema/reviews.html"&gt;Reviews&lt;/a&gt;</a:t>
            </a:r>
            <a:endParaRPr lang="en-US"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11471" y="4672710"/>
            <a:ext cx="5970270" cy="370840"/>
          </a:xfrm>
          <a:custGeom>
            <a:avLst/>
            <a:gdLst/>
            <a:ahLst/>
            <a:cxnLst/>
            <a:rect l="l" t="t" r="r" b="b"/>
            <a:pathLst>
              <a:path w="5970270" h="370839">
                <a:moveTo>
                  <a:pt x="5969888" y="0"/>
                </a:moveTo>
                <a:lnTo>
                  <a:pt x="0" y="0"/>
                </a:lnTo>
                <a:lnTo>
                  <a:pt x="0" y="370839"/>
                </a:lnTo>
                <a:lnTo>
                  <a:pt x="5969888" y="370839"/>
                </a:lnTo>
                <a:lnTo>
                  <a:pt x="59698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240029">
              <a:lnSpc>
                <a:spcPct val="100000"/>
              </a:lnSpc>
              <a:spcBef>
                <a:spcPts val="315"/>
              </a:spcBef>
            </a:pPr>
            <a:r>
              <a:rPr lang="en-US" sz="1800" spc="-5" dirty="0">
                <a:latin typeface="Trebuchet MS"/>
                <a:cs typeface="Trebuchet MS"/>
              </a:rPr>
              <a:t>&lt;a</a:t>
            </a:r>
            <a:r>
              <a:rPr lang="en-US" sz="1800" spc="-30" dirty="0">
                <a:latin typeface="Trebuchet MS"/>
                <a:cs typeface="Trebuchet MS"/>
              </a:rPr>
              <a:t> </a:t>
            </a:r>
            <a:r>
              <a:rPr lang="en-US" sz="1800" spc="-5" dirty="0" err="1">
                <a:latin typeface="Trebuchet MS"/>
                <a:cs typeface="Trebuchet MS"/>
              </a:rPr>
              <a:t>href</a:t>
            </a:r>
            <a:r>
              <a:rPr lang="en-US" sz="1800" spc="-5" dirty="0">
                <a:latin typeface="Trebuchet MS"/>
                <a:cs typeface="Trebuchet MS"/>
              </a:rPr>
              <a:t>="../../index.html"&gt;Home&lt;/a&gt;</a:t>
            </a:r>
            <a:endParaRPr lang="en-US" sz="18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9495" y="2312352"/>
            <a:ext cx="204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5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11520" y="5963920"/>
            <a:ext cx="401320" cy="365760"/>
            <a:chOff x="5811520" y="5963920"/>
            <a:chExt cx="401320" cy="365760"/>
          </a:xfrm>
        </p:grpSpPr>
        <p:sp>
          <p:nvSpPr>
            <p:cNvPr id="12" name="object 12"/>
            <p:cNvSpPr/>
            <p:nvPr/>
          </p:nvSpPr>
          <p:spPr>
            <a:xfrm>
              <a:off x="5821680" y="5974080"/>
              <a:ext cx="381000" cy="345440"/>
            </a:xfrm>
            <a:custGeom>
              <a:avLst/>
              <a:gdLst/>
              <a:ahLst/>
              <a:cxnLst/>
              <a:rect l="l" t="t" r="r" b="b"/>
              <a:pathLst>
                <a:path w="381000" h="345439">
                  <a:moveTo>
                    <a:pt x="285750" y="0"/>
                  </a:moveTo>
                  <a:lnTo>
                    <a:pt x="95250" y="0"/>
                  </a:lnTo>
                  <a:lnTo>
                    <a:pt x="95250" y="172720"/>
                  </a:lnTo>
                  <a:lnTo>
                    <a:pt x="0" y="172720"/>
                  </a:lnTo>
                  <a:lnTo>
                    <a:pt x="190500" y="345440"/>
                  </a:lnTo>
                  <a:lnTo>
                    <a:pt x="381000" y="172720"/>
                  </a:lnTo>
                  <a:lnTo>
                    <a:pt x="285750" y="17272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2D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21680" y="5974080"/>
              <a:ext cx="381000" cy="345440"/>
            </a:xfrm>
            <a:custGeom>
              <a:avLst/>
              <a:gdLst/>
              <a:ahLst/>
              <a:cxnLst/>
              <a:rect l="l" t="t" r="r" b="b"/>
              <a:pathLst>
                <a:path w="381000" h="345439">
                  <a:moveTo>
                    <a:pt x="0" y="172720"/>
                  </a:moveTo>
                  <a:lnTo>
                    <a:pt x="95250" y="172720"/>
                  </a:lnTo>
                  <a:lnTo>
                    <a:pt x="95250" y="0"/>
                  </a:lnTo>
                  <a:lnTo>
                    <a:pt x="285750" y="0"/>
                  </a:lnTo>
                  <a:lnTo>
                    <a:pt x="285750" y="172720"/>
                  </a:lnTo>
                  <a:lnTo>
                    <a:pt x="381000" y="172720"/>
                  </a:lnTo>
                  <a:lnTo>
                    <a:pt x="190500" y="345440"/>
                  </a:lnTo>
                  <a:lnTo>
                    <a:pt x="0" y="172720"/>
                  </a:lnTo>
                  <a:close/>
                </a:path>
              </a:pathLst>
            </a:custGeom>
            <a:ln w="20320">
              <a:solidFill>
                <a:srgbClr val="1F5F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14696" y="6348412"/>
            <a:ext cx="17773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/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-&gt;Diretório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raiz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7787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</a:t>
            </a:r>
            <a:r>
              <a:rPr sz="3600" spc="-15" dirty="0"/>
              <a:t> </a:t>
            </a:r>
            <a:r>
              <a:rPr sz="3600" spc="-5" dirty="0"/>
              <a:t>de</a:t>
            </a:r>
            <a:r>
              <a:rPr sz="3600" spc="-40" dirty="0"/>
              <a:t> </a:t>
            </a:r>
            <a:r>
              <a:rPr sz="3600" spc="-10" dirty="0"/>
              <a:t>email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823148"/>
            <a:ext cx="112141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" dirty="0">
                <a:solidFill>
                  <a:srgbClr val="006FC0"/>
                </a:solidFill>
                <a:latin typeface="Trebuchet MS"/>
                <a:cs typeface="Trebuchet MS"/>
              </a:rPr>
              <a:t>mailto: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97300" y="2349500"/>
            <a:ext cx="4953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284" y="2349500"/>
            <a:ext cx="10407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5910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	v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or 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começa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seguido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2045" y="2349500"/>
            <a:ext cx="23996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  <a:tabLst>
                <a:tab pos="72072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do	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endParaRPr sz="2000" dirty="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tabLst>
                <a:tab pos="756285" algn="l"/>
                <a:tab pos="1844039" algn="l"/>
                <a:tab pos="2247900" algn="l"/>
              </a:tabLst>
            </a:pP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om	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ai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:	e	é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776605" algn="l"/>
                <a:tab pos="2108200" algn="l"/>
              </a:tabLst>
            </a:pP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eç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284" y="3264153"/>
            <a:ext cx="3536315" cy="2287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email</a:t>
            </a:r>
            <a:r>
              <a:rPr sz="20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20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000" spc="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deseja</a:t>
            </a:r>
            <a:endParaRPr sz="20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email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seja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enviado.</a:t>
            </a:r>
            <a:endParaRPr sz="20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Quando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clicado,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000" spc="6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programa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de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e-mail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do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usuário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abrirá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nova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mensagem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de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e-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mail e a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endereçará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à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pessoa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especificada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link.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59020" y="883919"/>
            <a:ext cx="6220714" cy="5843245"/>
            <a:chOff x="4859020" y="883919"/>
            <a:chExt cx="6220714" cy="58432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8260" y="2776194"/>
              <a:ext cx="5744210" cy="39509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3840" y="2971798"/>
              <a:ext cx="5548630" cy="37553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73520" y="4767579"/>
              <a:ext cx="2667000" cy="256540"/>
            </a:xfrm>
            <a:custGeom>
              <a:avLst/>
              <a:gdLst/>
              <a:ahLst/>
              <a:cxnLst/>
              <a:rect l="l" t="t" r="r" b="b"/>
              <a:pathLst>
                <a:path w="2667000" h="256539">
                  <a:moveTo>
                    <a:pt x="2624201" y="0"/>
                  </a:moveTo>
                  <a:lnTo>
                    <a:pt x="42799" y="0"/>
                  </a:lnTo>
                  <a:lnTo>
                    <a:pt x="26146" y="3365"/>
                  </a:lnTo>
                  <a:lnTo>
                    <a:pt x="12541" y="12541"/>
                  </a:lnTo>
                  <a:lnTo>
                    <a:pt x="3365" y="26146"/>
                  </a:lnTo>
                  <a:lnTo>
                    <a:pt x="0" y="42799"/>
                  </a:lnTo>
                  <a:lnTo>
                    <a:pt x="0" y="213741"/>
                  </a:lnTo>
                  <a:lnTo>
                    <a:pt x="3365" y="230393"/>
                  </a:lnTo>
                  <a:lnTo>
                    <a:pt x="12541" y="243998"/>
                  </a:lnTo>
                  <a:lnTo>
                    <a:pt x="26146" y="253174"/>
                  </a:lnTo>
                  <a:lnTo>
                    <a:pt x="42799" y="256540"/>
                  </a:lnTo>
                  <a:lnTo>
                    <a:pt x="2624201" y="256540"/>
                  </a:lnTo>
                  <a:lnTo>
                    <a:pt x="2640853" y="253174"/>
                  </a:lnTo>
                  <a:lnTo>
                    <a:pt x="2654458" y="243998"/>
                  </a:lnTo>
                  <a:lnTo>
                    <a:pt x="2663634" y="230393"/>
                  </a:lnTo>
                  <a:lnTo>
                    <a:pt x="2667000" y="213741"/>
                  </a:lnTo>
                  <a:lnTo>
                    <a:pt x="2667000" y="42799"/>
                  </a:lnTo>
                  <a:lnTo>
                    <a:pt x="2663634" y="26146"/>
                  </a:lnTo>
                  <a:lnTo>
                    <a:pt x="2654458" y="12541"/>
                  </a:lnTo>
                  <a:lnTo>
                    <a:pt x="2640853" y="3365"/>
                  </a:lnTo>
                  <a:lnTo>
                    <a:pt x="2624201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7035" y="4321302"/>
              <a:ext cx="573405" cy="239395"/>
            </a:xfrm>
            <a:custGeom>
              <a:avLst/>
              <a:gdLst/>
              <a:ahLst/>
              <a:cxnLst/>
              <a:rect l="l" t="t" r="r" b="b"/>
              <a:pathLst>
                <a:path w="573404" h="239395">
                  <a:moveTo>
                    <a:pt x="389889" y="0"/>
                  </a:moveTo>
                  <a:lnTo>
                    <a:pt x="432180" y="46100"/>
                  </a:lnTo>
                  <a:lnTo>
                    <a:pt x="379588" y="77552"/>
                  </a:lnTo>
                  <a:lnTo>
                    <a:pt x="326765" y="103265"/>
                  </a:lnTo>
                  <a:lnTo>
                    <a:pt x="274301" y="123142"/>
                  </a:lnTo>
                  <a:lnTo>
                    <a:pt x="222783" y="137090"/>
                  </a:lnTo>
                  <a:lnTo>
                    <a:pt x="172802" y="145013"/>
                  </a:lnTo>
                  <a:lnTo>
                    <a:pt x="124944" y="146816"/>
                  </a:lnTo>
                  <a:lnTo>
                    <a:pt x="79799" y="142404"/>
                  </a:lnTo>
                  <a:lnTo>
                    <a:pt x="37954" y="131681"/>
                  </a:lnTo>
                  <a:lnTo>
                    <a:pt x="0" y="114554"/>
                  </a:lnTo>
                  <a:lnTo>
                    <a:pt x="19132" y="148065"/>
                  </a:lnTo>
                  <a:lnTo>
                    <a:pt x="72197" y="199449"/>
                  </a:lnTo>
                  <a:lnTo>
                    <a:pt x="141998" y="229847"/>
                  </a:lnTo>
                  <a:lnTo>
                    <a:pt x="182050" y="237126"/>
                  </a:lnTo>
                  <a:lnTo>
                    <a:pt x="224938" y="239096"/>
                  </a:lnTo>
                  <a:lnTo>
                    <a:pt x="270212" y="235737"/>
                  </a:lnTo>
                  <a:lnTo>
                    <a:pt x="317422" y="227030"/>
                  </a:lnTo>
                  <a:lnTo>
                    <a:pt x="366118" y="212953"/>
                  </a:lnTo>
                  <a:lnTo>
                    <a:pt x="415853" y="193487"/>
                  </a:lnTo>
                  <a:lnTo>
                    <a:pt x="466175" y="168610"/>
                  </a:lnTo>
                  <a:lnTo>
                    <a:pt x="516636" y="138303"/>
                  </a:lnTo>
                  <a:lnTo>
                    <a:pt x="558800" y="184404"/>
                  </a:lnTo>
                  <a:lnTo>
                    <a:pt x="573277" y="15112"/>
                  </a:lnTo>
                  <a:lnTo>
                    <a:pt x="389889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81278" y="3827399"/>
              <a:ext cx="297815" cy="661670"/>
            </a:xfrm>
            <a:custGeom>
              <a:avLst/>
              <a:gdLst/>
              <a:ahLst/>
              <a:cxnLst/>
              <a:rect l="l" t="t" r="r" b="b"/>
              <a:pathLst>
                <a:path w="297814" h="661670">
                  <a:moveTo>
                    <a:pt x="213199" y="0"/>
                  </a:moveTo>
                  <a:lnTo>
                    <a:pt x="171608" y="40950"/>
                  </a:lnTo>
                  <a:lnTo>
                    <a:pt x="134217" y="83562"/>
                  </a:lnTo>
                  <a:lnTo>
                    <a:pt x="101144" y="127408"/>
                  </a:lnTo>
                  <a:lnTo>
                    <a:pt x="72508" y="172063"/>
                  </a:lnTo>
                  <a:lnTo>
                    <a:pt x="48426" y="217099"/>
                  </a:lnTo>
                  <a:lnTo>
                    <a:pt x="29016" y="262090"/>
                  </a:lnTo>
                  <a:lnTo>
                    <a:pt x="14396" y="306609"/>
                  </a:lnTo>
                  <a:lnTo>
                    <a:pt x="4685" y="350231"/>
                  </a:lnTo>
                  <a:lnTo>
                    <a:pt x="0" y="392528"/>
                  </a:lnTo>
                  <a:lnTo>
                    <a:pt x="459" y="433073"/>
                  </a:lnTo>
                  <a:lnTo>
                    <a:pt x="6180" y="471441"/>
                  </a:lnTo>
                  <a:lnTo>
                    <a:pt x="33883" y="539938"/>
                  </a:lnTo>
                  <a:lnTo>
                    <a:pt x="140555" y="661415"/>
                  </a:lnTo>
                  <a:lnTo>
                    <a:pt x="118338" y="632140"/>
                  </a:lnTo>
                  <a:lnTo>
                    <a:pt x="101737" y="599407"/>
                  </a:lnTo>
                  <a:lnTo>
                    <a:pt x="90635" y="563644"/>
                  </a:lnTo>
                  <a:lnTo>
                    <a:pt x="84914" y="525278"/>
                  </a:lnTo>
                  <a:lnTo>
                    <a:pt x="84455" y="484735"/>
                  </a:lnTo>
                  <a:lnTo>
                    <a:pt x="89140" y="442443"/>
                  </a:lnTo>
                  <a:lnTo>
                    <a:pt x="98851" y="398827"/>
                  </a:lnTo>
                  <a:lnTo>
                    <a:pt x="113471" y="354315"/>
                  </a:lnTo>
                  <a:lnTo>
                    <a:pt x="132881" y="309334"/>
                  </a:lnTo>
                  <a:lnTo>
                    <a:pt x="156963" y="264311"/>
                  </a:lnTo>
                  <a:lnTo>
                    <a:pt x="185599" y="219672"/>
                  </a:lnTo>
                  <a:lnTo>
                    <a:pt x="218672" y="175844"/>
                  </a:lnTo>
                  <a:lnTo>
                    <a:pt x="256063" y="133254"/>
                  </a:lnTo>
                  <a:lnTo>
                    <a:pt x="297654" y="92328"/>
                  </a:lnTo>
                  <a:lnTo>
                    <a:pt x="213199" y="0"/>
                  </a:lnTo>
                  <a:close/>
                </a:path>
              </a:pathLst>
            </a:custGeom>
            <a:solidFill>
              <a:srgbClr val="4BA2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81278" y="3827399"/>
              <a:ext cx="679450" cy="733425"/>
            </a:xfrm>
            <a:custGeom>
              <a:avLst/>
              <a:gdLst/>
              <a:ahLst/>
              <a:cxnLst/>
              <a:rect l="l" t="t" r="r" b="b"/>
              <a:pathLst>
                <a:path w="679450" h="733425">
                  <a:moveTo>
                    <a:pt x="105757" y="608457"/>
                  </a:moveTo>
                  <a:lnTo>
                    <a:pt x="143707" y="625584"/>
                  </a:lnTo>
                  <a:lnTo>
                    <a:pt x="185541" y="636307"/>
                  </a:lnTo>
                  <a:lnTo>
                    <a:pt x="230673" y="640719"/>
                  </a:lnTo>
                  <a:lnTo>
                    <a:pt x="278517" y="638916"/>
                  </a:lnTo>
                  <a:lnTo>
                    <a:pt x="328488" y="630993"/>
                  </a:lnTo>
                  <a:lnTo>
                    <a:pt x="380001" y="617045"/>
                  </a:lnTo>
                  <a:lnTo>
                    <a:pt x="432471" y="597168"/>
                  </a:lnTo>
                  <a:lnTo>
                    <a:pt x="485311" y="571455"/>
                  </a:lnTo>
                  <a:lnTo>
                    <a:pt x="537938" y="540003"/>
                  </a:lnTo>
                  <a:lnTo>
                    <a:pt x="495647" y="493902"/>
                  </a:lnTo>
                  <a:lnTo>
                    <a:pt x="679035" y="509015"/>
                  </a:lnTo>
                  <a:lnTo>
                    <a:pt x="664557" y="678307"/>
                  </a:lnTo>
                  <a:lnTo>
                    <a:pt x="622393" y="632206"/>
                  </a:lnTo>
                  <a:lnTo>
                    <a:pt x="571184" y="662916"/>
                  </a:lnTo>
                  <a:lnTo>
                    <a:pt x="519934" y="688111"/>
                  </a:lnTo>
                  <a:lnTo>
                    <a:pt x="469152" y="707757"/>
                  </a:lnTo>
                  <a:lnTo>
                    <a:pt x="419343" y="721823"/>
                  </a:lnTo>
                  <a:lnTo>
                    <a:pt x="371015" y="730279"/>
                  </a:lnTo>
                  <a:lnTo>
                    <a:pt x="324675" y="733092"/>
                  </a:lnTo>
                  <a:lnTo>
                    <a:pt x="280831" y="730231"/>
                  </a:lnTo>
                  <a:lnTo>
                    <a:pt x="239990" y="721664"/>
                  </a:lnTo>
                  <a:lnTo>
                    <a:pt x="202658" y="707360"/>
                  </a:lnTo>
                  <a:lnTo>
                    <a:pt x="169344" y="687288"/>
                  </a:lnTo>
                  <a:lnTo>
                    <a:pt x="140555" y="661415"/>
                  </a:lnTo>
                  <a:lnTo>
                    <a:pt x="56100" y="569213"/>
                  </a:lnTo>
                  <a:lnTo>
                    <a:pt x="17282" y="507205"/>
                  </a:lnTo>
                  <a:lnTo>
                    <a:pt x="459" y="433073"/>
                  </a:lnTo>
                  <a:lnTo>
                    <a:pt x="0" y="392528"/>
                  </a:lnTo>
                  <a:lnTo>
                    <a:pt x="4685" y="350231"/>
                  </a:lnTo>
                  <a:lnTo>
                    <a:pt x="14396" y="306609"/>
                  </a:lnTo>
                  <a:lnTo>
                    <a:pt x="29016" y="262090"/>
                  </a:lnTo>
                  <a:lnTo>
                    <a:pt x="48426" y="217099"/>
                  </a:lnTo>
                  <a:lnTo>
                    <a:pt x="72508" y="172063"/>
                  </a:lnTo>
                  <a:lnTo>
                    <a:pt x="101144" y="127408"/>
                  </a:lnTo>
                  <a:lnTo>
                    <a:pt x="134217" y="83562"/>
                  </a:lnTo>
                  <a:lnTo>
                    <a:pt x="171608" y="40950"/>
                  </a:lnTo>
                  <a:lnTo>
                    <a:pt x="213199" y="0"/>
                  </a:lnTo>
                  <a:lnTo>
                    <a:pt x="297654" y="92328"/>
                  </a:lnTo>
                  <a:lnTo>
                    <a:pt x="256063" y="133254"/>
                  </a:lnTo>
                  <a:lnTo>
                    <a:pt x="218672" y="175844"/>
                  </a:lnTo>
                  <a:lnTo>
                    <a:pt x="185599" y="219672"/>
                  </a:lnTo>
                  <a:lnTo>
                    <a:pt x="156963" y="264311"/>
                  </a:lnTo>
                  <a:lnTo>
                    <a:pt x="132881" y="309334"/>
                  </a:lnTo>
                  <a:lnTo>
                    <a:pt x="113471" y="354315"/>
                  </a:lnTo>
                  <a:lnTo>
                    <a:pt x="98851" y="398827"/>
                  </a:lnTo>
                  <a:lnTo>
                    <a:pt x="89140" y="442443"/>
                  </a:lnTo>
                  <a:lnTo>
                    <a:pt x="84455" y="484735"/>
                  </a:lnTo>
                  <a:lnTo>
                    <a:pt x="84914" y="525278"/>
                  </a:lnTo>
                  <a:lnTo>
                    <a:pt x="90635" y="563644"/>
                  </a:lnTo>
                  <a:lnTo>
                    <a:pt x="101737" y="599407"/>
                  </a:lnTo>
                  <a:lnTo>
                    <a:pt x="118338" y="632140"/>
                  </a:lnTo>
                  <a:lnTo>
                    <a:pt x="140555" y="661415"/>
                  </a:lnTo>
                </a:path>
              </a:pathLst>
            </a:custGeom>
            <a:ln w="19050">
              <a:solidFill>
                <a:srgbClr val="4494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9020" y="883919"/>
              <a:ext cx="6220714" cy="20652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9180" y="894079"/>
              <a:ext cx="4831333" cy="207035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876800" y="381000"/>
            <a:ext cx="6116320" cy="251222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953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390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6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6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600" dirty="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Email</a:t>
            </a:r>
            <a:r>
              <a:rPr sz="16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Links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spc="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  <a:hlinkClick r:id="rId6"/>
              </a:rPr>
              <a:t>"mailto:jon@example.org"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Email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Jon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0287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2125-5B31-CEC6-D01E-6F757155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F57748-B928-0E4E-C2E9-D2385854A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66757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</a:t>
            </a:r>
            <a:r>
              <a:rPr sz="3600" spc="5" dirty="0"/>
              <a:t> </a:t>
            </a:r>
            <a:r>
              <a:rPr sz="3600" spc="-5" dirty="0"/>
              <a:t>para</a:t>
            </a:r>
            <a:r>
              <a:rPr sz="3600" spc="-25" dirty="0"/>
              <a:t> </a:t>
            </a:r>
            <a:r>
              <a:rPr sz="3600" spc="-5" dirty="0"/>
              <a:t>páginas</a:t>
            </a:r>
            <a:r>
              <a:rPr sz="3600" spc="-15" dirty="0"/>
              <a:t> </a:t>
            </a:r>
            <a:r>
              <a:rPr sz="3600" spc="-5" dirty="0"/>
              <a:t>no</a:t>
            </a:r>
            <a:r>
              <a:rPr sz="3600" spc="-10" dirty="0"/>
              <a:t> mesmo</a:t>
            </a:r>
            <a:r>
              <a:rPr sz="3600" spc="25" dirty="0"/>
              <a:t> </a:t>
            </a:r>
            <a:r>
              <a:rPr sz="3600" spc="-5" dirty="0"/>
              <a:t>site</a:t>
            </a:r>
            <a:endParaRPr sz="36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EED2F85-E407-F806-2982-AE5FD240B63F}"/>
              </a:ext>
            </a:extLst>
          </p:cNvPr>
          <p:cNvSpPr txBox="1"/>
          <p:nvPr/>
        </p:nvSpPr>
        <p:spPr>
          <a:xfrm>
            <a:off x="1495206" y="4391278"/>
            <a:ext cx="4860501" cy="235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4935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CAC97F-1341-6F5E-D79E-56BD0C440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1249234"/>
            <a:ext cx="10287000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 atributo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 onde o link será aberto quando clicado.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Valores comuns do atributo target: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_self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abre o link na mesma aba ou janela (padrão).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_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blank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abre o link em uma nova aba ou janela.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_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parent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abre o link no frame pai (usado quando há frames).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800" u="sng" dirty="0"/>
          </a:p>
          <a:p>
            <a:r>
              <a:rPr lang="pt-BR" sz="2400" dirty="0"/>
              <a:t>&lt;a </a:t>
            </a:r>
            <a:r>
              <a:rPr lang="pt-BR" sz="2400" dirty="0" err="1"/>
              <a:t>href</a:t>
            </a:r>
            <a:r>
              <a:rPr lang="pt-BR" sz="2400" dirty="0"/>
              <a:t>="https://www.exemplo.com" target="_</a:t>
            </a:r>
            <a:r>
              <a:rPr lang="pt-BR" sz="2400" dirty="0" err="1"/>
              <a:t>blank</a:t>
            </a:r>
            <a:r>
              <a:rPr lang="pt-BR" sz="2400" dirty="0"/>
              <a:t>"&gt;Abrir em nova aba&lt;/a&gt;</a:t>
            </a:r>
          </a:p>
          <a:p>
            <a:br>
              <a:rPr lang="pt-BR" dirty="0"/>
            </a:br>
            <a:endParaRPr lang="pt-B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970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95400"/>
            <a:ext cx="12192000" cy="3570541"/>
            <a:chOff x="175260" y="1330959"/>
            <a:chExt cx="11841480" cy="3340678"/>
          </a:xfrm>
        </p:grpSpPr>
        <p:sp>
          <p:nvSpPr>
            <p:cNvPr id="3" name="object 3"/>
            <p:cNvSpPr/>
            <p:nvPr/>
          </p:nvSpPr>
          <p:spPr>
            <a:xfrm>
              <a:off x="175260" y="1330959"/>
              <a:ext cx="11841480" cy="3340678"/>
            </a:xfrm>
            <a:custGeom>
              <a:avLst/>
              <a:gdLst/>
              <a:ahLst/>
              <a:cxnLst/>
              <a:rect l="l" t="t" r="r" b="b"/>
              <a:pathLst>
                <a:path w="11841480" h="2677160">
                  <a:moveTo>
                    <a:pt x="11841480" y="0"/>
                  </a:moveTo>
                  <a:lnTo>
                    <a:pt x="0" y="0"/>
                  </a:lnTo>
                  <a:lnTo>
                    <a:pt x="0" y="2677160"/>
                  </a:lnTo>
                  <a:lnTo>
                    <a:pt x="11841480" y="2677160"/>
                  </a:lnTo>
                  <a:lnTo>
                    <a:pt x="11841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175260" y="1330960"/>
              <a:ext cx="11841480" cy="2677160"/>
            </a:xfrm>
            <a:custGeom>
              <a:avLst/>
              <a:gdLst/>
              <a:ahLst/>
              <a:cxnLst/>
              <a:rect l="l" t="t" r="r" b="b"/>
              <a:pathLst>
                <a:path w="11841480" h="2677160">
                  <a:moveTo>
                    <a:pt x="0" y="2677160"/>
                  </a:moveTo>
                  <a:lnTo>
                    <a:pt x="11841480" y="2677160"/>
                  </a:lnTo>
                  <a:lnTo>
                    <a:pt x="11841480" y="0"/>
                  </a:lnTo>
                  <a:lnTo>
                    <a:pt x="0" y="0"/>
                  </a:lnTo>
                  <a:lnTo>
                    <a:pt x="0" y="267716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63969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Abrir</a:t>
            </a:r>
            <a:r>
              <a:rPr sz="3600" spc="-10" dirty="0"/>
              <a:t> </a:t>
            </a:r>
            <a:r>
              <a:rPr sz="3600" dirty="0"/>
              <a:t>links</a:t>
            </a:r>
            <a:r>
              <a:rPr sz="3600" spc="-10" dirty="0"/>
              <a:t> </a:t>
            </a:r>
            <a:r>
              <a:rPr sz="3600" spc="-5" dirty="0"/>
              <a:t>em</a:t>
            </a:r>
            <a:r>
              <a:rPr sz="3600" spc="-15" dirty="0"/>
              <a:t> </a:t>
            </a:r>
            <a:r>
              <a:rPr sz="3600" spc="-10" dirty="0"/>
              <a:t>uma</a:t>
            </a:r>
            <a:r>
              <a:rPr sz="3600" spc="5" dirty="0"/>
              <a:t> </a:t>
            </a:r>
            <a:r>
              <a:rPr sz="3600" spc="-5" dirty="0"/>
              <a:t>nova</a:t>
            </a:r>
            <a:r>
              <a:rPr sz="3600" spc="-15" dirty="0"/>
              <a:t> </a:t>
            </a:r>
            <a:r>
              <a:rPr sz="3600" dirty="0"/>
              <a:t>janela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0" y="1371600"/>
            <a:ext cx="12344400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600" spc="-4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600" spc="-5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spc="5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spc="5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600" spc="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6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Abrir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links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em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uma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nova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janela</a:t>
            </a:r>
            <a:r>
              <a:rPr sz="16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5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193800">
              <a:lnSpc>
                <a:spcPct val="100000"/>
              </a:lnSpc>
            </a:pPr>
            <a:r>
              <a:rPr sz="16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spc="5" dirty="0">
                <a:solidFill>
                  <a:srgbClr val="559CD5"/>
                </a:solidFill>
                <a:latin typeface="Consolas"/>
                <a:cs typeface="Consolas"/>
              </a:rPr>
              <a:t>a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  <a:hlinkClick r:id="rId2"/>
              </a:rPr>
              <a:t>http://www.imdb.com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</a:t>
            </a:r>
            <a:r>
              <a:rPr sz="1600" spc="5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target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"_blank"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Internet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Movie</a:t>
            </a:r>
            <a:r>
              <a:rPr sz="1600" spc="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Database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spc="2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(abre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em</a:t>
            </a:r>
            <a:r>
              <a:rPr sz="16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uma</a:t>
            </a:r>
            <a:r>
              <a:rPr sz="16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nova</a:t>
            </a:r>
            <a:r>
              <a:rPr sz="16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janela)</a:t>
            </a:r>
            <a:endParaRPr sz="16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962400" y="3413760"/>
            <a:ext cx="4941570" cy="3449320"/>
            <a:chOff x="4254500" y="3408705"/>
            <a:chExt cx="4941570" cy="344932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4500" y="3408705"/>
              <a:ext cx="4941570" cy="34492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0079" y="3604259"/>
              <a:ext cx="4363720" cy="32537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37911" y="4800473"/>
              <a:ext cx="589280" cy="252095"/>
            </a:xfrm>
            <a:custGeom>
              <a:avLst/>
              <a:gdLst/>
              <a:ahLst/>
              <a:cxnLst/>
              <a:rect l="l" t="t" r="r" b="b"/>
              <a:pathLst>
                <a:path w="589279" h="252095">
                  <a:moveTo>
                    <a:pt x="406146" y="0"/>
                  </a:moveTo>
                  <a:lnTo>
                    <a:pt x="438785" y="57276"/>
                  </a:lnTo>
                  <a:lnTo>
                    <a:pt x="375866" y="83410"/>
                  </a:lnTo>
                  <a:lnTo>
                    <a:pt x="315537" y="104481"/>
                  </a:lnTo>
                  <a:lnTo>
                    <a:pt x="258412" y="120448"/>
                  </a:lnTo>
                  <a:lnTo>
                    <a:pt x="205109" y="131270"/>
                  </a:lnTo>
                  <a:lnTo>
                    <a:pt x="156241" y="136905"/>
                  </a:lnTo>
                  <a:lnTo>
                    <a:pt x="112426" y="137314"/>
                  </a:lnTo>
                  <a:lnTo>
                    <a:pt x="74278" y="132454"/>
                  </a:lnTo>
                  <a:lnTo>
                    <a:pt x="42414" y="122284"/>
                  </a:lnTo>
                  <a:lnTo>
                    <a:pt x="17450" y="106764"/>
                  </a:lnTo>
                  <a:lnTo>
                    <a:pt x="0" y="85851"/>
                  </a:lnTo>
                  <a:lnTo>
                    <a:pt x="65277" y="200278"/>
                  </a:lnTo>
                  <a:lnTo>
                    <a:pt x="82727" y="221194"/>
                  </a:lnTo>
                  <a:lnTo>
                    <a:pt x="107691" y="236723"/>
                  </a:lnTo>
                  <a:lnTo>
                    <a:pt x="139553" y="246905"/>
                  </a:lnTo>
                  <a:lnTo>
                    <a:pt x="177696" y="251778"/>
                  </a:lnTo>
                  <a:lnTo>
                    <a:pt x="221503" y="251380"/>
                  </a:lnTo>
                  <a:lnTo>
                    <a:pt x="270359" y="245752"/>
                  </a:lnTo>
                  <a:lnTo>
                    <a:pt x="323647" y="234931"/>
                  </a:lnTo>
                  <a:lnTo>
                    <a:pt x="380750" y="218957"/>
                  </a:lnTo>
                  <a:lnTo>
                    <a:pt x="441051" y="197868"/>
                  </a:lnTo>
                  <a:lnTo>
                    <a:pt x="503936" y="171703"/>
                  </a:lnTo>
                  <a:lnTo>
                    <a:pt x="536575" y="228981"/>
                  </a:lnTo>
                  <a:lnTo>
                    <a:pt x="588899" y="54737"/>
                  </a:lnTo>
                  <a:lnTo>
                    <a:pt x="406146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7483" y="4452493"/>
              <a:ext cx="435609" cy="476250"/>
            </a:xfrm>
            <a:custGeom>
              <a:avLst/>
              <a:gdLst/>
              <a:ahLst/>
              <a:cxnLst/>
              <a:rect l="l" t="t" r="r" b="b"/>
              <a:pathLst>
                <a:path w="435610" h="476250">
                  <a:moveTo>
                    <a:pt x="369711" y="0"/>
                  </a:moveTo>
                  <a:lnTo>
                    <a:pt x="331406" y="22649"/>
                  </a:lnTo>
                  <a:lnTo>
                    <a:pt x="294161" y="46323"/>
                  </a:lnTo>
                  <a:lnTo>
                    <a:pt x="258179" y="70901"/>
                  </a:lnTo>
                  <a:lnTo>
                    <a:pt x="223661" y="96265"/>
                  </a:lnTo>
                  <a:lnTo>
                    <a:pt x="171695" y="138153"/>
                  </a:lnTo>
                  <a:lnTo>
                    <a:pt x="126222" y="179693"/>
                  </a:lnTo>
                  <a:lnTo>
                    <a:pt x="87423" y="220432"/>
                  </a:lnTo>
                  <a:lnTo>
                    <a:pt x="55484" y="259917"/>
                  </a:lnTo>
                  <a:lnTo>
                    <a:pt x="30589" y="297694"/>
                  </a:lnTo>
                  <a:lnTo>
                    <a:pt x="12920" y="333311"/>
                  </a:lnTo>
                  <a:lnTo>
                    <a:pt x="0" y="396249"/>
                  </a:lnTo>
                  <a:lnTo>
                    <a:pt x="5115" y="422663"/>
                  </a:lnTo>
                  <a:lnTo>
                    <a:pt x="18194" y="445104"/>
                  </a:lnTo>
                  <a:lnTo>
                    <a:pt x="39419" y="463117"/>
                  </a:lnTo>
                  <a:lnTo>
                    <a:pt x="68975" y="476249"/>
                  </a:lnTo>
                  <a:lnTo>
                    <a:pt x="78730" y="446448"/>
                  </a:lnTo>
                  <a:lnTo>
                    <a:pt x="94196" y="415037"/>
                  </a:lnTo>
                  <a:lnTo>
                    <a:pt x="115036" y="382347"/>
                  </a:lnTo>
                  <a:lnTo>
                    <a:pt x="140916" y="348709"/>
                  </a:lnTo>
                  <a:lnTo>
                    <a:pt x="171499" y="314452"/>
                  </a:lnTo>
                  <a:lnTo>
                    <a:pt x="206451" y="279908"/>
                  </a:lnTo>
                  <a:lnTo>
                    <a:pt x="245435" y="245405"/>
                  </a:lnTo>
                  <a:lnTo>
                    <a:pt x="288116" y="211276"/>
                  </a:lnTo>
                  <a:lnTo>
                    <a:pt x="334159" y="177849"/>
                  </a:lnTo>
                  <a:lnTo>
                    <a:pt x="383229" y="145456"/>
                  </a:lnTo>
                  <a:lnTo>
                    <a:pt x="434989" y="114426"/>
                  </a:lnTo>
                  <a:lnTo>
                    <a:pt x="369711" y="0"/>
                  </a:lnTo>
                  <a:close/>
                </a:path>
              </a:pathLst>
            </a:custGeom>
            <a:solidFill>
              <a:srgbClr val="4BA2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27652" y="4452493"/>
              <a:ext cx="599440" cy="600075"/>
            </a:xfrm>
            <a:custGeom>
              <a:avLst/>
              <a:gdLst/>
              <a:ahLst/>
              <a:cxnLst/>
              <a:rect l="l" t="t" r="r" b="b"/>
              <a:pathLst>
                <a:path w="599439" h="600075">
                  <a:moveTo>
                    <a:pt x="10259" y="433831"/>
                  </a:moveTo>
                  <a:lnTo>
                    <a:pt x="27709" y="454744"/>
                  </a:lnTo>
                  <a:lnTo>
                    <a:pt x="52674" y="470264"/>
                  </a:lnTo>
                  <a:lnTo>
                    <a:pt x="84538" y="480434"/>
                  </a:lnTo>
                  <a:lnTo>
                    <a:pt x="122685" y="485294"/>
                  </a:lnTo>
                  <a:lnTo>
                    <a:pt x="166501" y="484885"/>
                  </a:lnTo>
                  <a:lnTo>
                    <a:pt x="215368" y="479250"/>
                  </a:lnTo>
                  <a:lnTo>
                    <a:pt x="268672" y="468428"/>
                  </a:lnTo>
                  <a:lnTo>
                    <a:pt x="325796" y="452461"/>
                  </a:lnTo>
                  <a:lnTo>
                    <a:pt x="386125" y="431390"/>
                  </a:lnTo>
                  <a:lnTo>
                    <a:pt x="449044" y="405256"/>
                  </a:lnTo>
                  <a:lnTo>
                    <a:pt x="416405" y="347979"/>
                  </a:lnTo>
                  <a:lnTo>
                    <a:pt x="599158" y="402716"/>
                  </a:lnTo>
                  <a:lnTo>
                    <a:pt x="546834" y="576960"/>
                  </a:lnTo>
                  <a:lnTo>
                    <a:pt x="514195" y="519683"/>
                  </a:lnTo>
                  <a:lnTo>
                    <a:pt x="451311" y="545848"/>
                  </a:lnTo>
                  <a:lnTo>
                    <a:pt x="391009" y="566937"/>
                  </a:lnTo>
                  <a:lnTo>
                    <a:pt x="333906" y="582911"/>
                  </a:lnTo>
                  <a:lnTo>
                    <a:pt x="280619" y="593732"/>
                  </a:lnTo>
                  <a:lnTo>
                    <a:pt x="231763" y="599360"/>
                  </a:lnTo>
                  <a:lnTo>
                    <a:pt x="187955" y="599758"/>
                  </a:lnTo>
                  <a:lnTo>
                    <a:pt x="149812" y="594885"/>
                  </a:lnTo>
                  <a:lnTo>
                    <a:pt x="92987" y="569174"/>
                  </a:lnTo>
                  <a:lnTo>
                    <a:pt x="10259" y="433831"/>
                  </a:lnTo>
                  <a:lnTo>
                    <a:pt x="0" y="383329"/>
                  </a:lnTo>
                  <a:lnTo>
                    <a:pt x="5487" y="353828"/>
                  </a:lnTo>
                  <a:lnTo>
                    <a:pt x="36014" y="288359"/>
                  </a:lnTo>
                  <a:lnTo>
                    <a:pt x="60382" y="253206"/>
                  </a:lnTo>
                  <a:lnTo>
                    <a:pt x="90372" y="216984"/>
                  </a:lnTo>
                  <a:lnTo>
                    <a:pt x="125647" y="180100"/>
                  </a:lnTo>
                  <a:lnTo>
                    <a:pt x="165872" y="142961"/>
                  </a:lnTo>
                  <a:lnTo>
                    <a:pt x="210710" y="105974"/>
                  </a:lnTo>
                  <a:lnTo>
                    <a:pt x="259825" y="69547"/>
                  </a:lnTo>
                  <a:lnTo>
                    <a:pt x="312881" y="34086"/>
                  </a:lnTo>
                  <a:lnTo>
                    <a:pt x="369542" y="0"/>
                  </a:lnTo>
                  <a:lnTo>
                    <a:pt x="434820" y="114426"/>
                  </a:lnTo>
                  <a:lnTo>
                    <a:pt x="383060" y="145456"/>
                  </a:lnTo>
                  <a:lnTo>
                    <a:pt x="333991" y="177849"/>
                  </a:lnTo>
                  <a:lnTo>
                    <a:pt x="287947" y="211276"/>
                  </a:lnTo>
                  <a:lnTo>
                    <a:pt x="245266" y="245405"/>
                  </a:lnTo>
                  <a:lnTo>
                    <a:pt x="206282" y="279908"/>
                  </a:lnTo>
                  <a:lnTo>
                    <a:pt x="171331" y="314452"/>
                  </a:lnTo>
                  <a:lnTo>
                    <a:pt x="140747" y="348709"/>
                  </a:lnTo>
                  <a:lnTo>
                    <a:pt x="114868" y="382347"/>
                  </a:lnTo>
                  <a:lnTo>
                    <a:pt x="94027" y="415037"/>
                  </a:lnTo>
                  <a:lnTo>
                    <a:pt x="78562" y="446448"/>
                  </a:lnTo>
                  <a:lnTo>
                    <a:pt x="68806" y="476249"/>
                  </a:lnTo>
                </a:path>
              </a:pathLst>
            </a:custGeom>
            <a:ln w="19050">
              <a:solidFill>
                <a:srgbClr val="4494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74656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Link</a:t>
            </a:r>
            <a:r>
              <a:rPr sz="3600" spc="15" dirty="0"/>
              <a:t> </a:t>
            </a:r>
            <a:r>
              <a:rPr sz="3600" spc="-5" dirty="0"/>
              <a:t>para</a:t>
            </a:r>
            <a:r>
              <a:rPr sz="3600" spc="-15" dirty="0"/>
              <a:t> </a:t>
            </a:r>
            <a:r>
              <a:rPr sz="3600" spc="-5" dirty="0"/>
              <a:t>parte</a:t>
            </a:r>
            <a:r>
              <a:rPr sz="3600" spc="-20" dirty="0"/>
              <a:t> </a:t>
            </a:r>
            <a:r>
              <a:rPr sz="3600" spc="-10" dirty="0"/>
              <a:t>específica</a:t>
            </a:r>
            <a:r>
              <a:rPr sz="3600" spc="20" dirty="0"/>
              <a:t> </a:t>
            </a:r>
            <a:r>
              <a:rPr sz="3600" spc="-5" dirty="0"/>
              <a:t>da</a:t>
            </a:r>
            <a:r>
              <a:rPr sz="3600" spc="-20" dirty="0"/>
              <a:t> </a:t>
            </a:r>
            <a:r>
              <a:rPr sz="3600" spc="-10" dirty="0"/>
              <a:t>página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755203"/>
            <a:ext cx="8740140" cy="4347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0"/>
              </a:spcBef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60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vincular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parte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específica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página,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precisa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identificar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os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pontos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na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página para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os quais o link irá.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Você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faz isso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usando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o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atributo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id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(que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pode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ser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usado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todos os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elementos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HTML). </a:t>
            </a:r>
            <a:r>
              <a:rPr sz="2000" spc="-5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Você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pode ver que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elementos &lt;h1&gt;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&lt;h2&gt;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neste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exemplo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receberam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atributos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id que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identificam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essas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seções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20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5"/>
              </a:spcBef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60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atributo href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conterá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endereço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da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página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(uma URL absoluta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ou uma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URL relativa), seguido pelo símbolo #, seguido pelo valor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do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atributo 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id 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ao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está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Trebuchet MS"/>
                <a:cs typeface="Trebuchet MS"/>
              </a:rPr>
              <a:t>vinculando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lang="en-US" sz="2000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355600" marR="5080" indent="-342900" algn="just">
              <a:spcBef>
                <a:spcPts val="1005"/>
              </a:spcBef>
            </a:pPr>
            <a:r>
              <a:rPr lang="pt-BR" sz="2000" dirty="0">
                <a:solidFill>
                  <a:srgbClr val="808080"/>
                </a:solidFill>
                <a:latin typeface="Consolas"/>
                <a:cs typeface="Consolas"/>
              </a:rPr>
              <a:t>Exemplo:</a:t>
            </a:r>
          </a:p>
          <a:p>
            <a:pPr marL="355600" marR="5080" indent="-342900" algn="just">
              <a:spcBef>
                <a:spcPts val="1005"/>
              </a:spcBef>
            </a:pPr>
            <a:r>
              <a:rPr lang="pt-BR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&lt;</a:t>
            </a:r>
            <a:r>
              <a:rPr lang="pt-BR" sz="2000" dirty="0">
                <a:solidFill>
                  <a:srgbClr val="559CD5"/>
                </a:solidFill>
                <a:highlight>
                  <a:srgbClr val="000000"/>
                </a:highlight>
                <a:latin typeface="Consolas"/>
                <a:cs typeface="Consolas"/>
              </a:rPr>
              <a:t>h1</a:t>
            </a:r>
            <a:r>
              <a:rPr lang="pt-BR" sz="2000" spc="5" dirty="0">
                <a:solidFill>
                  <a:srgbClr val="559CD5"/>
                </a:solidFill>
                <a:highlight>
                  <a:srgbClr val="000000"/>
                </a:highlight>
                <a:latin typeface="Consolas"/>
                <a:cs typeface="Consolas"/>
              </a:rPr>
              <a:t> </a:t>
            </a:r>
            <a:r>
              <a:rPr lang="pt-BR" sz="2000" dirty="0">
                <a:solidFill>
                  <a:srgbClr val="9CDCFD"/>
                </a:solidFill>
                <a:highlight>
                  <a:srgbClr val="000000"/>
                </a:highlight>
                <a:latin typeface="Consolas"/>
                <a:cs typeface="Consolas"/>
              </a:rPr>
              <a:t>id</a:t>
            </a:r>
            <a:r>
              <a:rPr lang="pt-BR" sz="2000" dirty="0">
                <a:solidFill>
                  <a:srgbClr val="D3D3D3"/>
                </a:solidFill>
                <a:highlight>
                  <a:srgbClr val="000000"/>
                </a:highlight>
                <a:latin typeface="Consolas"/>
                <a:cs typeface="Consolas"/>
              </a:rPr>
              <a:t>=</a:t>
            </a:r>
            <a:r>
              <a:rPr lang="pt-BR" sz="2000" dirty="0">
                <a:solidFill>
                  <a:srgbClr val="CE9178"/>
                </a:solidFill>
                <a:highlight>
                  <a:srgbClr val="000000"/>
                </a:highlight>
                <a:latin typeface="Consolas"/>
                <a:cs typeface="Consolas"/>
              </a:rPr>
              <a:t>"top"</a:t>
            </a:r>
            <a:r>
              <a:rPr lang="pt-BR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&gt;</a:t>
            </a:r>
            <a:r>
              <a:rPr lang="pt-BR" sz="2000" dirty="0">
                <a:solidFill>
                  <a:schemeClr val="bg1"/>
                </a:solidFill>
                <a:highlight>
                  <a:srgbClr val="000000"/>
                </a:highlight>
                <a:latin typeface="Consolas"/>
                <a:cs typeface="Consolas"/>
              </a:rPr>
              <a:t>Termos</a:t>
            </a:r>
            <a:r>
              <a:rPr lang="pt-BR" sz="2000" spc="5" dirty="0">
                <a:solidFill>
                  <a:schemeClr val="bg1"/>
                </a:solidFill>
                <a:highlight>
                  <a:srgbClr val="000000"/>
                </a:highlight>
                <a:latin typeface="Consolas"/>
                <a:cs typeface="Consolas"/>
              </a:rPr>
              <a:t> </a:t>
            </a:r>
            <a:r>
              <a:rPr lang="pt-BR" sz="2000" dirty="0">
                <a:solidFill>
                  <a:schemeClr val="bg1"/>
                </a:solidFill>
                <a:highlight>
                  <a:srgbClr val="000000"/>
                </a:highlight>
                <a:latin typeface="Consolas"/>
                <a:cs typeface="Consolas"/>
              </a:rPr>
              <a:t>de produção</a:t>
            </a:r>
            <a:r>
              <a:rPr lang="pt-BR" sz="2000" spc="-10" dirty="0">
                <a:solidFill>
                  <a:schemeClr val="bg1"/>
                </a:solidFill>
                <a:highlight>
                  <a:srgbClr val="000000"/>
                </a:highlight>
                <a:latin typeface="Consolas"/>
                <a:cs typeface="Consolas"/>
              </a:rPr>
              <a:t> </a:t>
            </a:r>
            <a:r>
              <a:rPr lang="pt-BR" sz="2000" spc="5" dirty="0">
                <a:solidFill>
                  <a:schemeClr val="bg1"/>
                </a:solidFill>
                <a:highlight>
                  <a:srgbClr val="000000"/>
                </a:highlight>
                <a:latin typeface="Consolas"/>
                <a:cs typeface="Consolas"/>
              </a:rPr>
              <a:t>de</a:t>
            </a:r>
            <a:r>
              <a:rPr lang="pt-BR" sz="2000" spc="-10" dirty="0">
                <a:solidFill>
                  <a:schemeClr val="bg1"/>
                </a:solidFill>
                <a:highlight>
                  <a:srgbClr val="000000"/>
                </a:highlight>
                <a:latin typeface="Consolas"/>
                <a:cs typeface="Consolas"/>
              </a:rPr>
              <a:t> </a:t>
            </a:r>
            <a:r>
              <a:rPr lang="pt-BR" sz="2000" dirty="0">
                <a:solidFill>
                  <a:schemeClr val="bg1"/>
                </a:solidFill>
                <a:highlight>
                  <a:srgbClr val="000000"/>
                </a:highlight>
                <a:latin typeface="Consolas"/>
                <a:cs typeface="Consolas"/>
              </a:rPr>
              <a:t>filmes</a:t>
            </a:r>
            <a:r>
              <a:rPr lang="pt-BR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&lt;/</a:t>
            </a:r>
            <a:r>
              <a:rPr lang="pt-BR" sz="2000" dirty="0">
                <a:solidFill>
                  <a:srgbClr val="559CD5"/>
                </a:solidFill>
                <a:highlight>
                  <a:srgbClr val="000000"/>
                </a:highlight>
                <a:latin typeface="Consolas"/>
                <a:cs typeface="Consolas"/>
              </a:rPr>
              <a:t>h1</a:t>
            </a:r>
            <a:r>
              <a:rPr lang="pt-BR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&gt;</a:t>
            </a:r>
            <a:endParaRPr lang="pt-BR" sz="2000" dirty="0">
              <a:solidFill>
                <a:srgbClr val="404040"/>
              </a:solidFill>
              <a:highlight>
                <a:srgbClr val="000000"/>
              </a:highlight>
              <a:latin typeface="Trebuchet MS"/>
              <a:cs typeface="Trebuchet MS"/>
            </a:endParaRPr>
          </a:p>
          <a:p>
            <a:pPr marL="355600" marR="5080" indent="-342900" algn="just">
              <a:spcBef>
                <a:spcPts val="1005"/>
              </a:spcBef>
            </a:pPr>
            <a:r>
              <a:rPr lang="en-US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&lt;</a:t>
            </a:r>
            <a:r>
              <a:rPr lang="en-US" sz="2000" dirty="0">
                <a:solidFill>
                  <a:srgbClr val="559CD5"/>
                </a:solidFill>
                <a:highlight>
                  <a:srgbClr val="000000"/>
                </a:highlight>
                <a:latin typeface="Consolas"/>
                <a:cs typeface="Consolas"/>
              </a:rPr>
              <a:t>p</a:t>
            </a:r>
            <a:r>
              <a:rPr lang="en-US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&gt;&lt;</a:t>
            </a:r>
            <a:r>
              <a:rPr lang="en-US" sz="2000" dirty="0">
                <a:solidFill>
                  <a:srgbClr val="559CD5"/>
                </a:solidFill>
                <a:highlight>
                  <a:srgbClr val="000000"/>
                </a:highlight>
                <a:latin typeface="Consolas"/>
                <a:cs typeface="Consolas"/>
              </a:rPr>
              <a:t>a</a:t>
            </a:r>
            <a:r>
              <a:rPr lang="en-US" sz="2000" spc="-20" dirty="0">
                <a:solidFill>
                  <a:srgbClr val="559CD5"/>
                </a:solidFill>
                <a:highlight>
                  <a:srgbClr val="000000"/>
                </a:highlight>
                <a:latin typeface="Consolas"/>
                <a:cs typeface="Consolas"/>
              </a:rPr>
              <a:t> </a:t>
            </a:r>
            <a:r>
              <a:rPr lang="en-US" sz="2000" dirty="0" err="1">
                <a:solidFill>
                  <a:srgbClr val="9CDCFD"/>
                </a:solidFill>
                <a:highlight>
                  <a:srgbClr val="000000"/>
                </a:highlight>
                <a:latin typeface="Consolas"/>
                <a:cs typeface="Consolas"/>
              </a:rPr>
              <a:t>href</a:t>
            </a:r>
            <a:r>
              <a:rPr lang="en-US" sz="2000" dirty="0">
                <a:solidFill>
                  <a:srgbClr val="D3D3D3"/>
                </a:solidFill>
                <a:highlight>
                  <a:srgbClr val="000000"/>
                </a:highlight>
                <a:latin typeface="Consolas"/>
                <a:cs typeface="Consolas"/>
              </a:rPr>
              <a:t>=</a:t>
            </a:r>
            <a:r>
              <a:rPr lang="en-US" sz="2000" dirty="0">
                <a:solidFill>
                  <a:srgbClr val="CE9178"/>
                </a:solidFill>
                <a:highlight>
                  <a:srgbClr val="000000"/>
                </a:highlight>
                <a:latin typeface="Consolas"/>
                <a:cs typeface="Consolas"/>
              </a:rPr>
              <a:t>"#top"</a:t>
            </a:r>
            <a:r>
              <a:rPr lang="en-US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&gt;</a:t>
            </a:r>
            <a: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Consolas"/>
                <a:cs typeface="Consolas"/>
              </a:rPr>
              <a:t>Top</a:t>
            </a:r>
            <a:r>
              <a:rPr lang="en-US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&lt;/</a:t>
            </a:r>
            <a:r>
              <a:rPr lang="en-US" sz="2000" dirty="0">
                <a:solidFill>
                  <a:srgbClr val="559CD5"/>
                </a:solidFill>
                <a:highlight>
                  <a:srgbClr val="000000"/>
                </a:highlight>
                <a:latin typeface="Consolas"/>
                <a:cs typeface="Consolas"/>
              </a:rPr>
              <a:t>a</a:t>
            </a:r>
            <a:r>
              <a:rPr lang="en-US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&gt;&lt;/</a:t>
            </a:r>
            <a:r>
              <a:rPr lang="en-US" sz="2000" dirty="0">
                <a:solidFill>
                  <a:srgbClr val="559CD5"/>
                </a:solidFill>
                <a:highlight>
                  <a:srgbClr val="000000"/>
                </a:highlight>
                <a:latin typeface="Consolas"/>
                <a:cs typeface="Consolas"/>
              </a:rPr>
              <a:t>p</a:t>
            </a:r>
            <a:r>
              <a:rPr lang="en-US" sz="2000" dirty="0">
                <a:solidFill>
                  <a:srgbClr val="808080"/>
                </a:solidFill>
                <a:highlight>
                  <a:srgbClr val="000000"/>
                </a:highlight>
                <a:latin typeface="Consolas"/>
                <a:cs typeface="Consolas"/>
              </a:rPr>
              <a:t>&gt;</a:t>
            </a:r>
            <a:endParaRPr lang="en-US" sz="2000" dirty="0">
              <a:highlight>
                <a:srgbClr val="000000"/>
              </a:highlight>
              <a:latin typeface="Consolas"/>
              <a:cs typeface="Consola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5"/>
              </a:spcBef>
            </a:pP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2">
            <a:extLst>
              <a:ext uri="{FF2B5EF4-FFF2-40B4-BE49-F238E27FC236}">
                <a16:creationId xmlns:a16="http://schemas.microsoft.com/office/drawing/2014/main" id="{40CDAE34-F6AE-8D47-D6E0-40E5C2BC83B8}"/>
              </a:ext>
            </a:extLst>
          </p:cNvPr>
          <p:cNvGrpSpPr/>
          <p:nvPr/>
        </p:nvGrpSpPr>
        <p:grpSpPr>
          <a:xfrm>
            <a:off x="-304800" y="228600"/>
            <a:ext cx="12694920" cy="6477000"/>
            <a:chOff x="-449580" y="546720"/>
            <a:chExt cx="12694920" cy="6060025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1C45D2EF-B8AB-8F69-EF88-D4475CDA3D12}"/>
                </a:ext>
              </a:extLst>
            </p:cNvPr>
            <p:cNvSpPr/>
            <p:nvPr/>
          </p:nvSpPr>
          <p:spPr>
            <a:xfrm>
              <a:off x="-449580" y="546720"/>
              <a:ext cx="12694920" cy="6060025"/>
            </a:xfrm>
            <a:custGeom>
              <a:avLst/>
              <a:gdLst/>
              <a:ahLst/>
              <a:cxnLst/>
              <a:rect l="l" t="t" r="r" b="b"/>
              <a:pathLst>
                <a:path w="11841480" h="2677160">
                  <a:moveTo>
                    <a:pt x="11841480" y="0"/>
                  </a:moveTo>
                  <a:lnTo>
                    <a:pt x="0" y="0"/>
                  </a:lnTo>
                  <a:lnTo>
                    <a:pt x="0" y="2677160"/>
                  </a:lnTo>
                  <a:lnTo>
                    <a:pt x="11841480" y="2677160"/>
                  </a:lnTo>
                  <a:lnTo>
                    <a:pt x="11841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F8890B34-6F78-0B51-21A7-4E1359919D43}"/>
                </a:ext>
              </a:extLst>
            </p:cNvPr>
            <p:cNvSpPr/>
            <p:nvPr/>
          </p:nvSpPr>
          <p:spPr>
            <a:xfrm>
              <a:off x="175260" y="1330960"/>
              <a:ext cx="11841480" cy="2677160"/>
            </a:xfrm>
            <a:custGeom>
              <a:avLst/>
              <a:gdLst/>
              <a:ahLst/>
              <a:cxnLst/>
              <a:rect l="l" t="t" r="r" b="b"/>
              <a:pathLst>
                <a:path w="11841480" h="2677160">
                  <a:moveTo>
                    <a:pt x="0" y="2677160"/>
                  </a:moveTo>
                  <a:lnTo>
                    <a:pt x="11841480" y="2677160"/>
                  </a:lnTo>
                  <a:lnTo>
                    <a:pt x="11841480" y="0"/>
                  </a:lnTo>
                  <a:lnTo>
                    <a:pt x="0" y="0"/>
                  </a:lnTo>
                  <a:lnTo>
                    <a:pt x="0" y="267716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-174219" y="950349"/>
            <a:ext cx="11912600" cy="5363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6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"pt-br"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ts val="144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6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Linking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para</a:t>
            </a:r>
            <a:r>
              <a:rPr sz="16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um</a:t>
            </a:r>
            <a:r>
              <a:rPr sz="16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parte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específica</a:t>
            </a:r>
            <a:r>
              <a:rPr sz="16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da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 página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1600" spc="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id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"top"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Termos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de produção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filmes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spc="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"#arc_shot"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Arc</a:t>
            </a:r>
            <a:r>
              <a:rPr sz="16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shot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br&gt;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"#interlude"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Interlúdio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br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"#prologue"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Prólogo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br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br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h2</a:t>
            </a:r>
            <a:r>
              <a:rPr sz="16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id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"arc_shot"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Arc</a:t>
            </a:r>
            <a:r>
              <a:rPr sz="16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shot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h2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Uma foto</a:t>
            </a:r>
            <a:r>
              <a:rPr sz="16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na qual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o</a:t>
            </a:r>
            <a:r>
              <a:rPr sz="16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objeto é fotografado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por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uma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 câmera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envolvente ou</a:t>
            </a:r>
            <a:r>
              <a:rPr sz="16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em movimento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h2</a:t>
            </a:r>
            <a:r>
              <a:rPr sz="16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id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"interlude"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Interlúdio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h2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Uma breve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cena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ou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 sequência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do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filme,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não especificamente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ligada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à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trama, 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que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aparece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dentro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de um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filme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h2</a:t>
            </a:r>
            <a:r>
              <a:rPr sz="16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id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"prologue"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Prologue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h2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Um discurso,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prefácio,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introdução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ou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cena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breve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que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precede</a:t>
            </a:r>
            <a:r>
              <a:rPr sz="16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ação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principal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ou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enredo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um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filme; contraste</a:t>
            </a:r>
            <a:r>
              <a:rPr sz="16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com</a:t>
            </a:r>
            <a:r>
              <a:rPr sz="16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epílogo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600" dirty="0">
                <a:solidFill>
                  <a:srgbClr val="CE9178"/>
                </a:solidFill>
                <a:latin typeface="Consolas"/>
                <a:cs typeface="Consolas"/>
              </a:rPr>
              <a:t>"#top"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600" dirty="0">
                <a:solidFill>
                  <a:srgbClr val="D3D3D3"/>
                </a:solidFill>
                <a:latin typeface="Consolas"/>
                <a:cs typeface="Consolas"/>
              </a:rPr>
              <a:t>Top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6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6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6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600" dirty="0">
              <a:latin typeface="Consolas"/>
              <a:cs typeface="Consola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05600" y="0"/>
            <a:ext cx="5914390" cy="3733800"/>
            <a:chOff x="6337300" y="3319792"/>
            <a:chExt cx="5304790" cy="3538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7300" y="3319792"/>
              <a:ext cx="5304790" cy="35382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879" y="3515360"/>
              <a:ext cx="4726939" cy="32029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15817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0" dirty="0"/>
              <a:t>R</a:t>
            </a:r>
            <a:r>
              <a:rPr sz="3600" spc="-5" dirty="0"/>
              <a:t>esu</a:t>
            </a:r>
            <a:r>
              <a:rPr sz="3600" spc="-20" dirty="0"/>
              <a:t>m</a:t>
            </a:r>
            <a:r>
              <a:rPr sz="3600" dirty="0"/>
              <a:t>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507109"/>
            <a:ext cx="8420735" cy="2541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7645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&lt;a&gt;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usa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href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indicar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à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você </a:t>
            </a:r>
            <a:r>
              <a:rPr sz="2000" spc="-5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está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vinculando.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Se você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estiver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vinculando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seu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próprio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site,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melhor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usar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relativos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vez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URLs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qualificados.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criar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links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abrir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programas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email.</a:t>
            </a:r>
            <a:endParaRPr sz="2000">
              <a:latin typeface="Trebuchet MS"/>
              <a:cs typeface="Trebuchet MS"/>
            </a:endParaRPr>
          </a:p>
          <a:p>
            <a:pPr marL="355600" marR="5715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usar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 atributo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id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segmentar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dentro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2000" spc="-5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49930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Dica: </a:t>
            </a:r>
            <a:r>
              <a:rPr sz="3600" spc="-15" dirty="0"/>
              <a:t>Visual</a:t>
            </a:r>
            <a:r>
              <a:rPr sz="3600" spc="-20" dirty="0"/>
              <a:t> </a:t>
            </a:r>
            <a:r>
              <a:rPr sz="3600" spc="-5" dirty="0"/>
              <a:t>Studio</a:t>
            </a:r>
            <a:r>
              <a:rPr sz="3600" spc="5" dirty="0"/>
              <a:t> </a:t>
            </a:r>
            <a:r>
              <a:rPr sz="3600" dirty="0"/>
              <a:t>Code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560194"/>
            <a:ext cx="1866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9185" y="1432941"/>
            <a:ext cx="7547609" cy="110299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VS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Code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oferece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suporte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ao plugin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Emmet.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Emmet é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 plugin que permite escrever código HTML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CSS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por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meio de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abreviações,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tornando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possível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desenvolver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rapidamente.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284" y="1961769"/>
            <a:ext cx="1866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3485" y="2637218"/>
            <a:ext cx="168910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100" dirty="0">
                <a:solidFill>
                  <a:srgbClr val="5FCAEE"/>
                </a:solidFill>
                <a:latin typeface="Lucida Sans Unicode"/>
                <a:cs typeface="Lucida Sans Unicode"/>
                <a:hlinkClick r:id="rId2"/>
              </a:rPr>
              <a:t>▶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0505" y="2637091"/>
            <a:ext cx="17684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u="sng" spc="-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2"/>
              </a:rPr>
              <a:t>https://emmet.io/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284" y="3008629"/>
            <a:ext cx="1866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9185" y="2882123"/>
            <a:ext cx="7060565" cy="8280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Dicas: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u="heavy" spc="-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3"/>
              </a:rPr>
              <a:t>https://docs.emmet.io/cheat-sheet/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gerar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estrutura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do HTML5, escrevemos</a:t>
            </a:r>
            <a:r>
              <a:rPr sz="1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seguinte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abreviatura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6284" y="3409632"/>
            <a:ext cx="186690" cy="245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284" y="3811523"/>
            <a:ext cx="159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aperte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[TAB].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18500" y="3393440"/>
            <a:ext cx="965200" cy="38862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318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340"/>
              </a:spcBef>
            </a:pP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html:5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4909" y="3998337"/>
            <a:ext cx="7374891" cy="2635337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953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39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4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235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spc="-6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lang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"en"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235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name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"viewport"</a:t>
            </a:r>
            <a:r>
              <a:rPr sz="1400" spc="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content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"width=device-width,</a:t>
            </a:r>
            <a:r>
              <a:rPr sz="1400" spc="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initial-scale=1.0"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http-equiv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"X-UA-Compatible"</a:t>
            </a:r>
            <a:r>
              <a:rPr sz="1400" spc="-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content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"ie=edge"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Document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235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 dirty="0">
              <a:latin typeface="Consolas"/>
              <a:cs typeface="Consolas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2235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49930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Dica: </a:t>
            </a:r>
            <a:r>
              <a:rPr sz="3600" spc="-15" dirty="0"/>
              <a:t>Visual</a:t>
            </a:r>
            <a:r>
              <a:rPr sz="3600" spc="-20" dirty="0"/>
              <a:t> </a:t>
            </a:r>
            <a:r>
              <a:rPr sz="3600" spc="-5" dirty="0"/>
              <a:t>Studio</a:t>
            </a:r>
            <a:r>
              <a:rPr sz="3600" spc="5" dirty="0"/>
              <a:t> </a:t>
            </a:r>
            <a:r>
              <a:rPr sz="3600" dirty="0"/>
              <a:t>Code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625917"/>
            <a:ext cx="6106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Exemplo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criar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lista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não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ordenada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com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itens.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13460" y="2910839"/>
            <a:ext cx="2593340" cy="1775460"/>
            <a:chOff x="1013460" y="2910839"/>
            <a:chExt cx="2593340" cy="1775460"/>
          </a:xfrm>
        </p:grpSpPr>
        <p:sp>
          <p:nvSpPr>
            <p:cNvPr id="5" name="object 5"/>
            <p:cNvSpPr/>
            <p:nvPr/>
          </p:nvSpPr>
          <p:spPr>
            <a:xfrm>
              <a:off x="1023620" y="2920999"/>
              <a:ext cx="2573020" cy="1755139"/>
            </a:xfrm>
            <a:custGeom>
              <a:avLst/>
              <a:gdLst/>
              <a:ahLst/>
              <a:cxnLst/>
              <a:rect l="l" t="t" r="r" b="b"/>
              <a:pathLst>
                <a:path w="2573020" h="1755139">
                  <a:moveTo>
                    <a:pt x="2573020" y="0"/>
                  </a:moveTo>
                  <a:lnTo>
                    <a:pt x="0" y="0"/>
                  </a:lnTo>
                  <a:lnTo>
                    <a:pt x="0" y="1755139"/>
                  </a:lnTo>
                  <a:lnTo>
                    <a:pt x="2573020" y="1755139"/>
                  </a:lnTo>
                  <a:lnTo>
                    <a:pt x="25730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3620" y="2920999"/>
              <a:ext cx="2573020" cy="1755139"/>
            </a:xfrm>
            <a:custGeom>
              <a:avLst/>
              <a:gdLst/>
              <a:ahLst/>
              <a:cxnLst/>
              <a:rect l="l" t="t" r="r" b="b"/>
              <a:pathLst>
                <a:path w="2573020" h="1755139">
                  <a:moveTo>
                    <a:pt x="0" y="1755139"/>
                  </a:moveTo>
                  <a:lnTo>
                    <a:pt x="2573020" y="1755139"/>
                  </a:lnTo>
                  <a:lnTo>
                    <a:pt x="2573020" y="0"/>
                  </a:lnTo>
                  <a:lnTo>
                    <a:pt x="0" y="0"/>
                  </a:lnTo>
                  <a:lnTo>
                    <a:pt x="0" y="1755139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04391" y="2942590"/>
            <a:ext cx="1405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sz="1800" spc="10" dirty="0">
                <a:solidFill>
                  <a:srgbClr val="D3D3D3"/>
                </a:solidFill>
                <a:latin typeface="Consolas"/>
                <a:cs typeface="Consolas"/>
              </a:rPr>
              <a:t>u</a:t>
            </a:r>
            <a:r>
              <a:rPr sz="1800" spc="-10" dirty="0">
                <a:solidFill>
                  <a:srgbClr val="D3D3D3"/>
                </a:solidFill>
                <a:latin typeface="Consolas"/>
                <a:cs typeface="Consolas"/>
              </a:rPr>
              <a:t>l</a:t>
            </a:r>
            <a:r>
              <a:rPr sz="1800" spc="5" dirty="0">
                <a:solidFill>
                  <a:srgbClr val="D3D3D3"/>
                </a:solidFill>
                <a:latin typeface="Consolas"/>
                <a:cs typeface="Consolas"/>
              </a:rPr>
              <a:t>&gt;</a:t>
            </a:r>
            <a:r>
              <a:rPr sz="1800" spc="-15" dirty="0">
                <a:solidFill>
                  <a:srgbClr val="D3D3D3"/>
                </a:solidFill>
                <a:latin typeface="Consolas"/>
                <a:cs typeface="Consolas"/>
              </a:rPr>
              <a:t>li</a:t>
            </a:r>
            <a:r>
              <a:rPr sz="1800" spc="5" dirty="0">
                <a:solidFill>
                  <a:srgbClr val="D3D3D3"/>
                </a:solidFill>
                <a:latin typeface="Consolas"/>
                <a:cs typeface="Consolas"/>
              </a:rPr>
              <a:t>*</a:t>
            </a:r>
            <a:r>
              <a:rPr sz="1800" dirty="0">
                <a:solidFill>
                  <a:srgbClr val="D3D3D3"/>
                </a:solidFill>
                <a:latin typeface="Consolas"/>
                <a:cs typeface="Consolas"/>
              </a:rPr>
              <a:t>5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3630" y="4040123"/>
            <a:ext cx="14039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spc="10" dirty="0">
                <a:solidFill>
                  <a:srgbClr val="808080"/>
                </a:solidFill>
                <a:latin typeface="Consolas"/>
                <a:cs typeface="Consolas"/>
              </a:rPr>
              <a:t>/</a:t>
            </a:r>
            <a:r>
              <a:rPr sz="1800" spc="-15" dirty="0">
                <a:solidFill>
                  <a:srgbClr val="559CD5"/>
                </a:solidFill>
                <a:latin typeface="Consolas"/>
                <a:cs typeface="Consolas"/>
              </a:rPr>
              <a:t>bo</a:t>
            </a:r>
            <a:r>
              <a:rPr sz="1800" spc="5" dirty="0">
                <a:solidFill>
                  <a:srgbClr val="559CD5"/>
                </a:solidFill>
                <a:latin typeface="Consolas"/>
                <a:cs typeface="Consolas"/>
              </a:rPr>
              <a:t>d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y</a:t>
            </a:r>
            <a:r>
              <a:rPr sz="18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8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65700" y="2402839"/>
            <a:ext cx="3738879" cy="28829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02615">
              <a:lnSpc>
                <a:spcPts val="2160"/>
              </a:lnSpc>
              <a:spcBef>
                <a:spcPts val="355"/>
              </a:spcBef>
            </a:pP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102995">
              <a:lnSpc>
                <a:spcPct val="100000"/>
              </a:lnSpc>
            </a:pPr>
            <a:r>
              <a:rPr sz="18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8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606550">
              <a:lnSpc>
                <a:spcPct val="100000"/>
              </a:lnSpc>
            </a:pP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60655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606550">
              <a:lnSpc>
                <a:spcPct val="100000"/>
              </a:lnSpc>
            </a:pP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606550">
              <a:lnSpc>
                <a:spcPct val="100000"/>
              </a:lnSpc>
            </a:pP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606550">
              <a:lnSpc>
                <a:spcPct val="100000"/>
              </a:lnSpc>
            </a:pP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102995">
              <a:lnSpc>
                <a:spcPct val="100000"/>
              </a:lnSpc>
            </a:pP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800" spc="-5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8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602615">
              <a:lnSpc>
                <a:spcPct val="100000"/>
              </a:lnSpc>
            </a:pPr>
            <a:r>
              <a:rPr sz="18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8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800" spc="-1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8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75000" y="2933700"/>
            <a:ext cx="1681480" cy="990600"/>
            <a:chOff x="3175000" y="2933700"/>
            <a:chExt cx="1681480" cy="990600"/>
          </a:xfrm>
        </p:grpSpPr>
        <p:sp>
          <p:nvSpPr>
            <p:cNvPr id="11" name="object 11"/>
            <p:cNvSpPr/>
            <p:nvPr/>
          </p:nvSpPr>
          <p:spPr>
            <a:xfrm>
              <a:off x="3185160" y="2943860"/>
              <a:ext cx="1661160" cy="970280"/>
            </a:xfrm>
            <a:custGeom>
              <a:avLst/>
              <a:gdLst/>
              <a:ahLst/>
              <a:cxnLst/>
              <a:rect l="l" t="t" r="r" b="b"/>
              <a:pathLst>
                <a:path w="1661160" h="970279">
                  <a:moveTo>
                    <a:pt x="1176019" y="0"/>
                  </a:moveTo>
                  <a:lnTo>
                    <a:pt x="1176019" y="242569"/>
                  </a:lnTo>
                  <a:lnTo>
                    <a:pt x="0" y="242569"/>
                  </a:lnTo>
                  <a:lnTo>
                    <a:pt x="0" y="727709"/>
                  </a:lnTo>
                  <a:lnTo>
                    <a:pt x="1176019" y="727709"/>
                  </a:lnTo>
                  <a:lnTo>
                    <a:pt x="1176019" y="970279"/>
                  </a:lnTo>
                  <a:lnTo>
                    <a:pt x="1661160" y="485139"/>
                  </a:lnTo>
                  <a:lnTo>
                    <a:pt x="1176019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5160" y="2943860"/>
              <a:ext cx="1661160" cy="970280"/>
            </a:xfrm>
            <a:custGeom>
              <a:avLst/>
              <a:gdLst/>
              <a:ahLst/>
              <a:cxnLst/>
              <a:rect l="l" t="t" r="r" b="b"/>
              <a:pathLst>
                <a:path w="1661160" h="970279">
                  <a:moveTo>
                    <a:pt x="0" y="242569"/>
                  </a:moveTo>
                  <a:lnTo>
                    <a:pt x="1176019" y="242569"/>
                  </a:lnTo>
                  <a:lnTo>
                    <a:pt x="1176019" y="0"/>
                  </a:lnTo>
                  <a:lnTo>
                    <a:pt x="1661160" y="485139"/>
                  </a:lnTo>
                  <a:lnTo>
                    <a:pt x="1176019" y="970279"/>
                  </a:lnTo>
                  <a:lnTo>
                    <a:pt x="1176019" y="727709"/>
                  </a:lnTo>
                  <a:lnTo>
                    <a:pt x="0" y="727709"/>
                  </a:lnTo>
                  <a:lnTo>
                    <a:pt x="0" y="242569"/>
                  </a:lnTo>
                  <a:close/>
                </a:path>
              </a:pathLst>
            </a:custGeom>
            <a:ln w="20320">
              <a:solidFill>
                <a:srgbClr val="1F6B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95319" y="3272472"/>
            <a:ext cx="3994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9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AB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28600" y="3124200"/>
            <a:ext cx="5715000" cy="4267199"/>
            <a:chOff x="0" y="3368027"/>
            <a:chExt cx="5256530" cy="34905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220" y="3368027"/>
              <a:ext cx="4893310" cy="326262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800" y="3563620"/>
              <a:ext cx="4315460" cy="268477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41573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Elementos em</a:t>
            </a:r>
            <a:r>
              <a:rPr sz="3600" spc="-45" dirty="0"/>
              <a:t> </a:t>
            </a:r>
            <a:r>
              <a:rPr sz="3600" spc="-5" dirty="0"/>
              <a:t>bloco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756284" y="1574165"/>
            <a:ext cx="6946900" cy="134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60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Alguns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elementos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sempre aparecerão para começar 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em </a:t>
            </a:r>
            <a:r>
              <a:rPr sz="200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uma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nova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linha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na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janela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do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navegador.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Estes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são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conhecidos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nível</a:t>
            </a: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de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bloco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469900" algn="just">
              <a:lnSpc>
                <a:spcPct val="100000"/>
              </a:lnSpc>
              <a:spcBef>
                <a:spcPts val="1000"/>
              </a:spcBef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22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Exemplos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 bloco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&lt;h1&gt;,</a:t>
            </a:r>
            <a:r>
              <a:rPr sz="180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&lt;p&gt;,</a:t>
            </a:r>
            <a:r>
              <a:rPr sz="180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FF0000"/>
                </a:solidFill>
                <a:latin typeface="Trebuchet MS"/>
                <a:cs typeface="Trebuchet MS"/>
              </a:rPr>
              <a:t>&lt;ul&gt;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180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rebuchet MS"/>
                <a:cs typeface="Trebuchet MS"/>
              </a:rPr>
              <a:t>&lt;li&gt;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46059" y="1562100"/>
            <a:ext cx="2680970" cy="1746250"/>
            <a:chOff x="7846059" y="1562100"/>
            <a:chExt cx="2680970" cy="17462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059" y="1562100"/>
              <a:ext cx="2680970" cy="17462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1639" y="1757679"/>
              <a:ext cx="2103120" cy="11684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53659" y="3421379"/>
            <a:ext cx="6647180" cy="32537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2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0287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0287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2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spc="2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Elementos</a:t>
            </a:r>
            <a:r>
              <a:rPr sz="12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em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bloco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ts val="144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Hiroshi</a:t>
            </a:r>
            <a:r>
              <a:rPr sz="12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Sugimoto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As datas</a:t>
            </a:r>
            <a:r>
              <a:rPr sz="12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para a</a:t>
            </a:r>
            <a:r>
              <a:rPr sz="12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exposição ORIGEM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DA ARTE são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as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 seguintes: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2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5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2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1112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Ciência:</a:t>
            </a:r>
            <a:r>
              <a:rPr sz="1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21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 Nov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-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20</a:t>
            </a:r>
            <a:r>
              <a:rPr sz="1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Feb</a:t>
            </a:r>
            <a:r>
              <a:rPr sz="12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2010/11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1112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Arquitetura: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6 Mar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-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15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Mai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2011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1112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História: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29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Mai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-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21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Aug</a:t>
            </a:r>
            <a:r>
              <a:rPr sz="12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2011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1112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Religião:</a:t>
            </a:r>
            <a:r>
              <a:rPr sz="1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28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Aug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-</a:t>
            </a:r>
            <a:r>
              <a:rPr sz="1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6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Nov</a:t>
            </a:r>
            <a:r>
              <a:rPr sz="12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2011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7343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815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0287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63397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35985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Elementos</a:t>
            </a:r>
            <a:r>
              <a:rPr sz="3600" spc="-45" dirty="0"/>
              <a:t> </a:t>
            </a:r>
            <a:r>
              <a:rPr sz="3600" spc="-5" dirty="0"/>
              <a:t>INLINE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548828"/>
            <a:ext cx="6461125" cy="122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</a:pP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450" spc="-14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Alguns elementos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sempre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parecem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continuar</a:t>
            </a:r>
            <a:r>
              <a:rPr sz="1800" spc="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na</a:t>
            </a:r>
            <a:r>
              <a:rPr sz="1800" spc="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mesma 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linha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vizinhos.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Estes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são</a:t>
            </a:r>
            <a:r>
              <a:rPr sz="1800" spc="5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conhecidos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inline.</a:t>
            </a:r>
            <a:endParaRPr sz="1800" dirty="0">
              <a:latin typeface="Trebuchet MS"/>
              <a:cs typeface="Trebuchet MS"/>
            </a:endParaRPr>
          </a:p>
          <a:p>
            <a:pPr marL="469900" algn="just">
              <a:lnSpc>
                <a:spcPct val="100000"/>
              </a:lnSpc>
              <a:spcBef>
                <a:spcPts val="1025"/>
              </a:spcBef>
            </a:pPr>
            <a:r>
              <a:rPr sz="1250" spc="-10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250" spc="44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Exemplos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 elementos inline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são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&lt;a&gt;,</a:t>
            </a:r>
            <a:r>
              <a:rPr sz="1600" dirty="0">
                <a:solidFill>
                  <a:srgbClr val="FF0000"/>
                </a:solidFill>
                <a:latin typeface="Trebuchet MS"/>
                <a:cs typeface="Trebuchet MS"/>
              </a:rPr>
              <a:t> &lt;b&gt;,</a:t>
            </a:r>
            <a:r>
              <a:rPr sz="160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&lt;em&gt;</a:t>
            </a:r>
            <a:r>
              <a:rPr sz="160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rebuchet MS"/>
                <a:cs typeface="Trebuchet MS"/>
              </a:rPr>
              <a:t>&lt;img&gt;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600" y="3048000"/>
            <a:ext cx="11506200" cy="3281668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953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390"/>
              </a:spcBef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400" spc="-5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16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68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400" spc="2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7721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Elementos</a:t>
            </a:r>
            <a:r>
              <a:rPr sz="14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Inline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688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68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77216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1600" marR="346710" indent="1008380">
              <a:lnSpc>
                <a:spcPct val="100000"/>
              </a:lnSpc>
            </a:pP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Timed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to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 single revolution of the planet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around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the sun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at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 23.4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degrees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tilt that plays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out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 rhythm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of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the seasons,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this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em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Origins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of Art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em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sz="1400" spc="-64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cycle is organized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around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four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themes: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science, architecture, history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and</a:t>
            </a:r>
            <a:endParaRPr sz="1400" dirty="0">
              <a:latin typeface="Consolas"/>
              <a:cs typeface="Consolas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religion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endParaRPr sz="1400" dirty="0">
              <a:latin typeface="Consolas"/>
              <a:cs typeface="Consolas"/>
            </a:endParaRPr>
          </a:p>
          <a:p>
            <a:pPr marL="772160">
              <a:lnSpc>
                <a:spcPct val="100000"/>
              </a:lnSpc>
            </a:pP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5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3688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0160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72680" y="1310639"/>
            <a:ext cx="2553970" cy="1492250"/>
            <a:chOff x="7472680" y="1310639"/>
            <a:chExt cx="2553970" cy="14922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2680" y="1310639"/>
              <a:ext cx="2553970" cy="1492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8260" y="1506219"/>
              <a:ext cx="1976120" cy="91440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038601" y="2743200"/>
            <a:ext cx="8153400" cy="2209800"/>
            <a:chOff x="3540759" y="2862579"/>
            <a:chExt cx="8555990" cy="19570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0759" y="2862579"/>
              <a:ext cx="8555990" cy="19570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6339" y="3058159"/>
              <a:ext cx="7978140" cy="1379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1115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259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Atributo</a:t>
            </a:r>
            <a:r>
              <a:rPr sz="3600" spc="-40" dirty="0"/>
              <a:t> </a:t>
            </a:r>
            <a:r>
              <a:rPr sz="3600" spc="-5" dirty="0"/>
              <a:t>ID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586679"/>
            <a:ext cx="9683116" cy="378757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0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800" spc="-80" dirty="0">
                <a:solidFill>
                  <a:srgbClr val="404040"/>
                </a:solidFill>
                <a:latin typeface="Trebuchet MS"/>
                <a:cs typeface="Trebuchet MS"/>
              </a:rPr>
              <a:t>Todo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8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28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pode ter</a:t>
            </a:r>
            <a:r>
              <a:rPr sz="2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id.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0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rebuchet MS"/>
                <a:cs typeface="Trebuchet MS"/>
              </a:rPr>
              <a:t>identificar</a:t>
            </a:r>
            <a:r>
              <a:rPr sz="2800" b="1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rebuchet MS"/>
                <a:cs typeface="Trebuchet MS"/>
              </a:rPr>
              <a:t>exclusivamente</a:t>
            </a:r>
            <a:r>
              <a:rPr sz="2800" b="1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8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na</a:t>
            </a:r>
            <a:endParaRPr sz="28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2800" dirty="0">
              <a:latin typeface="Trebuchet MS"/>
              <a:cs typeface="Trebuchet MS"/>
            </a:endParaRPr>
          </a:p>
          <a:p>
            <a:pPr marL="756920" marR="250825" indent="-287020" algn="just">
              <a:lnSpc>
                <a:spcPct val="100000"/>
              </a:lnSpc>
              <a:spcBef>
                <a:spcPts val="1019"/>
              </a:spcBef>
            </a:pPr>
            <a:r>
              <a:rPr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Portanto,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 importante que não haja dois elementos na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mesma </a:t>
            </a:r>
            <a:r>
              <a:rPr sz="2400" spc="-5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página que tenham 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mesmo valor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para seus atributos id (caso </a:t>
            </a:r>
            <a:r>
              <a:rPr sz="2400" spc="-5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contrário,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valor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não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será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mais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exclusivo).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2000" spc="-17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Seu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valor</a:t>
            </a:r>
            <a:r>
              <a:rPr sz="28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deve</a:t>
            </a:r>
            <a:r>
              <a:rPr sz="2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começar</a:t>
            </a:r>
            <a:r>
              <a:rPr sz="2800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com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 uma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letra</a:t>
            </a:r>
            <a:r>
              <a:rPr sz="28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28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sublinhado</a:t>
            </a:r>
            <a:endParaRPr sz="28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(não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número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ou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qualquer</a:t>
            </a:r>
            <a:r>
              <a:rPr sz="2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outro</a:t>
            </a:r>
            <a:r>
              <a:rPr sz="2800" spc="-5" dirty="0">
                <a:solidFill>
                  <a:srgbClr val="404040"/>
                </a:solidFill>
                <a:latin typeface="Trebuchet MS"/>
                <a:cs typeface="Trebuchet MS"/>
              </a:rPr>
              <a:t> caractere).</a:t>
            </a:r>
            <a:endParaRPr sz="2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48768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86000"/>
            <a:ext cx="11871960" cy="4876800"/>
            <a:chOff x="0" y="2443479"/>
            <a:chExt cx="11871960" cy="4414520"/>
          </a:xfrm>
        </p:grpSpPr>
        <p:sp>
          <p:nvSpPr>
            <p:cNvPr id="3" name="object 3"/>
            <p:cNvSpPr/>
            <p:nvPr/>
          </p:nvSpPr>
          <p:spPr>
            <a:xfrm>
              <a:off x="279400" y="2453639"/>
              <a:ext cx="11582400" cy="3970020"/>
            </a:xfrm>
            <a:custGeom>
              <a:avLst/>
              <a:gdLst/>
              <a:ahLst/>
              <a:cxnLst/>
              <a:rect l="l" t="t" r="r" b="b"/>
              <a:pathLst>
                <a:path w="11582400" h="3970020">
                  <a:moveTo>
                    <a:pt x="11582400" y="0"/>
                  </a:moveTo>
                  <a:lnTo>
                    <a:pt x="0" y="0"/>
                  </a:lnTo>
                  <a:lnTo>
                    <a:pt x="0" y="3970020"/>
                  </a:lnTo>
                  <a:lnTo>
                    <a:pt x="11582400" y="3970020"/>
                  </a:lnTo>
                  <a:lnTo>
                    <a:pt x="11582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9400" y="2453639"/>
              <a:ext cx="11582400" cy="3970020"/>
            </a:xfrm>
            <a:custGeom>
              <a:avLst/>
              <a:gdLst/>
              <a:ahLst/>
              <a:cxnLst/>
              <a:rect l="l" t="t" r="r" b="b"/>
              <a:pathLst>
                <a:path w="11582400" h="3970020">
                  <a:moveTo>
                    <a:pt x="0" y="3970020"/>
                  </a:moveTo>
                  <a:lnTo>
                    <a:pt x="11582400" y="3970020"/>
                  </a:lnTo>
                  <a:lnTo>
                    <a:pt x="11582400" y="0"/>
                  </a:lnTo>
                  <a:lnTo>
                    <a:pt x="0" y="0"/>
                  </a:lnTo>
                  <a:lnTo>
                    <a:pt x="0" y="397002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7504" y="455548"/>
            <a:ext cx="172338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Atributo </a:t>
            </a:r>
            <a:r>
              <a:rPr sz="3600" spc="-1070" dirty="0"/>
              <a:t> </a:t>
            </a:r>
            <a:r>
              <a:rPr sz="3600" spc="-5" dirty="0"/>
              <a:t>ID</a:t>
            </a:r>
            <a:r>
              <a:rPr sz="3600" spc="335" dirty="0"/>
              <a:t> </a:t>
            </a:r>
            <a:r>
              <a:rPr sz="3600" dirty="0"/>
              <a:t>e</a:t>
            </a:r>
            <a:r>
              <a:rPr sz="3600" spc="-30" dirty="0"/>
              <a:t> </a:t>
            </a:r>
            <a:r>
              <a:rPr sz="3600" dirty="0"/>
              <a:t>CSS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357870" y="4800600"/>
            <a:ext cx="23863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-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</a:t>
            </a:r>
            <a:r>
              <a:rPr sz="14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ainda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assim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garantem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504" y="2476753"/>
            <a:ext cx="8679815" cy="280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4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spc="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Atributo</a:t>
            </a:r>
            <a:r>
              <a:rPr sz="14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ID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style</a:t>
            </a:r>
            <a:r>
              <a:rPr sz="14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type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"text/css"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193800">
              <a:lnSpc>
                <a:spcPct val="100000"/>
              </a:lnSpc>
            </a:pPr>
            <a:r>
              <a:rPr sz="1400" dirty="0">
                <a:solidFill>
                  <a:srgbClr val="D6B97C"/>
                </a:solidFill>
                <a:latin typeface="Consolas"/>
                <a:cs typeface="Consolas"/>
              </a:rPr>
              <a:t>p#pullquote</a:t>
            </a:r>
            <a:r>
              <a:rPr sz="1400" spc="-30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15875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text-transform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: 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uppercase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;}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style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 marR="5080" indent="7874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Água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ar.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Tão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comuns são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essas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substâncias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que dificilmente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 err="1">
                <a:solidFill>
                  <a:srgbClr val="D3D3D3"/>
                </a:solidFill>
                <a:latin typeface="Consolas"/>
                <a:cs typeface="Consolas"/>
              </a:rPr>
              <a:t>atraem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 err="1">
                <a:solidFill>
                  <a:srgbClr val="D3D3D3"/>
                </a:solidFill>
                <a:latin typeface="Consolas"/>
                <a:cs typeface="Consolas"/>
              </a:rPr>
              <a:t>atenção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7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nossa</a:t>
            </a:r>
            <a:r>
              <a:rPr sz="14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própria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existência.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504" y="5251450"/>
            <a:ext cx="1054925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spc="5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id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"pullquote"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Toda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vez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que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vejo o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mar,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sinto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uma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sensação tranquilizadora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 segurança, </a:t>
            </a:r>
            <a:r>
              <a:rPr sz="1400" dirty="0" err="1">
                <a:solidFill>
                  <a:srgbClr val="D3D3D3"/>
                </a:solidFill>
                <a:latin typeface="Consolas"/>
                <a:cs typeface="Consolas"/>
              </a:rPr>
              <a:t>como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se</a:t>
            </a:r>
            <a:r>
              <a:rPr lang="en-US"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 err="1">
                <a:solidFill>
                  <a:srgbClr val="D3D3D3"/>
                </a:solidFill>
                <a:latin typeface="Consolas"/>
                <a:cs typeface="Consolas"/>
              </a:rPr>
              <a:t>estivesse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 visitando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meu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lar ancestral;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D3D3D3"/>
                </a:solidFill>
                <a:latin typeface="Consolas"/>
                <a:cs typeface="Consolas"/>
              </a:rPr>
              <a:t>Eu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embarco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em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uma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viagem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 </a:t>
            </a:r>
            <a:r>
              <a:rPr sz="1400" spc="10" dirty="0">
                <a:solidFill>
                  <a:srgbClr val="D3D3D3"/>
                </a:solidFill>
                <a:latin typeface="Consolas"/>
                <a:cs typeface="Consolas"/>
              </a:rPr>
              <a:t>ver.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1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Mistério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dos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mistérios,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água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ar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estão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bem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diante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nós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no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mar.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15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67939" y="-152400"/>
            <a:ext cx="9624060" cy="3733800"/>
            <a:chOff x="2567939" y="304800"/>
            <a:chExt cx="9624060" cy="26733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7939" y="304800"/>
              <a:ext cx="9624059" cy="26733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3519" y="500379"/>
              <a:ext cx="9098280" cy="2095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5224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872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Atributo</a:t>
            </a:r>
            <a:r>
              <a:rPr sz="3600" spc="-45" dirty="0"/>
              <a:t> </a:t>
            </a:r>
            <a:r>
              <a:rPr sz="3600" dirty="0"/>
              <a:t>Class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1562409"/>
            <a:ext cx="9835516" cy="4589846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Todo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HTML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também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ter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class.</a:t>
            </a:r>
            <a:endParaRPr sz="2400" dirty="0">
              <a:latin typeface="Trebuchet MS"/>
              <a:cs typeface="Trebuchet MS"/>
            </a:endParaRPr>
          </a:p>
          <a:p>
            <a:pPr marL="355600" marR="215900" indent="-342900">
              <a:lnSpc>
                <a:spcPct val="90100"/>
              </a:lnSpc>
              <a:spcBef>
                <a:spcPts val="994"/>
              </a:spcBef>
              <a:tabLst>
                <a:tab pos="354965" algn="l"/>
              </a:tabLst>
            </a:pPr>
            <a:r>
              <a:rPr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Às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vezes,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vez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identificar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exclusivamente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400" spc="-5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documento, você desejará uma maneira de </a:t>
            </a:r>
            <a:r>
              <a:rPr sz="2400" b="1" spc="-5" dirty="0">
                <a:solidFill>
                  <a:srgbClr val="FF0000"/>
                </a:solidFill>
                <a:latin typeface="Trebuchet MS"/>
                <a:cs typeface="Trebuchet MS"/>
              </a:rPr>
              <a:t>identificar </a:t>
            </a:r>
            <a:r>
              <a:rPr sz="2400" b="1" dirty="0">
                <a:solidFill>
                  <a:srgbClr val="FF0000"/>
                </a:solidFill>
                <a:latin typeface="Trebuchet MS"/>
                <a:cs typeface="Trebuchet MS"/>
              </a:rPr>
              <a:t>vários </a:t>
            </a:r>
            <a:r>
              <a:rPr sz="2400" b="1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rebuchet MS"/>
                <a:cs typeface="Trebuchet MS"/>
              </a:rPr>
              <a:t>elementos</a:t>
            </a:r>
            <a:r>
              <a:rPr sz="2400" b="1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diferentes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dos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outros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2400" dirty="0">
              <a:latin typeface="Trebuchet MS"/>
              <a:cs typeface="Trebuchet MS"/>
            </a:endParaRPr>
          </a:p>
          <a:p>
            <a:pPr marL="756920" marR="250190" indent="-287020">
              <a:lnSpc>
                <a:spcPct val="89900"/>
              </a:lnSpc>
              <a:spcBef>
                <a:spcPts val="1019"/>
              </a:spcBef>
            </a:pPr>
            <a:r>
              <a:rPr sz="160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600" spc="-9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exemplo, você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ter alguns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parágrafos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texto que contêm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informações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são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mais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importantes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que outros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e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deseja</a:t>
            </a:r>
            <a:r>
              <a:rPr sz="20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distinguir </a:t>
            </a:r>
            <a:r>
              <a:rPr sz="20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esses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elementos;</a:t>
            </a:r>
            <a:endParaRPr sz="2000" dirty="0">
              <a:latin typeface="Trebuchet MS"/>
              <a:cs typeface="Trebuchet MS"/>
            </a:endParaRPr>
          </a:p>
          <a:p>
            <a:pPr marL="469900">
              <a:lnSpc>
                <a:spcPts val="2050"/>
              </a:lnSpc>
              <a:spcBef>
                <a:spcPts val="780"/>
              </a:spcBef>
            </a:pPr>
            <a:r>
              <a:rPr sz="160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600" spc="22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querer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diferenciar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entre links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apontam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outras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páginas</a:t>
            </a:r>
            <a:endParaRPr sz="2000" dirty="0">
              <a:latin typeface="Trebuchet MS"/>
              <a:cs typeface="Trebuchet MS"/>
            </a:endParaRPr>
          </a:p>
          <a:p>
            <a:pPr marL="756920">
              <a:lnSpc>
                <a:spcPts val="2050"/>
              </a:lnSpc>
            </a:pP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em seu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próprio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site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links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que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apontam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para sites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externos.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ts val="2280"/>
              </a:lnSpc>
              <a:spcBef>
                <a:spcPts val="760"/>
              </a:spcBef>
              <a:tabLst>
                <a:tab pos="354965" algn="l"/>
              </a:tabLst>
            </a:pPr>
            <a:r>
              <a:rPr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fazer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isso,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usar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 atributo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class.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Seu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valor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deve</a:t>
            </a:r>
            <a:endParaRPr sz="2400" dirty="0">
              <a:latin typeface="Trebuchet MS"/>
              <a:cs typeface="Trebuchet MS"/>
            </a:endParaRPr>
          </a:p>
          <a:p>
            <a:pPr marL="355600">
              <a:lnSpc>
                <a:spcPts val="2280"/>
              </a:lnSpc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descrever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classe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 que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pertence.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ts val="2280"/>
              </a:lnSpc>
              <a:spcBef>
                <a:spcPts val="760"/>
              </a:spcBef>
              <a:tabLst>
                <a:tab pos="354965" algn="l"/>
              </a:tabLst>
            </a:pPr>
            <a:r>
              <a:rPr spc="-15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atributo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classe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qualquer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compartilhar</a:t>
            </a:r>
            <a:r>
              <a:rPr sz="240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</a:p>
          <a:p>
            <a:pPr marL="355600">
              <a:lnSpc>
                <a:spcPts val="2280"/>
              </a:lnSpc>
            </a:pP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mesmo</a:t>
            </a:r>
            <a:r>
              <a:rPr sz="240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valor.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47827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2207260"/>
            <a:ext cx="11574780" cy="4462780"/>
            <a:chOff x="304800" y="2207260"/>
            <a:chExt cx="11574780" cy="4462780"/>
          </a:xfrm>
        </p:grpSpPr>
        <p:sp>
          <p:nvSpPr>
            <p:cNvPr id="3" name="object 3"/>
            <p:cNvSpPr/>
            <p:nvPr/>
          </p:nvSpPr>
          <p:spPr>
            <a:xfrm>
              <a:off x="304800" y="2207260"/>
              <a:ext cx="11574780" cy="4462780"/>
            </a:xfrm>
            <a:custGeom>
              <a:avLst/>
              <a:gdLst/>
              <a:ahLst/>
              <a:cxnLst/>
              <a:rect l="l" t="t" r="r" b="b"/>
              <a:pathLst>
                <a:path w="11574780" h="4462780">
                  <a:moveTo>
                    <a:pt x="11574780" y="0"/>
                  </a:moveTo>
                  <a:lnTo>
                    <a:pt x="0" y="0"/>
                  </a:lnTo>
                  <a:lnTo>
                    <a:pt x="0" y="4462780"/>
                  </a:lnTo>
                  <a:lnTo>
                    <a:pt x="11574780" y="4462780"/>
                  </a:lnTo>
                  <a:lnTo>
                    <a:pt x="1157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4800" y="2207260"/>
              <a:ext cx="11574780" cy="4462780"/>
            </a:xfrm>
            <a:custGeom>
              <a:avLst/>
              <a:gdLst/>
              <a:ahLst/>
              <a:cxnLst/>
              <a:rect l="l" t="t" r="r" b="b"/>
              <a:pathLst>
                <a:path w="11574780" h="4462780">
                  <a:moveTo>
                    <a:pt x="0" y="4462780"/>
                  </a:moveTo>
                  <a:lnTo>
                    <a:pt x="11574780" y="4462780"/>
                  </a:lnTo>
                  <a:lnTo>
                    <a:pt x="11574780" y="0"/>
                  </a:lnTo>
                  <a:lnTo>
                    <a:pt x="0" y="0"/>
                  </a:lnTo>
                  <a:lnTo>
                    <a:pt x="0" y="4462780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6079" y="360298"/>
            <a:ext cx="15252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</a:t>
            </a:r>
            <a:r>
              <a:rPr sz="3200" spc="-20" dirty="0"/>
              <a:t>t</a:t>
            </a:r>
            <a:r>
              <a:rPr sz="3200" dirty="0"/>
              <a:t>ribu</a:t>
            </a:r>
            <a:r>
              <a:rPr sz="3200" spc="-15" dirty="0"/>
              <a:t>t</a:t>
            </a:r>
            <a:r>
              <a:rPr sz="3200" dirty="0"/>
              <a:t>o  </a:t>
            </a:r>
            <a:r>
              <a:rPr sz="3200" spc="-5" dirty="0"/>
              <a:t>Class </a:t>
            </a:r>
            <a:r>
              <a:rPr sz="3200" dirty="0"/>
              <a:t>e </a:t>
            </a:r>
            <a:r>
              <a:rPr sz="3200" spc="5" dirty="0"/>
              <a:t> </a:t>
            </a:r>
            <a:r>
              <a:rPr sz="3200" spc="-5" dirty="0"/>
              <a:t>CSS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383540" y="2229484"/>
            <a:ext cx="9076055" cy="307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4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4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400" spc="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400" spc="1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Atributo class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style</a:t>
            </a:r>
            <a:r>
              <a:rPr sz="14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type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"text/css"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1193800">
              <a:lnSpc>
                <a:spcPct val="100000"/>
              </a:lnSpc>
            </a:pPr>
            <a:r>
              <a:rPr sz="1400" dirty="0">
                <a:solidFill>
                  <a:srgbClr val="D6B97C"/>
                </a:solidFill>
                <a:latin typeface="Consolas"/>
                <a:cs typeface="Consolas"/>
              </a:rPr>
              <a:t>.importante</a:t>
            </a:r>
            <a:r>
              <a:rPr sz="1400" spc="-30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15875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text-transform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: 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uppercase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;}</a:t>
            </a:r>
            <a:endParaRPr sz="1400" dirty="0">
              <a:latin typeface="Consolas"/>
              <a:cs typeface="Consolas"/>
            </a:endParaRPr>
          </a:p>
          <a:p>
            <a:pPr marL="1193800">
              <a:lnSpc>
                <a:spcPct val="100000"/>
              </a:lnSpc>
            </a:pPr>
            <a:r>
              <a:rPr sz="1400" dirty="0">
                <a:solidFill>
                  <a:srgbClr val="D6B97C"/>
                </a:solidFill>
                <a:latin typeface="Consolas"/>
                <a:cs typeface="Consolas"/>
              </a:rPr>
              <a:t>.entrada</a:t>
            </a:r>
            <a:r>
              <a:rPr sz="1400" spc="-30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1587500">
              <a:lnSpc>
                <a:spcPct val="100000"/>
              </a:lnSpc>
            </a:pP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color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14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5" dirty="0">
                <a:solidFill>
                  <a:srgbClr val="CE9178"/>
                </a:solidFill>
                <a:latin typeface="Consolas"/>
                <a:cs typeface="Consolas"/>
              </a:rPr>
              <a:t>#FF6666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;}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style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 dirty="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class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"importante"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Por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um período de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um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ano a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partir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 novembro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2010,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Museu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42144" y="5067553"/>
            <a:ext cx="1896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Marugame</a:t>
            </a:r>
            <a:r>
              <a:rPr sz="14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Genichiro-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5280723"/>
            <a:ext cx="1093978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Inokuma</a:t>
            </a:r>
            <a:r>
              <a:rPr sz="1400" spc="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Arte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Contemporânea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(MIMOCA)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sediará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D3D3D3"/>
                </a:solidFill>
                <a:latin typeface="Consolas"/>
                <a:cs typeface="Consolas"/>
              </a:rPr>
              <a:t>um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ciclo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quatro exposições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Hiroshi</a:t>
            </a:r>
            <a:r>
              <a:rPr sz="1400" spc="11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Sugimoto.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2700" marR="5080" indent="7874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Cada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uma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delas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exibirá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trabalhos do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artista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tematicamente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contextualizados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sob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os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títulos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"Ciência", </a:t>
            </a:r>
            <a:r>
              <a:rPr sz="1400" spc="-7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"Arquitetura",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"História"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e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"Religião",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de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modo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apresentar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um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panorama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abrangente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da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obra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do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artista.</a:t>
            </a:r>
            <a:r>
              <a:rPr sz="1400" spc="-6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8001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spc="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9CDCFD"/>
                </a:solidFill>
                <a:latin typeface="Consolas"/>
                <a:cs typeface="Consolas"/>
              </a:rPr>
              <a:t>class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"importante</a:t>
            </a:r>
            <a:r>
              <a:rPr sz="1400" spc="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CE9178"/>
                </a:solidFill>
                <a:latin typeface="Consolas"/>
                <a:cs typeface="Consolas"/>
              </a:rPr>
              <a:t>entrada"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Horário: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das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10: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00h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às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18: 00h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(não</a:t>
            </a:r>
            <a:r>
              <a:rPr sz="14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é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D3D3D3"/>
                </a:solidFill>
                <a:latin typeface="Consolas"/>
                <a:cs typeface="Consolas"/>
              </a:rPr>
              <a:t>permitido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depois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das</a:t>
            </a:r>
            <a:r>
              <a:rPr sz="1400" spc="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D3D3D3"/>
                </a:solidFill>
                <a:latin typeface="Consolas"/>
                <a:cs typeface="Consolas"/>
              </a:rPr>
              <a:t>17:</a:t>
            </a:r>
            <a:r>
              <a:rPr sz="1400" spc="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400" spc="15" dirty="0">
                <a:solidFill>
                  <a:srgbClr val="D3D3D3"/>
                </a:solidFill>
                <a:latin typeface="Consolas"/>
                <a:cs typeface="Consolas"/>
              </a:rPr>
              <a:t>30h)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15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400" spc="1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406400">
              <a:lnSpc>
                <a:spcPct val="100000"/>
              </a:lnSpc>
            </a:pP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4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4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4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33600" y="0"/>
            <a:ext cx="10058400" cy="3276600"/>
            <a:chOff x="2598420" y="0"/>
            <a:chExt cx="9593580" cy="279527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8420" y="0"/>
              <a:ext cx="9593579" cy="27952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4000" y="187960"/>
              <a:ext cx="9085580" cy="2225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74973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803148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Agrupamento</a:t>
            </a:r>
            <a:r>
              <a:rPr sz="3600" spc="20" dirty="0"/>
              <a:t> </a:t>
            </a:r>
            <a:r>
              <a:rPr sz="3600" spc="-5" dirty="0"/>
              <a:t>de</a:t>
            </a:r>
            <a:r>
              <a:rPr sz="3600" spc="-25" dirty="0"/>
              <a:t> </a:t>
            </a:r>
            <a:r>
              <a:rPr sz="3600" spc="-10" dirty="0"/>
              <a:t>texto</a:t>
            </a:r>
            <a:r>
              <a:rPr sz="3600" dirty="0"/>
              <a:t> e</a:t>
            </a:r>
            <a:r>
              <a:rPr sz="3600" spc="-10" dirty="0"/>
              <a:t> elementos</a:t>
            </a:r>
            <a:r>
              <a:rPr sz="3600" spc="40" dirty="0"/>
              <a:t> </a:t>
            </a:r>
            <a:r>
              <a:rPr sz="3600" spc="-5" dirty="0"/>
              <a:t>em </a:t>
            </a:r>
            <a:r>
              <a:rPr sz="3600" spc="-1070" dirty="0"/>
              <a:t> </a:t>
            </a:r>
            <a:r>
              <a:rPr sz="3600" spc="-5" dirty="0"/>
              <a:t>bloco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56284" y="2060433"/>
            <a:ext cx="10368916" cy="311046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400" b="1" spc="-5" dirty="0">
                <a:solidFill>
                  <a:srgbClr val="6F2F9F"/>
                </a:solidFill>
                <a:latin typeface="Trebuchet MS"/>
                <a:cs typeface="Trebuchet MS"/>
              </a:rPr>
              <a:t>&lt;div&gt;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Permite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agrupar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conjunto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de elementos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bloco.</a:t>
            </a:r>
            <a:endParaRPr sz="2400" dirty="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00"/>
              </a:spcBef>
            </a:pPr>
            <a:r>
              <a:rPr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Por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exemplo,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criar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&lt;div&gt;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conter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todos</a:t>
            </a:r>
            <a:r>
              <a:rPr sz="2400" spc="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elementos</a:t>
            </a:r>
            <a:r>
              <a:rPr sz="2400" spc="5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400" spc="5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cabeçalho</a:t>
            </a:r>
            <a:r>
              <a:rPr sz="2400" spc="5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400" spc="50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2400" spc="5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(o</a:t>
            </a:r>
            <a:r>
              <a:rPr sz="2400" spc="5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logotipo</a:t>
            </a:r>
            <a:r>
              <a:rPr sz="2400" spc="50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  a</a:t>
            </a:r>
            <a:r>
              <a:rPr sz="2400" spc="5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navegação)  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2400" spc="5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criar</a:t>
            </a:r>
            <a:r>
              <a:rPr sz="2400" spc="5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4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 &lt;div&gt;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conter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comentários dos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visitantes.</a:t>
            </a:r>
            <a:endParaRPr sz="24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5"/>
              </a:spcBef>
            </a:pPr>
            <a:r>
              <a:rPr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pc="670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navegador,</a:t>
            </a:r>
            <a:r>
              <a:rPr sz="2400" spc="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conteúdo</a:t>
            </a:r>
            <a:r>
              <a:rPr sz="2400" spc="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400" spc="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400" spc="1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&lt;div&gt;</a:t>
            </a:r>
            <a:r>
              <a:rPr sz="2400" spc="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será</a:t>
            </a:r>
            <a:r>
              <a:rPr sz="2400" spc="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iniciado</a:t>
            </a:r>
            <a:r>
              <a:rPr sz="2400" spc="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sz="2400" spc="1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404040"/>
                </a:solidFill>
                <a:latin typeface="Trebuchet MS"/>
                <a:cs typeface="Trebuchet MS"/>
              </a:rPr>
              <a:t>uma</a:t>
            </a:r>
            <a:r>
              <a:rPr sz="2400" spc="1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nova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404040"/>
                </a:solidFill>
                <a:latin typeface="Trebuchet MS"/>
                <a:cs typeface="Trebuchet MS"/>
              </a:rPr>
              <a:t>linha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9564098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9782" y="278447"/>
            <a:ext cx="80314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Agrupamento</a:t>
            </a:r>
            <a:r>
              <a:rPr sz="3600" spc="20" dirty="0"/>
              <a:t> </a:t>
            </a:r>
            <a:r>
              <a:rPr sz="3600" spc="-5" dirty="0"/>
              <a:t>de</a:t>
            </a:r>
            <a:r>
              <a:rPr sz="3600" spc="-25" dirty="0"/>
              <a:t> </a:t>
            </a:r>
            <a:r>
              <a:rPr sz="3600" spc="-10" dirty="0"/>
              <a:t>texto</a:t>
            </a:r>
            <a:r>
              <a:rPr sz="3600" dirty="0"/>
              <a:t> e</a:t>
            </a:r>
            <a:r>
              <a:rPr sz="3600" spc="-10" dirty="0"/>
              <a:t> elementos</a:t>
            </a:r>
            <a:r>
              <a:rPr sz="3600" spc="40" dirty="0"/>
              <a:t> </a:t>
            </a:r>
            <a:r>
              <a:rPr sz="3600" spc="-5" dirty="0"/>
              <a:t>em </a:t>
            </a:r>
            <a:r>
              <a:rPr sz="3600" spc="-1070" dirty="0"/>
              <a:t> </a:t>
            </a:r>
            <a:r>
              <a:rPr sz="3600" spc="-5" dirty="0"/>
              <a:t>bloco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5300" y="1536700"/>
            <a:ext cx="5532120" cy="343662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762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2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00965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0096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6245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2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spc="2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  <a:p>
            <a:pPr marL="7721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Elementos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Agrupados - Bloco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6245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436245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721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div</a:t>
            </a:r>
            <a:r>
              <a:rPr sz="1200" spc="-4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id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"header"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109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img</a:t>
            </a:r>
            <a:r>
              <a:rPr sz="12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src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"images/logo.gif"</a:t>
            </a:r>
            <a:r>
              <a:rPr sz="1200" spc="-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alt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"Anish</a:t>
            </a:r>
            <a:r>
              <a:rPr sz="1200" spc="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Kapoor"</a:t>
            </a:r>
            <a:r>
              <a:rPr sz="1200" spc="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  <a:p>
            <a:pPr marL="1109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445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200" spc="-5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"index.html"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Home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44526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200" spc="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"biography.html"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Biography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445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2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"works.html"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Works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445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a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href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"contact.html"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Contact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a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109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77216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div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&lt;!--</a:t>
            </a:r>
            <a:r>
              <a:rPr sz="1200" spc="1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fim do </a:t>
            </a:r>
            <a:r>
              <a:rPr sz="1200" dirty="0">
                <a:solidFill>
                  <a:srgbClr val="6A9954"/>
                </a:solidFill>
                <a:latin typeface="Consolas"/>
                <a:cs typeface="Consolas"/>
              </a:rPr>
              <a:t>header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 --&gt;</a:t>
            </a:r>
            <a:endParaRPr sz="1200">
              <a:latin typeface="Consolas"/>
              <a:cs typeface="Consolas"/>
            </a:endParaRPr>
          </a:p>
          <a:p>
            <a:pPr marL="436245">
              <a:lnSpc>
                <a:spcPts val="144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00965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23659" y="1384300"/>
            <a:ext cx="4472941" cy="4025900"/>
            <a:chOff x="6423659" y="1384300"/>
            <a:chExt cx="3491229" cy="31508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3659" y="1384300"/>
              <a:ext cx="3491230" cy="31508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9239" y="1579879"/>
              <a:ext cx="2913379" cy="25730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44842" y="5152390"/>
            <a:ext cx="8442960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</a:pPr>
            <a:r>
              <a:rPr sz="1250" spc="-100" dirty="0">
                <a:solidFill>
                  <a:srgbClr val="5FCAEE"/>
                </a:solidFill>
                <a:latin typeface="Lucida Sans Unicode"/>
                <a:cs typeface="Lucida Sans Unicode"/>
              </a:rPr>
              <a:t>▶</a:t>
            </a:r>
            <a:r>
              <a:rPr sz="1250" spc="-95" dirty="0">
                <a:solidFill>
                  <a:srgbClr val="5FCAEE"/>
                </a:solidFill>
                <a:latin typeface="Lucida Sans Unicode"/>
                <a:cs typeface="Lucida Sans Unicode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Usar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um atributo </a:t>
            </a:r>
            <a:r>
              <a:rPr sz="1600" b="1" dirty="0">
                <a:solidFill>
                  <a:srgbClr val="404040"/>
                </a:solidFill>
                <a:latin typeface="Trebuchet MS"/>
                <a:cs typeface="Trebuchet MS"/>
              </a:rPr>
              <a:t>id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ou </a:t>
            </a:r>
            <a:r>
              <a:rPr sz="1600" b="1" dirty="0">
                <a:solidFill>
                  <a:srgbClr val="404040"/>
                </a:solidFill>
                <a:latin typeface="Trebuchet MS"/>
                <a:cs typeface="Trebuchet MS"/>
              </a:rPr>
              <a:t>class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no elemento &lt;div&gt;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significa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que você pode criar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regras 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16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estilo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CSS para indicar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quanto espaço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elemento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&lt;div&gt; deve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ocupar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na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tela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alterar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aparência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todos</a:t>
            </a:r>
            <a:r>
              <a:rPr sz="16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contidos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nele.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5600" algn="l"/>
              </a:tabLst>
            </a:pPr>
            <a:r>
              <a:rPr sz="1250" spc="-10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ser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elementos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&lt;div&gt;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para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 conter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cada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seção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da 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16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979318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725995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Agrupamento</a:t>
            </a:r>
            <a:r>
              <a:rPr sz="3600" spc="15" dirty="0"/>
              <a:t> </a:t>
            </a:r>
            <a:r>
              <a:rPr sz="3600" spc="-5" dirty="0"/>
              <a:t>de</a:t>
            </a:r>
            <a:r>
              <a:rPr sz="3600" spc="-25" dirty="0"/>
              <a:t> </a:t>
            </a:r>
            <a:r>
              <a:rPr sz="3600" spc="-10" dirty="0"/>
              <a:t>texto</a:t>
            </a:r>
            <a:r>
              <a:rPr sz="3600" dirty="0"/>
              <a:t> e</a:t>
            </a:r>
            <a:r>
              <a:rPr sz="3600" spc="-10" dirty="0"/>
              <a:t> elementos </a:t>
            </a:r>
            <a:r>
              <a:rPr sz="3600" spc="-1070" dirty="0"/>
              <a:t> </a:t>
            </a:r>
            <a:r>
              <a:rPr sz="3600" spc="-10" dirty="0"/>
              <a:t>inline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2060433"/>
            <a:ext cx="8692516" cy="345928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000" b="1" spc="-5" dirty="0">
                <a:solidFill>
                  <a:srgbClr val="6F2F9F"/>
                </a:solidFill>
                <a:latin typeface="Trebuchet MS"/>
                <a:cs typeface="Trebuchet MS"/>
              </a:rPr>
              <a:t>&lt;span&gt;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60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&lt;span&gt;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age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equivalente</a:t>
            </a:r>
            <a:r>
              <a:rPr sz="2000" spc="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inline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&lt;div&gt;.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endParaRPr lang="en-US" sz="2000" spc="15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469900" lvl="1">
              <a:spcBef>
                <a:spcPts val="1000"/>
              </a:spcBef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Ele é</a:t>
            </a:r>
            <a:r>
              <a:rPr lang="en-US" sz="20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000" spc="-10" dirty="0" err="1">
                <a:solidFill>
                  <a:srgbClr val="404040"/>
                </a:solidFill>
                <a:latin typeface="Trebuchet MS"/>
                <a:cs typeface="Trebuchet MS"/>
              </a:rPr>
              <a:t>usado</a:t>
            </a:r>
            <a:r>
              <a:rPr lang="en-US"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000" spc="-5" dirty="0" err="1">
                <a:solidFill>
                  <a:srgbClr val="404040"/>
                </a:solidFill>
                <a:latin typeface="Trebuchet MS"/>
                <a:cs typeface="Trebuchet MS"/>
              </a:rPr>
              <a:t>quando</a:t>
            </a:r>
            <a:r>
              <a:rPr lang="en-US" sz="2000" spc="-5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endParaRPr lang="en-US" sz="2000" dirty="0">
              <a:latin typeface="Trebuchet MS"/>
              <a:cs typeface="Trebuchet MS"/>
            </a:endParaRPr>
          </a:p>
          <a:p>
            <a:pPr marL="756920" marR="940435" indent="-287020">
              <a:lnSpc>
                <a:spcPct val="100000"/>
              </a:lnSpc>
              <a:spcBef>
                <a:spcPts val="1025"/>
              </a:spcBef>
              <a:buClr>
                <a:srgbClr val="0D0D0D"/>
              </a:buClr>
              <a:buSzPct val="78125"/>
              <a:buAutoNum type="arabicPeriod"/>
              <a:tabLst>
                <a:tab pos="756285" algn="l"/>
                <a:tab pos="756920" algn="l"/>
              </a:tabLst>
            </a:pPr>
            <a:r>
              <a:rPr dirty="0" err="1">
                <a:solidFill>
                  <a:srgbClr val="404040"/>
                </a:solidFill>
                <a:latin typeface="Trebuchet MS"/>
                <a:cs typeface="Trebuchet MS"/>
              </a:rPr>
              <a:t>Contém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uma seção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de texto onde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não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há outro elemento adequado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pc="-4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diferenciá-lo</a:t>
            </a:r>
            <a:r>
              <a:rPr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do texto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ao</a:t>
            </a:r>
            <a:r>
              <a:rPr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40" dirty="0">
                <a:solidFill>
                  <a:srgbClr val="404040"/>
                </a:solidFill>
                <a:latin typeface="Trebuchet MS"/>
                <a:cs typeface="Trebuchet MS"/>
              </a:rPr>
              <a:t>redor.</a:t>
            </a:r>
            <a:endParaRPr dirty="0">
              <a:latin typeface="Trebuchet MS"/>
              <a:cs typeface="Trebuchet MS"/>
            </a:endParaRPr>
          </a:p>
          <a:p>
            <a:pPr marL="756920" indent="-287020">
              <a:lnSpc>
                <a:spcPct val="100000"/>
              </a:lnSpc>
              <a:spcBef>
                <a:spcPts val="1000"/>
              </a:spcBef>
              <a:buClr>
                <a:srgbClr val="0D0D0D"/>
              </a:buClr>
              <a:buSzPct val="78125"/>
              <a:buAutoNum type="arabicPeriod"/>
              <a:tabLst>
                <a:tab pos="756285" algn="l"/>
                <a:tab pos="756920" algn="l"/>
              </a:tabLst>
            </a:pP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Contém</a:t>
            </a:r>
            <a:r>
              <a:rPr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5" dirty="0">
                <a:solidFill>
                  <a:srgbClr val="404040"/>
                </a:solidFill>
                <a:latin typeface="Trebuchet MS"/>
                <a:cs typeface="Trebuchet MS"/>
              </a:rPr>
              <a:t>vários</a:t>
            </a:r>
            <a:r>
              <a:rPr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inline.</a:t>
            </a:r>
            <a:endParaRPr dirty="0">
              <a:latin typeface="Trebuchet MS"/>
              <a:cs typeface="Trebuchet MS"/>
            </a:endParaRPr>
          </a:p>
          <a:p>
            <a:pPr marR="40640">
              <a:lnSpc>
                <a:spcPct val="100000"/>
              </a:lnSpc>
              <a:spcBef>
                <a:spcPts val="980"/>
              </a:spcBef>
              <a:tabLst>
                <a:tab pos="342265" algn="l"/>
              </a:tabLst>
            </a:pPr>
            <a:r>
              <a:rPr sz="160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 motivo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mais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comum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pelo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qual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pessoas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usam</a:t>
            </a:r>
            <a:r>
              <a:rPr sz="20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&lt;span&gt;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000" spc="-5">
                <a:solidFill>
                  <a:srgbClr val="404040"/>
                </a:solidFill>
                <a:latin typeface="Trebuchet MS"/>
                <a:cs typeface="Trebuchet MS"/>
              </a:rPr>
              <a:t> para</a:t>
            </a:r>
            <a:r>
              <a:rPr lang="en-US" sz="2000" spc="-5">
                <a:solidFill>
                  <a:srgbClr val="404040"/>
                </a:solidFill>
                <a:latin typeface="Trebuchet MS"/>
                <a:cs typeface="Trebuchet MS"/>
              </a:rPr>
              <a:t> q</a:t>
            </a:r>
            <a:r>
              <a:rPr sz="2000" spc="-5">
                <a:solidFill>
                  <a:srgbClr val="404040"/>
                </a:solidFill>
                <a:latin typeface="Trebuchet MS"/>
                <a:cs typeface="Trebuchet MS"/>
              </a:rPr>
              <a:t>ue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possam</a:t>
            </a:r>
            <a:r>
              <a:rPr sz="20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controlar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aparência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conteúdo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desses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elementos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usando</a:t>
            </a:r>
            <a:r>
              <a:rPr sz="20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CSS.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366292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94560"/>
            <a:ext cx="12098020" cy="4663440"/>
            <a:chOff x="0" y="2194560"/>
            <a:chExt cx="12098020" cy="4663440"/>
          </a:xfrm>
        </p:grpSpPr>
        <p:sp>
          <p:nvSpPr>
            <p:cNvPr id="3" name="object 3"/>
            <p:cNvSpPr/>
            <p:nvPr/>
          </p:nvSpPr>
          <p:spPr>
            <a:xfrm>
              <a:off x="208279" y="2204720"/>
              <a:ext cx="11879580" cy="2862580"/>
            </a:xfrm>
            <a:custGeom>
              <a:avLst/>
              <a:gdLst/>
              <a:ahLst/>
              <a:cxnLst/>
              <a:rect l="l" t="t" r="r" b="b"/>
              <a:pathLst>
                <a:path w="11879580" h="2862579">
                  <a:moveTo>
                    <a:pt x="11879580" y="0"/>
                  </a:moveTo>
                  <a:lnTo>
                    <a:pt x="0" y="0"/>
                  </a:lnTo>
                  <a:lnTo>
                    <a:pt x="0" y="2862579"/>
                  </a:lnTo>
                  <a:lnTo>
                    <a:pt x="11879580" y="2862579"/>
                  </a:lnTo>
                  <a:lnTo>
                    <a:pt x="11879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8279" y="2204720"/>
              <a:ext cx="11879580" cy="2862580"/>
            </a:xfrm>
            <a:custGeom>
              <a:avLst/>
              <a:gdLst/>
              <a:ahLst/>
              <a:cxnLst/>
              <a:rect l="l" t="t" r="r" b="b"/>
              <a:pathLst>
                <a:path w="11879580" h="2862579">
                  <a:moveTo>
                    <a:pt x="0" y="2862579"/>
                  </a:moveTo>
                  <a:lnTo>
                    <a:pt x="11879580" y="2862579"/>
                  </a:lnTo>
                  <a:lnTo>
                    <a:pt x="11879580" y="0"/>
                  </a:lnTo>
                  <a:lnTo>
                    <a:pt x="0" y="0"/>
                  </a:lnTo>
                  <a:lnTo>
                    <a:pt x="0" y="2862579"/>
                  </a:lnTo>
                  <a:close/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6702" y="2232025"/>
            <a:ext cx="1138682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&lt;!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DOCTYPE</a:t>
            </a:r>
            <a:r>
              <a:rPr sz="1200" spc="-5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meta</a:t>
            </a:r>
            <a:r>
              <a:rPr sz="12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charset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"utf-8"</a:t>
            </a:r>
            <a:r>
              <a:rPr sz="1200" spc="-2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spc="2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20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Elementos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Agrupados -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Inline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title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style</a:t>
            </a:r>
            <a:r>
              <a:rPr sz="12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type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"text/css"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021080">
              <a:lnSpc>
                <a:spcPct val="100000"/>
              </a:lnSpc>
            </a:pPr>
            <a:r>
              <a:rPr sz="1200" dirty="0">
                <a:solidFill>
                  <a:srgbClr val="D6B97C"/>
                </a:solidFill>
                <a:latin typeface="Consolas"/>
                <a:cs typeface="Consolas"/>
              </a:rPr>
              <a:t>.gallery</a:t>
            </a:r>
            <a:r>
              <a:rPr sz="1200" spc="-55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135636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text-transform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12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CE9178"/>
                </a:solidFill>
                <a:latin typeface="Consolas"/>
                <a:cs typeface="Consolas"/>
              </a:rPr>
              <a:t>uppercase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;}</a:t>
            </a:r>
            <a:endParaRPr sz="120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style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head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683260">
              <a:lnSpc>
                <a:spcPct val="100000"/>
              </a:lnSpc>
            </a:pP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Anish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Kapoor</a:t>
            </a:r>
            <a:r>
              <a:rPr sz="12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won</a:t>
            </a:r>
            <a:r>
              <a:rPr sz="1200" spc="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12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Turner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Prize</a:t>
            </a:r>
            <a:r>
              <a:rPr sz="12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r>
              <a:rPr sz="12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1991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and</a:t>
            </a:r>
            <a:r>
              <a:rPr sz="1200" spc="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exhibited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at</a:t>
            </a:r>
            <a:r>
              <a:rPr sz="12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the</a:t>
            </a:r>
            <a:r>
              <a:rPr sz="12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span</a:t>
            </a:r>
            <a:r>
              <a:rPr sz="1200" spc="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class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5" dirty="0">
                <a:solidFill>
                  <a:srgbClr val="CE9178"/>
                </a:solidFill>
                <a:latin typeface="Consolas"/>
                <a:cs typeface="Consolas"/>
              </a:rPr>
              <a:t>"gallery"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Tate</a:t>
            </a:r>
            <a:r>
              <a:rPr sz="1200" spc="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Modern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span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5" dirty="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gallery</a:t>
            </a:r>
            <a:r>
              <a:rPr sz="1200" spc="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London</a:t>
            </a:r>
            <a:r>
              <a:rPr sz="1200" spc="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in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2003.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p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html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02459" y="4653318"/>
            <a:ext cx="9849485" cy="2509482"/>
            <a:chOff x="1902460" y="4653318"/>
            <a:chExt cx="8050530" cy="19926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2460" y="4653318"/>
              <a:ext cx="8050530" cy="19926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8040" y="4848860"/>
              <a:ext cx="7472679" cy="141478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725995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Agrupamento</a:t>
            </a:r>
            <a:r>
              <a:rPr sz="3600" spc="15" dirty="0"/>
              <a:t> </a:t>
            </a:r>
            <a:r>
              <a:rPr sz="3600" spc="-5" dirty="0"/>
              <a:t>de</a:t>
            </a:r>
            <a:r>
              <a:rPr sz="3600" spc="-25" dirty="0"/>
              <a:t> </a:t>
            </a:r>
            <a:r>
              <a:rPr sz="3600" spc="-10" dirty="0"/>
              <a:t>texto</a:t>
            </a:r>
            <a:r>
              <a:rPr sz="3600" dirty="0"/>
              <a:t> e</a:t>
            </a:r>
            <a:r>
              <a:rPr sz="3600" spc="-10" dirty="0"/>
              <a:t> elementos </a:t>
            </a:r>
            <a:r>
              <a:rPr sz="3600" spc="-1070" dirty="0"/>
              <a:t> </a:t>
            </a:r>
            <a:r>
              <a:rPr sz="3600" spc="-10" dirty="0"/>
              <a:t>inline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5802767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284" y="629856"/>
            <a:ext cx="22148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Referência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6284" y="2060433"/>
            <a:ext cx="8230870" cy="31095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  <a:hlinkClick r:id="rId2"/>
              </a:rPr>
              <a:t>▶	</a:t>
            </a:r>
            <a:r>
              <a:rPr sz="1800" u="heavy" spc="-1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2"/>
              </a:rPr>
              <a:t>https://www.w3.org/html/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  <a:hlinkClick r:id="rId3"/>
              </a:rPr>
              <a:t>▶	</a:t>
            </a:r>
            <a:r>
              <a:rPr sz="1800" u="heavy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3"/>
              </a:rPr>
              <a:t>http://www.w3.org/History/1989/proposal.html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  <a:hlinkClick r:id="rId4"/>
              </a:rPr>
              <a:t>▶	</a:t>
            </a:r>
            <a:r>
              <a:rPr sz="1800" u="heavy" spc="-1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4"/>
              </a:rPr>
              <a:t>https://www.w3schools.com/tags/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  <a:hlinkClick r:id="rId5"/>
              </a:rPr>
              <a:t>▶	</a:t>
            </a:r>
            <a:r>
              <a:rPr sz="1800" u="heavy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5"/>
              </a:rPr>
              <a:t>https://developer.mozilla.org/en-US/docs/Web/HTML/Element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  <a:hlinkClick r:id="rId6"/>
              </a:rPr>
              <a:t>▶	</a:t>
            </a:r>
            <a:r>
              <a:rPr sz="1800" u="heavy" spc="-5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rebuchet MS"/>
                <a:cs typeface="Trebuchet MS"/>
                <a:hlinkClick r:id="rId6"/>
              </a:rPr>
              <a:t>https://code.visualstudio.com/docs/languages/html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-145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Gomes,</a:t>
            </a: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Ana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Laura;</a:t>
            </a:r>
            <a:r>
              <a:rPr sz="1800" spc="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Martelli,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Richard.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HTML5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CSS3;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São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Paulo: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Senac,</a:t>
            </a:r>
            <a:r>
              <a:rPr sz="18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2018.</a:t>
            </a:r>
            <a:endParaRPr sz="1800">
              <a:latin typeface="Trebuchet MS"/>
              <a:cs typeface="Trebuchet MS"/>
            </a:endParaRPr>
          </a:p>
          <a:p>
            <a:pPr marL="355600" marR="117475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-150" dirty="0">
                <a:solidFill>
                  <a:srgbClr val="5FCAEE"/>
                </a:solidFill>
                <a:latin typeface="Lucida Sans Unicode"/>
                <a:cs typeface="Lucida Sans Unicode"/>
              </a:rPr>
              <a:t>▶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Jon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Duckett. HTML and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CSS: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Design and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Build 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Websites;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Nova Jersey: 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Wiley, </a:t>
            </a:r>
            <a:r>
              <a:rPr sz="1800" spc="-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2011.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688</TotalTime>
  <Words>4857</Words>
  <Application>Microsoft Office PowerPoint</Application>
  <PresentationFormat>Widescreen</PresentationFormat>
  <Paragraphs>610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6" baseType="lpstr">
      <vt:lpstr>Arial</vt:lpstr>
      <vt:lpstr>Calibri</vt:lpstr>
      <vt:lpstr>Consolas</vt:lpstr>
      <vt:lpstr>Lucida Sans Unicode</vt:lpstr>
      <vt:lpstr>Times New Roman</vt:lpstr>
      <vt:lpstr>Trebuchet MS</vt:lpstr>
      <vt:lpstr>Verdana</vt:lpstr>
      <vt:lpstr>Verdana</vt:lpstr>
      <vt:lpstr>Office Theme</vt:lpstr>
      <vt:lpstr>HTML Parte 2   Prof. Henrique Dias Pastor</vt:lpstr>
      <vt:lpstr>Agenda</vt:lpstr>
      <vt:lpstr>Comentários no HTML</vt:lpstr>
      <vt:lpstr>IFRAMES</vt:lpstr>
      <vt:lpstr>IFRAMES</vt:lpstr>
      <vt:lpstr>IFRAMES do MAPs google, como adicionar. </vt:lpstr>
      <vt:lpstr>Listas</vt:lpstr>
      <vt:lpstr>Tipos de lista</vt:lpstr>
      <vt:lpstr>Listas ordenadas</vt:lpstr>
      <vt:lpstr>Listas ordenadas</vt:lpstr>
      <vt:lpstr>Listas não ordenadas</vt:lpstr>
      <vt:lpstr>Listas não ordenadas</vt:lpstr>
      <vt:lpstr>Lista de definição</vt:lpstr>
      <vt:lpstr>Lista de definição</vt:lpstr>
      <vt:lpstr>Lista aninhada</vt:lpstr>
      <vt:lpstr>Resumo</vt:lpstr>
      <vt:lpstr>Imagens</vt:lpstr>
      <vt:lpstr>Links</vt:lpstr>
      <vt:lpstr>Links</vt:lpstr>
      <vt:lpstr>Links</vt:lpstr>
      <vt:lpstr>Links para outros sistes</vt:lpstr>
      <vt:lpstr>Link para páginas no mesmo site</vt:lpstr>
      <vt:lpstr>Estrutura de diretórios Diretório raiz (root)</vt:lpstr>
      <vt:lpstr>Links relativos</vt:lpstr>
      <vt:lpstr>Links relativos</vt:lpstr>
      <vt:lpstr>Links relativos</vt:lpstr>
      <vt:lpstr>Links relativos</vt:lpstr>
      <vt:lpstr>Links relativos</vt:lpstr>
      <vt:lpstr>Link de email</vt:lpstr>
      <vt:lpstr>Link para páginas no mesmo site</vt:lpstr>
      <vt:lpstr>Abrir links em uma nova janela</vt:lpstr>
      <vt:lpstr>Link para parte específica da página</vt:lpstr>
      <vt:lpstr>Apresentação do PowerPoint</vt:lpstr>
      <vt:lpstr>Resumo</vt:lpstr>
      <vt:lpstr>Dica: Visual Studio Code</vt:lpstr>
      <vt:lpstr>Dica: Visual Studio Code</vt:lpstr>
      <vt:lpstr>Elementos em bloco</vt:lpstr>
      <vt:lpstr>Elementos INLINE</vt:lpstr>
      <vt:lpstr>Atributo ID</vt:lpstr>
      <vt:lpstr>Atributo  ID e CSS</vt:lpstr>
      <vt:lpstr>Atributo Class</vt:lpstr>
      <vt:lpstr>Atributo  Class e  CSS</vt:lpstr>
      <vt:lpstr>Agrupamento de texto e elementos em  bloco</vt:lpstr>
      <vt:lpstr>Agrupamento de texto e elementos em  bloco</vt:lpstr>
      <vt:lpstr>Agrupamento de texto e elementos  inline</vt:lpstr>
      <vt:lpstr>Agrupamento de texto e elementos  inline</vt:lpstr>
      <vt:lpstr>Referência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Tabelas e Formulários</dc:title>
  <dc:creator>William Maruyama</dc:creator>
  <cp:lastModifiedBy>HENRIQUE DIAS PASTOR</cp:lastModifiedBy>
  <cp:revision>49</cp:revision>
  <dcterms:created xsi:type="dcterms:W3CDTF">2023-07-19T21:33:27Z</dcterms:created>
  <dcterms:modified xsi:type="dcterms:W3CDTF">2025-08-22T14:15:16Z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2019-03-09T00:00:00Z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2023-07-19T00:00:00Z</vt:filetime>
  </property>
</Properties>
</file>